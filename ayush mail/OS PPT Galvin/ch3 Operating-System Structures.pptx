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doc" ContentType="application/msword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93" r:id="rId16"/>
    <p:sldId id="282" r:id="rId17"/>
    <p:sldId id="283" r:id="rId18"/>
    <p:sldId id="285" r:id="rId19"/>
    <p:sldId id="286" r:id="rId20"/>
    <p:sldId id="270" r:id="rId21"/>
    <p:sldId id="307" r:id="rId22"/>
    <p:sldId id="271" r:id="rId23"/>
    <p:sldId id="287" r:id="rId24"/>
    <p:sldId id="272" r:id="rId25"/>
    <p:sldId id="288" r:id="rId26"/>
    <p:sldId id="273" r:id="rId27"/>
    <p:sldId id="289" r:id="rId28"/>
    <p:sldId id="274" r:id="rId29"/>
    <p:sldId id="290" r:id="rId30"/>
    <p:sldId id="294" r:id="rId31"/>
    <p:sldId id="295" r:id="rId32"/>
    <p:sldId id="306" r:id="rId33"/>
    <p:sldId id="296" r:id="rId34"/>
    <p:sldId id="297" r:id="rId35"/>
    <p:sldId id="299" r:id="rId36"/>
    <p:sldId id="300" r:id="rId37"/>
    <p:sldId id="301" r:id="rId38"/>
    <p:sldId id="303" r:id="rId39"/>
    <p:sldId id="304" r:id="rId40"/>
  </p:sldIdLst>
  <p:sldSz cx="9144000" cy="6858000" type="screen4x3"/>
  <p:notesSz cx="6991350" cy="9282113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>
      <p:cViewPr>
        <p:scale>
          <a:sx n="70" d="100"/>
          <a:sy n="70" d="100"/>
        </p:scale>
        <p:origin x="-1386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29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A19292D-C853-41EC-945F-D7EE1A9DD66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89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ctr" anchorCtr="0" compatLnSpc="1">
            <a:prstTxWarp prst="textNoShape">
              <a:avLst/>
            </a:prstTxWarp>
          </a:bodyPr>
          <a:lstStyle>
            <a:lvl1pPr algn="l" defTabSz="930275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289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6338" y="696913"/>
            <a:ext cx="4640262" cy="3479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8488"/>
            <a:ext cx="5127625" cy="417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289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b" anchorCtr="0" compatLnSpc="1">
            <a:prstTxWarp prst="textNoShape">
              <a:avLst/>
            </a:prstTxWarp>
          </a:bodyPr>
          <a:lstStyle>
            <a:lvl1pPr algn="l" defTabSz="930275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18563"/>
            <a:ext cx="30289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itchFamily="18" charset="0"/>
              </a:defRPr>
            </a:lvl1pPr>
          </a:lstStyle>
          <a:p>
            <a:fld id="{54E36A25-59B8-4FDE-B1C3-D63DF6F01E0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fld id="{CEEF3473-3112-4836-9C18-BDF52C2954AC}" type="slidenum">
              <a:rPr lang="zh-CN" altLang="en-US"/>
              <a:pPr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47750" y="1724025"/>
            <a:ext cx="34385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675" y="1724025"/>
            <a:ext cx="34385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19838" y="495300"/>
            <a:ext cx="1757362" cy="5343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7750" y="495300"/>
            <a:ext cx="5119688" cy="5343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684213" y="342900"/>
            <a:ext cx="7831137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en-I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62050" y="495300"/>
            <a:ext cx="6886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47750" y="1724025"/>
            <a:ext cx="70294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en-US"/>
              <a:t>Operating System Concepts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624840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1000"/>
              <a:t>Silberschatz and Galvin </a:t>
            </a:r>
            <a:r>
              <a:rPr lang="en-US" sz="1000">
                <a:sym typeface="Symbol" pitchFamily="18" charset="2"/>
              </a:rPr>
              <a:t>1999</a:t>
            </a:r>
            <a:r>
              <a:rPr lang="en-US" sz="1400">
                <a:latin typeface="Times New Roman" pitchFamily="18" charset="0"/>
              </a:rPr>
              <a:t> </a:t>
            </a:r>
          </a:p>
        </p:txBody>
      </p:sp>
      <p:sp>
        <p:nvSpPr>
          <p:cNvPr id="1033" name="AutoShape 9"/>
          <p:cNvSpPr>
            <a:spLocks noChangeArrowheads="1"/>
          </p:cNvSpPr>
          <p:nvPr/>
        </p:nvSpPr>
        <p:spPr bwMode="auto">
          <a:xfrm>
            <a:off x="120650" y="95250"/>
            <a:ext cx="8909050" cy="6448425"/>
          </a:xfrm>
          <a:prstGeom prst="roundRect">
            <a:avLst>
              <a:gd name="adj" fmla="val 1727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4038600" y="6553200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/>
              <a:t>3.</a:t>
            </a:r>
            <a:fld id="{59A39EA9-A2E2-4D27-8156-A43966B24453}" type="slidenum">
              <a:rPr lang="en-US" sz="1000"/>
              <a:pPr>
                <a:spcBef>
                  <a:spcPct val="50000"/>
                </a:spcBef>
              </a:pPr>
              <a:t>‹#›</a:t>
            </a:fld>
            <a:endParaRPr lang="en-US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SzPct val="14000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85000"/>
        <a:buFont typeface="Monotype Sorts" pitchFamily="2" charset="2"/>
        <a:buChar char="T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1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90575" y="495300"/>
            <a:ext cx="7515225" cy="457200"/>
          </a:xfrm>
        </p:spPr>
        <p:txBody>
          <a:bodyPr/>
          <a:lstStyle/>
          <a:p>
            <a:r>
              <a:rPr lang="en-US"/>
              <a:t>Module 3:  Operating-System Structures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System Components</a:t>
            </a:r>
          </a:p>
          <a:p>
            <a:r>
              <a:rPr lang="en-US"/>
              <a:t>Operating System Services</a:t>
            </a:r>
          </a:p>
          <a:p>
            <a:r>
              <a:rPr lang="en-US"/>
              <a:t>System Calls</a:t>
            </a:r>
          </a:p>
          <a:p>
            <a:r>
              <a:rPr lang="en-US"/>
              <a:t>System Programs</a:t>
            </a:r>
          </a:p>
          <a:p>
            <a:r>
              <a:rPr lang="en-US"/>
              <a:t>System Structure </a:t>
            </a:r>
          </a:p>
          <a:p>
            <a:r>
              <a:rPr lang="en-US"/>
              <a:t>Virtual Machines</a:t>
            </a:r>
          </a:p>
          <a:p>
            <a:r>
              <a:rPr lang="en-US"/>
              <a:t>System Design and Implementation</a:t>
            </a:r>
          </a:p>
          <a:p>
            <a:r>
              <a:rPr lang="en-US"/>
              <a:t>System Generation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System Components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Management </a:t>
            </a:r>
          </a:p>
          <a:p>
            <a:r>
              <a:rPr lang="en-US" dirty="0"/>
              <a:t>Main Memory Management</a:t>
            </a:r>
          </a:p>
          <a:p>
            <a:r>
              <a:rPr lang="en-US" dirty="0"/>
              <a:t>Secondary-Storage Management</a:t>
            </a:r>
          </a:p>
          <a:p>
            <a:r>
              <a:rPr lang="en-US" dirty="0"/>
              <a:t>I/O System Management</a:t>
            </a:r>
          </a:p>
          <a:p>
            <a:r>
              <a:rPr lang="en-US" dirty="0"/>
              <a:t>File Management</a:t>
            </a:r>
          </a:p>
          <a:p>
            <a:r>
              <a:rPr lang="en-US" dirty="0"/>
              <a:t>Protection </a:t>
            </a:r>
            <a:r>
              <a:rPr lang="en-US" dirty="0" smtClean="0"/>
              <a:t>System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Management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process</a:t>
            </a:r>
            <a:r>
              <a:rPr lang="en-US" dirty="0"/>
              <a:t> is a program in execution.  A process needs certain resources, including CPU time, memory, files, and I/O devices, to accomplish its task.</a:t>
            </a:r>
          </a:p>
          <a:p>
            <a:r>
              <a:rPr lang="en-US" dirty="0"/>
              <a:t>The operating system is responsible for the following activities in connection with process management.</a:t>
            </a:r>
          </a:p>
          <a:p>
            <a:pPr lvl="1"/>
            <a:r>
              <a:rPr lang="en-US" dirty="0"/>
              <a:t>Process creation and deletion.</a:t>
            </a:r>
          </a:p>
          <a:p>
            <a:pPr lvl="1"/>
            <a:r>
              <a:rPr lang="en-US" dirty="0"/>
              <a:t>process suspension and resumption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Main-Memory Management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Memory is a large array of words or bytes, each with its own address.  It is a repository of quickly accessible data shared by the CPU and I/O devices.</a:t>
            </a:r>
          </a:p>
          <a:p>
            <a:pPr algn="just"/>
            <a:r>
              <a:rPr lang="en-US" dirty="0"/>
              <a:t>Main memory is a volatile storage device.  It loses its contents in the case of system failure.</a:t>
            </a:r>
          </a:p>
          <a:p>
            <a:pPr algn="just"/>
            <a:r>
              <a:rPr lang="en-US" dirty="0"/>
              <a:t>The operating system is responsible for the following activities in connections with memory management:</a:t>
            </a:r>
          </a:p>
          <a:p>
            <a:pPr lvl="1" algn="just"/>
            <a:r>
              <a:rPr lang="en-US" dirty="0"/>
              <a:t>Keep track of which parts of memory are currently being used and by whom.</a:t>
            </a:r>
          </a:p>
          <a:p>
            <a:pPr lvl="1" algn="just"/>
            <a:r>
              <a:rPr lang="en-US" dirty="0"/>
              <a:t>Decide which processes to load when memory space becomes available.</a:t>
            </a:r>
          </a:p>
          <a:p>
            <a:pPr lvl="1" algn="just"/>
            <a:r>
              <a:rPr lang="en-US" dirty="0"/>
              <a:t>Allocate and </a:t>
            </a:r>
            <a:r>
              <a:rPr lang="en-US" dirty="0" err="1"/>
              <a:t>deallocate</a:t>
            </a:r>
            <a:r>
              <a:rPr lang="en-US" dirty="0"/>
              <a:t> memory space as needed.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Secondary-Storage Management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Since main memory (</a:t>
            </a:r>
            <a:r>
              <a:rPr lang="en-US" i="1"/>
              <a:t>primary storage</a:t>
            </a:r>
            <a:r>
              <a:rPr lang="en-US"/>
              <a:t>) is volatile and too small to accommodate all data and programs permanently, the computer system must provide </a:t>
            </a:r>
            <a:r>
              <a:rPr lang="en-US" i="1"/>
              <a:t>secondary storage</a:t>
            </a:r>
            <a:r>
              <a:rPr lang="en-US"/>
              <a:t> to back up main memory.</a:t>
            </a:r>
          </a:p>
          <a:p>
            <a:r>
              <a:rPr lang="en-US"/>
              <a:t>Most modern computer systems use disks as the principle on-line storage medium, for both programs and data.</a:t>
            </a:r>
          </a:p>
          <a:p>
            <a:r>
              <a:rPr lang="en-US"/>
              <a:t>The operating system is responsible for the following activities in connection with disk management: </a:t>
            </a:r>
          </a:p>
          <a:p>
            <a:pPr marL="628650" lvl="1"/>
            <a:r>
              <a:rPr lang="en-US"/>
              <a:t>Free space management</a:t>
            </a:r>
          </a:p>
          <a:p>
            <a:pPr marL="628650" lvl="1"/>
            <a:r>
              <a:rPr lang="en-US"/>
              <a:t>Storage allocation</a:t>
            </a:r>
          </a:p>
          <a:p>
            <a:pPr marL="628650" lvl="1"/>
            <a:r>
              <a:rPr lang="en-US"/>
              <a:t>Disk scheduling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I/O System Management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I/O system consists of:</a:t>
            </a:r>
          </a:p>
          <a:p>
            <a:pPr marL="628650" lvl="1"/>
            <a:r>
              <a:rPr lang="en-US"/>
              <a:t>A buffer-caching system </a:t>
            </a:r>
          </a:p>
          <a:p>
            <a:pPr marL="628650" lvl="1"/>
            <a:r>
              <a:rPr lang="en-US"/>
              <a:t>A general device-driver interface</a:t>
            </a:r>
          </a:p>
          <a:p>
            <a:pPr marL="628650" lvl="1"/>
            <a:r>
              <a:rPr lang="en-US"/>
              <a:t>Drivers for specific hardware devices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Management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file is a collection of related information defined by its creator.  Commonly, files represent programs (both source and object forms) and data.</a:t>
            </a:r>
          </a:p>
          <a:p>
            <a:r>
              <a:rPr lang="en-US"/>
              <a:t>The operating system is responsible for the following activities in connections with file management:</a:t>
            </a:r>
          </a:p>
          <a:p>
            <a:pPr lvl="1"/>
            <a:r>
              <a:rPr lang="en-US"/>
              <a:t>File creation and deletion.</a:t>
            </a:r>
          </a:p>
          <a:p>
            <a:pPr lvl="1"/>
            <a:r>
              <a:rPr lang="en-US"/>
              <a:t>Directory creation and deletion.</a:t>
            </a:r>
          </a:p>
          <a:p>
            <a:pPr lvl="1"/>
            <a:r>
              <a:rPr lang="en-US"/>
              <a:t>Support of primitives for manipulating files and directories.</a:t>
            </a:r>
          </a:p>
          <a:p>
            <a:pPr lvl="1"/>
            <a:r>
              <a:rPr lang="en-US"/>
              <a:t>Mapping files onto secondary storage.</a:t>
            </a:r>
          </a:p>
          <a:p>
            <a:pPr lvl="1"/>
            <a:r>
              <a:rPr lang="en-US"/>
              <a:t>File backup on stable (nonvolatile) storage media.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Protection System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Protection</a:t>
            </a:r>
            <a:r>
              <a:rPr lang="en-US" dirty="0"/>
              <a:t> refers to a mechanism for controlling access by programs, processes, or users to both system and user resources.</a:t>
            </a:r>
          </a:p>
          <a:p>
            <a:r>
              <a:rPr lang="en-US" dirty="0"/>
              <a:t>The protection mechanism must: </a:t>
            </a:r>
          </a:p>
          <a:p>
            <a:pPr lvl="1"/>
            <a:r>
              <a:rPr lang="en-US" dirty="0"/>
              <a:t>distinguish between authorized and unauthorized usage.</a:t>
            </a:r>
          </a:p>
          <a:p>
            <a:pPr lvl="1"/>
            <a:r>
              <a:rPr lang="en-US" dirty="0" smtClean="0"/>
              <a:t>provide </a:t>
            </a:r>
            <a:r>
              <a:rPr lang="en-US" dirty="0"/>
              <a:t>a means of enforcement.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Networking (Distributed Systems)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 i="1"/>
              <a:t>distributed</a:t>
            </a:r>
            <a:r>
              <a:rPr lang="en-US"/>
              <a:t> system is a collection processors that do not share memory or a clock.  Each processor has its own local memory.</a:t>
            </a:r>
          </a:p>
          <a:p>
            <a:r>
              <a:rPr lang="en-US"/>
              <a:t>The processors in the system are connected through a communication network.</a:t>
            </a:r>
          </a:p>
          <a:p>
            <a:r>
              <a:rPr lang="en-US"/>
              <a:t>A distributed system provides user access to various system resources.</a:t>
            </a:r>
          </a:p>
          <a:p>
            <a:r>
              <a:rPr lang="en-US"/>
              <a:t>Access to a shared resource allows:</a:t>
            </a:r>
          </a:p>
          <a:p>
            <a:pPr lvl="1"/>
            <a:r>
              <a:rPr lang="en-US"/>
              <a:t>Computation speed-up </a:t>
            </a:r>
          </a:p>
          <a:p>
            <a:pPr lvl="1"/>
            <a:r>
              <a:rPr lang="en-US"/>
              <a:t>Increased data availability</a:t>
            </a:r>
          </a:p>
          <a:p>
            <a:pPr lvl="1"/>
            <a:r>
              <a:rPr lang="en-US"/>
              <a:t>Enhanced reliability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Command-Interpreter System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Many commands are given to the operating system by control statements which deal with:</a:t>
            </a:r>
          </a:p>
          <a:p>
            <a:pPr lvl="1"/>
            <a:r>
              <a:rPr lang="en-US"/>
              <a:t>process creation and management</a:t>
            </a:r>
          </a:p>
          <a:p>
            <a:pPr lvl="1"/>
            <a:r>
              <a:rPr lang="en-US"/>
              <a:t>I/O handling</a:t>
            </a:r>
          </a:p>
          <a:p>
            <a:pPr lvl="1"/>
            <a:r>
              <a:rPr lang="en-US"/>
              <a:t>secondary-storage management</a:t>
            </a:r>
          </a:p>
          <a:p>
            <a:pPr lvl="1"/>
            <a:r>
              <a:rPr lang="en-US"/>
              <a:t>main-memory management</a:t>
            </a:r>
          </a:p>
          <a:p>
            <a:pPr lvl="1"/>
            <a:r>
              <a:rPr lang="en-US"/>
              <a:t>file-system access </a:t>
            </a:r>
          </a:p>
          <a:p>
            <a:pPr lvl="1"/>
            <a:r>
              <a:rPr lang="en-US"/>
              <a:t>protection </a:t>
            </a:r>
          </a:p>
          <a:p>
            <a:pPr lvl="1"/>
            <a:r>
              <a:rPr lang="en-US"/>
              <a:t>networking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Command-Interpreter System (Cont.)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program that reads and interprets control statements is called variously:</a:t>
            </a:r>
          </a:p>
          <a:p>
            <a:pPr lvl="1"/>
            <a:r>
              <a:rPr lang="en-US"/>
              <a:t>control-card interpreter</a:t>
            </a:r>
          </a:p>
          <a:p>
            <a:pPr lvl="1"/>
            <a:r>
              <a:rPr lang="en-US"/>
              <a:t>command-line interpreter</a:t>
            </a:r>
          </a:p>
          <a:p>
            <a:pPr lvl="1"/>
            <a:r>
              <a:rPr lang="en-US"/>
              <a:t>shell (in UNIX)</a:t>
            </a:r>
          </a:p>
          <a:p>
            <a:pPr>
              <a:buFontTx/>
              <a:buNone/>
            </a:pPr>
            <a:r>
              <a:rPr lang="en-US"/>
              <a:t>    Its function is to get and execute the next command statement.</a:t>
            </a:r>
          </a:p>
          <a:p>
            <a:endParaRPr 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System Services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Program execution – system capability to load a program into memory and to run it.</a:t>
            </a:r>
          </a:p>
          <a:p>
            <a:pPr algn="just"/>
            <a:r>
              <a:rPr lang="en-US" dirty="0"/>
              <a:t>I/O operations –  since user programs cannot execute I/O operations directly, the operating system must provide some means to perform I/O.</a:t>
            </a:r>
          </a:p>
          <a:p>
            <a:pPr algn="just"/>
            <a:r>
              <a:rPr lang="en-US" dirty="0"/>
              <a:t>File-system manipulation – program capability to read, write, create, and delete files.</a:t>
            </a:r>
          </a:p>
          <a:p>
            <a:pPr algn="just"/>
            <a:r>
              <a:rPr lang="en-US" dirty="0"/>
              <a:t>Communications – exchange of information between processes executing either on the same computer or on different systems tied together by a network.  Implemented via </a:t>
            </a:r>
            <a:r>
              <a:rPr lang="en-US" i="1" dirty="0"/>
              <a:t>shared memory</a:t>
            </a:r>
            <a:r>
              <a:rPr lang="en-US" dirty="0"/>
              <a:t> or </a:t>
            </a:r>
            <a:r>
              <a:rPr lang="en-US" i="1" dirty="0"/>
              <a:t>message passing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Error detection – ensure correct computing by detecting errors in the CPU and memory hardware, in I/O devices, or in user programs.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Operating System Functions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/>
              <a:t>Additional functions exist not for helping the user, but rather for ensuring efficient system operations.</a:t>
            </a:r>
          </a:p>
          <a:p>
            <a:pPr lvl="1">
              <a:buSzPct val="150000"/>
              <a:buFontTx/>
              <a:buChar char="•"/>
            </a:pPr>
            <a:r>
              <a:rPr lang="en-US"/>
              <a:t>Resource allocation – allocating resources to multiple users or multiple jobs running at the same time.</a:t>
            </a:r>
          </a:p>
          <a:p>
            <a:pPr lvl="1">
              <a:buSzPct val="150000"/>
              <a:buFontTx/>
              <a:buChar char="•"/>
            </a:pPr>
            <a:r>
              <a:rPr lang="en-US"/>
              <a:t>Accounting – keep track of and record which users use how much and what kinds of computer resources for account billing or for accumulating usage statistics.</a:t>
            </a:r>
          </a:p>
          <a:p>
            <a:pPr lvl="1">
              <a:buSzPct val="150000"/>
              <a:buFontTx/>
              <a:buChar char="•"/>
            </a:pPr>
            <a:r>
              <a:rPr lang="en-US"/>
              <a:t>Protection – ensuring that all access to system resources is controlled.</a:t>
            </a:r>
          </a:p>
          <a:p>
            <a:pPr marL="0" indent="0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Calls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calls provide the interface between a running program and the operating system.</a:t>
            </a:r>
          </a:p>
          <a:p>
            <a:pPr lvl="1"/>
            <a:r>
              <a:rPr lang="en-US" dirty="0"/>
              <a:t>Generally available as assembly-language instructions.</a:t>
            </a:r>
          </a:p>
          <a:p>
            <a:pPr lvl="1"/>
            <a:r>
              <a:rPr lang="en-US" dirty="0"/>
              <a:t>Languages defined to replace assembly language for systems programming allow system calls to be made directly (e.g., C. Bliss, PL/360)</a:t>
            </a:r>
          </a:p>
          <a:p>
            <a:r>
              <a:rPr lang="en-US" dirty="0"/>
              <a:t>Three general methods are used to pass parameters between a running program and the operating system.</a:t>
            </a:r>
          </a:p>
          <a:p>
            <a:pPr lvl="1"/>
            <a:r>
              <a:rPr lang="en-US" dirty="0"/>
              <a:t>Pass parameters in </a:t>
            </a:r>
            <a:r>
              <a:rPr lang="en-US" i="1" dirty="0"/>
              <a:t>registers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Store the parameters in a table in memory, and the table address is passed as a parameter in a register.</a:t>
            </a:r>
          </a:p>
          <a:p>
            <a:pPr lvl="1"/>
            <a:r>
              <a:rPr lang="en-US" i="1" dirty="0"/>
              <a:t>Push</a:t>
            </a:r>
            <a:r>
              <a:rPr lang="en-US" dirty="0"/>
              <a:t> (store) the parameters onto the </a:t>
            </a:r>
            <a:r>
              <a:rPr lang="en-US" i="1" dirty="0"/>
              <a:t>stack</a:t>
            </a:r>
            <a:r>
              <a:rPr lang="en-US" dirty="0"/>
              <a:t> by the program, and </a:t>
            </a:r>
            <a:r>
              <a:rPr lang="en-US" i="1" dirty="0"/>
              <a:t>pop</a:t>
            </a:r>
            <a:r>
              <a:rPr lang="en-US" dirty="0"/>
              <a:t> off the stack by operating system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Exp: Read  a data from one file and copy them to another file.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 of System Calls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Process Control</a:t>
            </a:r>
          </a:p>
          <a:p>
            <a:r>
              <a:rPr lang="en-US" sz="2000" dirty="0" smtClean="0"/>
              <a:t>File Management</a:t>
            </a:r>
          </a:p>
          <a:p>
            <a:r>
              <a:rPr lang="en-US" sz="2000" dirty="0" smtClean="0"/>
              <a:t>Device Management</a:t>
            </a:r>
          </a:p>
          <a:p>
            <a:r>
              <a:rPr lang="en-US" sz="2000" dirty="0" smtClean="0"/>
              <a:t>Information maintenance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Operating System Concepts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Passing of Parameters As A Table</a:t>
            </a:r>
          </a:p>
        </p:txBody>
      </p:sp>
      <p:pic>
        <p:nvPicPr>
          <p:cNvPr id="57348" name="Picture 4" descr="J:\aos-dir\mt-dir\aw-figures\ch3\fig03.01.ep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09850" y="2393950"/>
            <a:ext cx="3924300" cy="20701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MS-DOS Execution</a:t>
            </a:r>
          </a:p>
        </p:txBody>
      </p:sp>
      <p:pic>
        <p:nvPicPr>
          <p:cNvPr id="58372" name="Picture 4" descr="J:\aos-dir\mt-dir\aw-figures\ch3\fig03.03.ep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84524" y="2273299"/>
            <a:ext cx="3816367" cy="3215643"/>
          </a:xfrm>
          <a:prstGeom prst="rect">
            <a:avLst/>
          </a:prstGeom>
          <a:noFill/>
        </p:spPr>
      </p:pic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2955925" y="1804988"/>
            <a:ext cx="14636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At System Start-up</a:t>
            </a:r>
          </a:p>
        </p:txBody>
      </p:sp>
      <p:sp>
        <p:nvSpPr>
          <p:cNvPr id="58374" name="Text Box 6"/>
          <p:cNvSpPr txBox="1">
            <a:spLocks noChangeArrowheads="1"/>
          </p:cNvSpPr>
          <p:nvPr/>
        </p:nvSpPr>
        <p:spPr bwMode="auto">
          <a:xfrm>
            <a:off x="4724400" y="1798638"/>
            <a:ext cx="15001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Running a Program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604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UNIX Running Multiple Programs</a:t>
            </a:r>
          </a:p>
        </p:txBody>
      </p:sp>
      <p:pic>
        <p:nvPicPr>
          <p:cNvPr id="60420" name="Picture 1028" descr="J:\aos-dir\mt-dir\aw-figures\ch3\fig03.04.ep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4000" y="2393950"/>
            <a:ext cx="1579570" cy="3218374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614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Communication Models</a:t>
            </a:r>
          </a:p>
        </p:txBody>
      </p:sp>
      <p:pic>
        <p:nvPicPr>
          <p:cNvPr id="61444" name="Picture 1028" descr="J:\aos-dir\mt-dir\aw-figures\ch3\fig03.05.ep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28900" y="2159000"/>
            <a:ext cx="3886200" cy="2540000"/>
          </a:xfrm>
          <a:prstGeom prst="rect">
            <a:avLst/>
          </a:prstGeom>
          <a:noFill/>
        </p:spPr>
      </p:pic>
      <p:sp>
        <p:nvSpPr>
          <p:cNvPr id="61445" name="Text Box 1029"/>
          <p:cNvSpPr txBox="1">
            <a:spLocks noChangeArrowheads="1"/>
          </p:cNvSpPr>
          <p:nvPr/>
        </p:nvSpPr>
        <p:spPr bwMode="auto">
          <a:xfrm>
            <a:off x="2644775" y="1600200"/>
            <a:ext cx="1492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Msg Passing</a:t>
            </a:r>
          </a:p>
        </p:txBody>
      </p:sp>
      <p:sp>
        <p:nvSpPr>
          <p:cNvPr id="61446" name="Text Box 1030"/>
          <p:cNvSpPr txBox="1">
            <a:spLocks noChangeArrowheads="1"/>
          </p:cNvSpPr>
          <p:nvPr/>
        </p:nvSpPr>
        <p:spPr bwMode="auto">
          <a:xfrm>
            <a:off x="4565650" y="1600200"/>
            <a:ext cx="180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Shared Memory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Programs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programs provide a convenient environment for program development and execution.  </a:t>
            </a:r>
            <a:r>
              <a:rPr lang="en-US" dirty="0" smtClean="0"/>
              <a:t>This </a:t>
            </a:r>
            <a:r>
              <a:rPr lang="en-US" dirty="0"/>
              <a:t>can be divided into:</a:t>
            </a:r>
          </a:p>
          <a:p>
            <a:pPr lvl="1"/>
            <a:r>
              <a:rPr lang="en-US" dirty="0"/>
              <a:t>File manipulation </a:t>
            </a:r>
          </a:p>
          <a:p>
            <a:pPr lvl="1"/>
            <a:r>
              <a:rPr lang="en-US" dirty="0"/>
              <a:t>Status information</a:t>
            </a:r>
          </a:p>
          <a:p>
            <a:pPr lvl="1"/>
            <a:r>
              <a:rPr lang="en-US" dirty="0"/>
              <a:t>File modification</a:t>
            </a:r>
          </a:p>
          <a:p>
            <a:pPr lvl="1"/>
            <a:r>
              <a:rPr lang="en-US" dirty="0"/>
              <a:t>Programming language support</a:t>
            </a:r>
          </a:p>
          <a:p>
            <a:pPr lvl="1"/>
            <a:r>
              <a:rPr lang="en-US" dirty="0"/>
              <a:t>Program loading and execution</a:t>
            </a:r>
          </a:p>
          <a:p>
            <a:pPr lvl="1"/>
            <a:r>
              <a:rPr lang="en-US" dirty="0"/>
              <a:t>Communications</a:t>
            </a:r>
          </a:p>
          <a:p>
            <a:pPr lvl="1"/>
            <a:r>
              <a:rPr lang="en-US" dirty="0"/>
              <a:t>Application programs</a:t>
            </a:r>
          </a:p>
          <a:p>
            <a:r>
              <a:rPr lang="en-US" dirty="0"/>
              <a:t>Most users’ view of the operation system is defined by system programs, not the actual system calls.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Call Vs System 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786" y="1724025"/>
            <a:ext cx="3500462" cy="4114800"/>
          </a:xfrm>
        </p:spPr>
        <p:txBody>
          <a:bodyPr/>
          <a:lstStyle/>
          <a:p>
            <a:pPr algn="just"/>
            <a:r>
              <a:rPr lang="en-IN" b="1" dirty="0" smtClean="0"/>
              <a:t>System program</a:t>
            </a:r>
            <a:r>
              <a:rPr lang="en-IN" dirty="0" smtClean="0"/>
              <a:t>: These are the programs that are used and required to run the system - machine, input output devices and other connected peripherals.</a:t>
            </a:r>
          </a:p>
          <a:p>
            <a:pPr algn="just"/>
            <a:r>
              <a:rPr lang="en-IN" dirty="0" smtClean="0"/>
              <a:t> System program maybe is simple library function, like </a:t>
            </a:r>
            <a:r>
              <a:rPr lang="en-IN" err="1" smtClean="0"/>
              <a:t>sins</a:t>
            </a:r>
            <a:r>
              <a:rPr lang="en-IN" smtClean="0"/>
              <a:t>, cons</a:t>
            </a:r>
            <a:r>
              <a:rPr lang="en-IN" dirty="0" smtClean="0"/>
              <a:t>.</a:t>
            </a:r>
          </a:p>
          <a:p>
            <a:pPr algn="just"/>
            <a:r>
              <a:rPr lang="en-IN" dirty="0" smtClean="0"/>
              <a:t>They are also known as System softwares.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Operating System Concepts</a:t>
            </a:r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72000" y="1857364"/>
            <a:ext cx="350046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28600" lvl="0" indent="-228600" algn="just">
              <a:spcBef>
                <a:spcPct val="50000"/>
              </a:spcBef>
              <a:buSzPct val="140000"/>
              <a:buFontTx/>
              <a:buChar char="•"/>
            </a:pPr>
            <a:r>
              <a:rPr lang="en-IN" b="1" dirty="0" smtClean="0"/>
              <a:t>System calls</a:t>
            </a:r>
            <a:r>
              <a:rPr lang="en-IN" dirty="0" smtClean="0"/>
              <a:t>: System calls, are the calls made by the applications or the processors for a particular execution of a code block.</a:t>
            </a:r>
          </a:p>
          <a:p>
            <a:pPr marL="228600" lvl="0" indent="-228600" algn="just">
              <a:spcBef>
                <a:spcPct val="50000"/>
              </a:spcBef>
              <a:buSzPct val="140000"/>
              <a:buFontTx/>
              <a:buChar char="•"/>
            </a:pPr>
            <a:r>
              <a:rPr lang="en-IN" dirty="0" smtClean="0"/>
              <a:t>System call will cause CPU running level switch, from user level to kernel level</a:t>
            </a:r>
          </a:p>
          <a:p>
            <a:pPr marL="228600" lvl="0" indent="-228600" algn="just">
              <a:spcBef>
                <a:spcPct val="50000"/>
              </a:spcBef>
              <a:buSzPct val="140000"/>
              <a:buFontTx/>
              <a:buChar char="•"/>
            </a:pPr>
            <a:r>
              <a:rPr lang="en-IN" dirty="0" smtClean="0"/>
              <a:t>They are also known as interrupts in computer. </a:t>
            </a:r>
          </a:p>
          <a:p>
            <a:pPr marL="228600" lvl="0" indent="-228600" algn="just">
              <a:spcBef>
                <a:spcPct val="50000"/>
              </a:spcBef>
              <a:buSzPct val="140000"/>
              <a:buFontTx/>
              <a:buChar char="•"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Structure – Simple Approach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MS-DOS – written to provide the most functionality in the least space</a:t>
            </a:r>
          </a:p>
          <a:p>
            <a:pPr lvl="1"/>
            <a:r>
              <a:rPr lang="en-US"/>
              <a:t>not divided into modules</a:t>
            </a:r>
          </a:p>
          <a:p>
            <a:pPr lvl="1"/>
            <a:r>
              <a:rPr lang="en-US"/>
              <a:t>Although MS-DOS has some structure, its interfaces and levels of functionality are not well separated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MS-DOS Layer Structure</a:t>
            </a:r>
          </a:p>
        </p:txBody>
      </p:sp>
      <p:pic>
        <p:nvPicPr>
          <p:cNvPr id="62468" name="Picture 4" descr="J:\aos-dir\mt-dir\aw-figures\ch3\fig03.06.ep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1643050"/>
            <a:ext cx="3571900" cy="2890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95300"/>
            <a:ext cx="8001000" cy="457200"/>
          </a:xfrm>
        </p:spPr>
        <p:txBody>
          <a:bodyPr/>
          <a:lstStyle/>
          <a:p>
            <a:r>
              <a:rPr lang="en-US"/>
              <a:t>System Structure – Simple Approach (Cont.)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UNIX – limited by hardware functionality, the original UNIX operating system had limited structuring.  The UNIX OS consists of two separable parts.</a:t>
            </a:r>
          </a:p>
          <a:p>
            <a:pPr lvl="1"/>
            <a:r>
              <a:rPr lang="en-US"/>
              <a:t>Systems programs</a:t>
            </a:r>
          </a:p>
          <a:p>
            <a:pPr lvl="1"/>
            <a:r>
              <a:rPr lang="en-US"/>
              <a:t>The kernel</a:t>
            </a:r>
          </a:p>
          <a:p>
            <a:pPr lvl="2"/>
            <a:r>
              <a:rPr lang="en-US"/>
              <a:t>Consists of everything below the system-call interface and above the physical hardware</a:t>
            </a:r>
          </a:p>
          <a:p>
            <a:pPr lvl="2"/>
            <a:r>
              <a:rPr lang="en-US"/>
              <a:t>Provides the file system, CPU scheduling, memory management, and other operating-system functions; a large number of functions for one level.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634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UNIX System Structure</a:t>
            </a:r>
          </a:p>
        </p:txBody>
      </p:sp>
      <p:pic>
        <p:nvPicPr>
          <p:cNvPr id="63493" name="Picture 1029" descr="J:\aos-dir\mt-dir\aw-figures\ch3\fig03.07.ep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285860"/>
            <a:ext cx="6000792" cy="4572032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Structure – Layered Approach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The operating system is divided into a number of layers (levels), each built on top of lower layers.  The bottom layer (layer 0), is the hardware; the highest (layer N) is the user interface.</a:t>
            </a:r>
          </a:p>
          <a:p>
            <a:pPr algn="just"/>
            <a:r>
              <a:rPr lang="en-US" dirty="0"/>
              <a:t>With modularity, layers are selected such that each uses functions (operations) and services of only lower-level layers.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Operating System Layer</a:t>
            </a:r>
          </a:p>
        </p:txBody>
      </p:sp>
      <p:pic>
        <p:nvPicPr>
          <p:cNvPr id="64517" name="Picture 5" descr="J:\aos-dir\mt-dir\aw-figures\ch3\fig03.08.ep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89250" y="1357298"/>
            <a:ext cx="3365500" cy="306865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Layered Structure of the THE OS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7750" y="1724025"/>
            <a:ext cx="7029450" cy="790575"/>
          </a:xfrm>
        </p:spPr>
        <p:txBody>
          <a:bodyPr/>
          <a:lstStyle/>
          <a:p>
            <a:r>
              <a:rPr lang="en-US"/>
              <a:t>A layered design was first used in THE operating system.  </a:t>
            </a:r>
            <a:br>
              <a:rPr lang="en-US"/>
            </a:br>
            <a:r>
              <a:rPr lang="en-US"/>
              <a:t>Its six layers are as follows:</a:t>
            </a:r>
          </a:p>
        </p:txBody>
      </p:sp>
      <p:graphicFrame>
        <p:nvGraphicFramePr>
          <p:cNvPr id="49156" name="Object 4"/>
          <p:cNvGraphicFramePr>
            <a:graphicFrameLocks noChangeAspect="1"/>
          </p:cNvGraphicFramePr>
          <p:nvPr/>
        </p:nvGraphicFramePr>
        <p:xfrm>
          <a:off x="1603375" y="2508250"/>
          <a:ext cx="6254773" cy="6283933"/>
        </p:xfrm>
        <a:graphic>
          <a:graphicData uri="http://schemas.openxmlformats.org/presentationml/2006/ole">
            <p:oleObj spid="_x0000_s49156" name="Document" r:id="rId3" imgW="6767280" imgH="6841800" progId="Word.Document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OS/2 Layer Structure</a:t>
            </a:r>
          </a:p>
        </p:txBody>
      </p:sp>
      <p:pic>
        <p:nvPicPr>
          <p:cNvPr id="67587" name="Picture 3" descr="J:\aos-dir\mt-dir\aw-figures\ch3\fig03.09.ep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500174"/>
            <a:ext cx="5929354" cy="42862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4138" y="6242050"/>
            <a:ext cx="587375" cy="488950"/>
          </a:xfrm>
          <a:prstGeom prst="rect">
            <a:avLst/>
          </a:prstGeom>
        </p:spPr>
        <p:txBody>
          <a:bodyPr/>
          <a:lstStyle/>
          <a:p>
            <a:fld id="{8A2C58F2-A764-4FBC-AF0A-900C9C0937B0}" type="slidenum">
              <a:rPr lang="en-US"/>
              <a:pPr/>
              <a:t>30</a:t>
            </a:fld>
            <a:endParaRPr lang="en-US"/>
          </a:p>
        </p:txBody>
      </p:sp>
      <p:sp>
        <p:nvSpPr>
          <p:cNvPr id="1126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 Machine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28662" y="1500174"/>
            <a:ext cx="7543800" cy="3616325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Virtual Machine</a:t>
            </a:r>
            <a:r>
              <a:rPr lang="en-US" dirty="0"/>
              <a:t> is a software that creates a virtualized environment between the computer platform and the end user in which the end user can operate software.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4138" y="6242050"/>
            <a:ext cx="587375" cy="488950"/>
          </a:xfrm>
          <a:prstGeom prst="rect">
            <a:avLst/>
          </a:prstGeom>
        </p:spPr>
        <p:txBody>
          <a:bodyPr/>
          <a:lstStyle/>
          <a:p>
            <a:fld id="{1416EA57-FF35-4E10-B3D7-E08582CEE1A3}" type="slidenum">
              <a:rPr lang="en-US"/>
              <a:pPr/>
              <a:t>31</a:t>
            </a:fld>
            <a:endParaRPr lang="en-US"/>
          </a:p>
        </p:txBody>
      </p:sp>
      <p:sp>
        <p:nvSpPr>
          <p:cNvPr id="17421" name="AutoShap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Description</a:t>
            </a:r>
          </a:p>
        </p:txBody>
      </p:sp>
      <p:sp>
        <p:nvSpPr>
          <p:cNvPr id="17422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1214414" y="1857364"/>
            <a:ext cx="7464425" cy="3724275"/>
          </a:xfrm>
        </p:spPr>
        <p:txBody>
          <a:bodyPr/>
          <a:lstStyle/>
          <a:p>
            <a:r>
              <a:rPr lang="en-US" dirty="0"/>
              <a:t>A virtual machine provides an interface identical to the underlying </a:t>
            </a:r>
            <a:r>
              <a:rPr lang="en-US" dirty="0" smtClean="0"/>
              <a:t>hardware</a:t>
            </a:r>
            <a:r>
              <a:rPr lang="en-US" dirty="0"/>
              <a:t>.</a:t>
            </a:r>
          </a:p>
          <a:p>
            <a:r>
              <a:rPr lang="en-US" dirty="0"/>
              <a:t>The operating system creates the illusion of multiple processes, each executing on its own processor with its own (virtual) memory.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2362200" y="5410200"/>
            <a:ext cx="3886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endParaRPr lang="zh-CN" altLang="en-US" smtClean="0">
              <a:latin typeface="Segoe UI" charset="0"/>
              <a:ea typeface="宋体" charset="0"/>
              <a:cs typeface="Segoe UI" charset="0"/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057400" y="5029200"/>
            <a:ext cx="548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endParaRPr lang="zh-CN" altLang="en-US" smtClean="0">
              <a:latin typeface="Segoe UI" charset="0"/>
              <a:ea typeface="宋体" charset="0"/>
              <a:cs typeface="Segoe UI" charset="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1065213" y="5591175"/>
            <a:ext cx="7313612" cy="685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2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Segoe UI" charset="0"/>
              <a:ea typeface="ＭＳ Ｐゴシック" charset="0"/>
              <a:cs typeface="Segoe UI" charset="0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1065213" y="4813300"/>
            <a:ext cx="7313612" cy="685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Segoe UI" charset="0"/>
              <a:ea typeface="ＭＳ Ｐゴシック" charset="0"/>
              <a:cs typeface="Segoe UI" charset="0"/>
            </a:endParaRP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1524000" y="5715000"/>
            <a:ext cx="624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mtClean="0">
                <a:latin typeface="Segoe UI" charset="0"/>
                <a:ea typeface="宋体" charset="0"/>
                <a:cs typeface="Segoe UI" charset="0"/>
              </a:rPr>
              <a:t>Hardware</a:t>
            </a: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1600200" y="4953000"/>
            <a:ext cx="617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mtClean="0">
                <a:latin typeface="Segoe UI" charset="0"/>
                <a:ea typeface="宋体" charset="0"/>
                <a:cs typeface="Segoe UI" charset="0"/>
              </a:rPr>
              <a:t>Host OS 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1065213" y="4038600"/>
            <a:ext cx="7313612" cy="685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Segoe UI" charset="0"/>
              <a:ea typeface="ＭＳ Ｐゴシック" charset="0"/>
              <a:cs typeface="Segoe UI" charset="0"/>
            </a:endParaRP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1255713" y="4191000"/>
            <a:ext cx="69326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2400" b="1" smtClean="0">
                <a:latin typeface="Segoe UI" charset="0"/>
                <a:ea typeface="宋体" charset="0"/>
                <a:cs typeface="Segoe UI" charset="0"/>
              </a:rPr>
              <a:t>Virtual Machine Manager</a:t>
            </a: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1066800" y="2209800"/>
            <a:ext cx="2286000" cy="1600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Segoe UI" charset="0"/>
              <a:ea typeface="ＭＳ Ｐゴシック" charset="0"/>
              <a:cs typeface="Segoe UI" charset="0"/>
            </a:endParaRPr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3579813" y="2208213"/>
            <a:ext cx="2286000" cy="1600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Segoe UI" charset="0"/>
              <a:ea typeface="ＭＳ Ｐゴシック" charset="0"/>
              <a:cs typeface="Segoe UI" charset="0"/>
            </a:endParaRPr>
          </a:p>
        </p:txBody>
      </p:sp>
      <p:sp>
        <p:nvSpPr>
          <p:cNvPr id="8205" name="Rectangle 13"/>
          <p:cNvSpPr>
            <a:spLocks noChangeArrowheads="1"/>
          </p:cNvSpPr>
          <p:nvPr/>
        </p:nvSpPr>
        <p:spPr bwMode="auto">
          <a:xfrm>
            <a:off x="6092825" y="2208213"/>
            <a:ext cx="2286000" cy="1600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Segoe UI" charset="0"/>
              <a:ea typeface="ＭＳ Ｐゴシック" charset="0"/>
              <a:cs typeface="Segoe UI" charset="0"/>
            </a:endParaRPr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>
            <a:off x="1065213" y="33528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1219200" y="3429000"/>
            <a:ext cx="1981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endParaRPr lang="zh-CN" altLang="en-US" smtClean="0">
              <a:latin typeface="Segoe UI" charset="0"/>
              <a:ea typeface="宋体" charset="0"/>
              <a:cs typeface="Segoe UI" charset="0"/>
            </a:endParaRPr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1219200" y="3397250"/>
            <a:ext cx="2057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600" b="1" smtClean="0">
                <a:latin typeface="Segoe UI" charset="0"/>
                <a:ea typeface="宋体" charset="0"/>
                <a:cs typeface="Segoe UI" charset="0"/>
              </a:rPr>
              <a:t>Virtual Machine</a:t>
            </a:r>
          </a:p>
        </p:txBody>
      </p:sp>
      <p:sp>
        <p:nvSpPr>
          <p:cNvPr id="8209" name="Text Box 18"/>
          <p:cNvSpPr txBox="1">
            <a:spLocks noChangeArrowheads="1"/>
          </p:cNvSpPr>
          <p:nvPr/>
        </p:nvSpPr>
        <p:spPr bwMode="auto">
          <a:xfrm>
            <a:off x="5978525" y="2757488"/>
            <a:ext cx="25146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600" smtClean="0">
                <a:latin typeface="Segoe UI" charset="0"/>
                <a:ea typeface="宋体" charset="0"/>
                <a:cs typeface="Segoe UI" charset="0"/>
              </a:rPr>
              <a:t>Guest OS</a:t>
            </a:r>
            <a:br>
              <a:rPr lang="en-US" altLang="zh-CN" sz="1600" smtClean="0">
                <a:latin typeface="Segoe UI" charset="0"/>
                <a:ea typeface="宋体" charset="0"/>
                <a:cs typeface="Segoe UI" charset="0"/>
              </a:rPr>
            </a:br>
            <a:r>
              <a:rPr lang="en-US" altLang="zh-CN" sz="1600" smtClean="0">
                <a:latin typeface="Segoe UI" charset="0"/>
                <a:ea typeface="宋体" charset="0"/>
                <a:cs typeface="Segoe UI" charset="0"/>
              </a:rPr>
              <a:t>(VMware ESX)</a:t>
            </a:r>
          </a:p>
        </p:txBody>
      </p:sp>
      <p:sp>
        <p:nvSpPr>
          <p:cNvPr id="8210" name="Text Box 19"/>
          <p:cNvSpPr txBox="1">
            <a:spLocks noChangeArrowheads="1"/>
          </p:cNvSpPr>
          <p:nvPr/>
        </p:nvSpPr>
        <p:spPr bwMode="auto">
          <a:xfrm>
            <a:off x="3733800" y="2344738"/>
            <a:ext cx="1905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600" smtClean="0">
                <a:latin typeface="Segoe UI" charset="0"/>
                <a:ea typeface="宋体" charset="0"/>
                <a:cs typeface="Segoe UI" charset="0"/>
              </a:rPr>
              <a:t>Applications</a:t>
            </a:r>
          </a:p>
        </p:txBody>
      </p:sp>
      <p:sp>
        <p:nvSpPr>
          <p:cNvPr id="8211" name="Text Box 20"/>
          <p:cNvSpPr txBox="1">
            <a:spLocks noChangeArrowheads="1"/>
          </p:cNvSpPr>
          <p:nvPr/>
        </p:nvSpPr>
        <p:spPr bwMode="auto">
          <a:xfrm>
            <a:off x="3695700" y="3395663"/>
            <a:ext cx="2133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600" b="1" smtClean="0">
                <a:latin typeface="Segoe UI" charset="0"/>
                <a:ea typeface="宋体" charset="0"/>
                <a:cs typeface="Segoe UI" charset="0"/>
              </a:rPr>
              <a:t>Virtual Machine</a:t>
            </a:r>
          </a:p>
        </p:txBody>
      </p:sp>
      <p:sp>
        <p:nvSpPr>
          <p:cNvPr id="8212" name="Text Box 21"/>
          <p:cNvSpPr txBox="1">
            <a:spLocks noChangeArrowheads="1"/>
          </p:cNvSpPr>
          <p:nvPr/>
        </p:nvSpPr>
        <p:spPr bwMode="auto">
          <a:xfrm>
            <a:off x="6203950" y="3397250"/>
            <a:ext cx="2133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600" b="1" smtClean="0">
                <a:latin typeface="Segoe UI" charset="0"/>
                <a:ea typeface="宋体" charset="0"/>
                <a:cs typeface="Segoe UI" charset="0"/>
              </a:rPr>
              <a:t>Virtual Machine</a:t>
            </a:r>
          </a:p>
        </p:txBody>
      </p:sp>
      <p:sp>
        <p:nvSpPr>
          <p:cNvPr id="8213" name="Line 22"/>
          <p:cNvSpPr>
            <a:spLocks noChangeShapeType="1"/>
          </p:cNvSpPr>
          <p:nvPr/>
        </p:nvSpPr>
        <p:spPr bwMode="auto">
          <a:xfrm>
            <a:off x="3579813" y="33528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8214" name="Line 23"/>
          <p:cNvSpPr>
            <a:spLocks noChangeShapeType="1"/>
          </p:cNvSpPr>
          <p:nvPr/>
        </p:nvSpPr>
        <p:spPr bwMode="auto">
          <a:xfrm>
            <a:off x="6092825" y="33528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8215" name="Text Box 24"/>
          <p:cNvSpPr txBox="1">
            <a:spLocks noChangeArrowheads="1"/>
          </p:cNvSpPr>
          <p:nvPr/>
        </p:nvSpPr>
        <p:spPr bwMode="auto">
          <a:xfrm>
            <a:off x="1484313" y="2757488"/>
            <a:ext cx="144938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600" smtClean="0">
                <a:latin typeface="Segoe UI" charset="0"/>
                <a:ea typeface="宋体" charset="0"/>
                <a:cs typeface="Segoe UI" charset="0"/>
              </a:rPr>
              <a:t>Guest OS</a:t>
            </a:r>
            <a:br>
              <a:rPr lang="en-US" altLang="zh-CN" sz="1600" smtClean="0">
                <a:latin typeface="Segoe UI" charset="0"/>
                <a:ea typeface="宋体" charset="0"/>
                <a:cs typeface="Segoe UI" charset="0"/>
              </a:rPr>
            </a:br>
            <a:r>
              <a:rPr lang="en-US" altLang="zh-CN" sz="1600" smtClean="0">
                <a:latin typeface="Segoe UI" charset="0"/>
                <a:ea typeface="宋体" charset="0"/>
                <a:cs typeface="Segoe UI" charset="0"/>
              </a:rPr>
              <a:t>(Windows)</a:t>
            </a:r>
          </a:p>
        </p:txBody>
      </p:sp>
      <p:sp>
        <p:nvSpPr>
          <p:cNvPr id="8216" name="Text Box 25"/>
          <p:cNvSpPr txBox="1">
            <a:spLocks noChangeArrowheads="1"/>
          </p:cNvSpPr>
          <p:nvPr/>
        </p:nvSpPr>
        <p:spPr bwMode="auto">
          <a:xfrm>
            <a:off x="3619500" y="2757488"/>
            <a:ext cx="2362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600" smtClean="0">
                <a:latin typeface="Segoe UI" charset="0"/>
                <a:ea typeface="宋体" charset="0"/>
                <a:cs typeface="Segoe UI" charset="0"/>
              </a:rPr>
              <a:t>Guest OS</a:t>
            </a:r>
            <a:br>
              <a:rPr lang="en-US" altLang="zh-CN" sz="1600" smtClean="0">
                <a:latin typeface="Segoe UI" charset="0"/>
                <a:ea typeface="宋体" charset="0"/>
                <a:cs typeface="Segoe UI" charset="0"/>
              </a:rPr>
            </a:br>
            <a:r>
              <a:rPr lang="en-US" altLang="zh-CN" sz="1600" smtClean="0">
                <a:latin typeface="Segoe UI" charset="0"/>
                <a:ea typeface="宋体" charset="0"/>
                <a:cs typeface="Segoe UI" charset="0"/>
              </a:rPr>
              <a:t>(Linux)</a:t>
            </a:r>
          </a:p>
        </p:txBody>
      </p:sp>
      <p:sp>
        <p:nvSpPr>
          <p:cNvPr id="8217" name="Line 26"/>
          <p:cNvSpPr>
            <a:spLocks noChangeShapeType="1"/>
          </p:cNvSpPr>
          <p:nvPr/>
        </p:nvSpPr>
        <p:spPr bwMode="auto">
          <a:xfrm>
            <a:off x="6092825" y="2757488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8218" name="Line 27"/>
          <p:cNvSpPr>
            <a:spLocks noChangeShapeType="1"/>
          </p:cNvSpPr>
          <p:nvPr/>
        </p:nvSpPr>
        <p:spPr bwMode="auto">
          <a:xfrm>
            <a:off x="3579813" y="2757488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8219" name="Line 28"/>
          <p:cNvSpPr>
            <a:spLocks noChangeShapeType="1"/>
          </p:cNvSpPr>
          <p:nvPr/>
        </p:nvSpPr>
        <p:spPr bwMode="auto">
          <a:xfrm>
            <a:off x="1065213" y="2757488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8220" name="Text Box 29"/>
          <p:cNvSpPr txBox="1">
            <a:spLocks noChangeArrowheads="1"/>
          </p:cNvSpPr>
          <p:nvPr/>
        </p:nvSpPr>
        <p:spPr bwMode="auto">
          <a:xfrm>
            <a:off x="1255713" y="2344738"/>
            <a:ext cx="1905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600" smtClean="0">
                <a:latin typeface="Segoe UI" charset="0"/>
                <a:ea typeface="宋体" charset="0"/>
                <a:cs typeface="Segoe UI" charset="0"/>
              </a:rPr>
              <a:t>Applications</a:t>
            </a:r>
          </a:p>
        </p:txBody>
      </p:sp>
      <p:sp>
        <p:nvSpPr>
          <p:cNvPr id="8221" name="Text Box 30"/>
          <p:cNvSpPr txBox="1">
            <a:spLocks noChangeArrowheads="1"/>
          </p:cNvSpPr>
          <p:nvPr/>
        </p:nvSpPr>
        <p:spPr bwMode="auto">
          <a:xfrm>
            <a:off x="6283325" y="2344738"/>
            <a:ext cx="1905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600" smtClean="0">
                <a:latin typeface="Segoe UI" charset="0"/>
                <a:ea typeface="宋体" charset="0"/>
                <a:cs typeface="Segoe UI" charset="0"/>
              </a:rPr>
              <a:t>Applications</a:t>
            </a:r>
          </a:p>
        </p:txBody>
      </p:sp>
      <p:sp>
        <p:nvSpPr>
          <p:cNvPr id="8222" name="Line 36"/>
          <p:cNvSpPr>
            <a:spLocks noChangeShapeType="1"/>
          </p:cNvSpPr>
          <p:nvPr/>
        </p:nvSpPr>
        <p:spPr bwMode="auto">
          <a:xfrm>
            <a:off x="381000" y="3927475"/>
            <a:ext cx="8229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8223" name="Text Box 37"/>
          <p:cNvSpPr txBox="1">
            <a:spLocks noChangeArrowheads="1"/>
          </p:cNvSpPr>
          <p:nvPr/>
        </p:nvSpPr>
        <p:spPr bwMode="auto">
          <a:xfrm rot="10800000">
            <a:off x="457200" y="2209800"/>
            <a:ext cx="458788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zh-CN" b="1" smtClean="0">
                <a:latin typeface="Segoe UI" charset="0"/>
                <a:ea typeface="宋体" charset="0"/>
                <a:cs typeface="Segoe UI" charset="0"/>
              </a:rPr>
              <a:t>V i r t u a l</a:t>
            </a:r>
            <a:r>
              <a:rPr lang="en-US" altLang="zh-CN" smtClean="0">
                <a:latin typeface="Segoe UI" charset="0"/>
                <a:ea typeface="宋体" charset="0"/>
                <a:cs typeface="Segoe UI" charset="0"/>
              </a:rPr>
              <a:t> </a:t>
            </a:r>
          </a:p>
        </p:txBody>
      </p:sp>
      <p:sp>
        <p:nvSpPr>
          <p:cNvPr id="8224" name="Text Box 38"/>
          <p:cNvSpPr txBox="1">
            <a:spLocks noChangeArrowheads="1"/>
          </p:cNvSpPr>
          <p:nvPr/>
        </p:nvSpPr>
        <p:spPr bwMode="auto">
          <a:xfrm rot="10800000">
            <a:off x="457200" y="4114800"/>
            <a:ext cx="458788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zh-CN" b="1" smtClean="0">
                <a:latin typeface="Segoe UI" charset="0"/>
                <a:ea typeface="宋体" charset="0"/>
                <a:cs typeface="Segoe UI" charset="0"/>
              </a:rPr>
              <a:t>P h y s i c a l</a:t>
            </a:r>
            <a:r>
              <a:rPr lang="en-US" altLang="zh-CN" smtClean="0">
                <a:latin typeface="Segoe UI" charset="0"/>
                <a:ea typeface="宋体" charset="0"/>
                <a:cs typeface="Segoe UI" charset="0"/>
              </a:rPr>
              <a:t> </a:t>
            </a:r>
          </a:p>
        </p:txBody>
      </p:sp>
      <p:sp>
        <p:nvSpPr>
          <p:cNvPr id="8225" name="Rectangle 40"/>
          <p:cNvSpPr>
            <a:spLocks noChangeArrowheads="1"/>
          </p:cNvSpPr>
          <p:nvPr/>
        </p:nvSpPr>
        <p:spPr bwMode="auto">
          <a:xfrm>
            <a:off x="381000" y="1981200"/>
            <a:ext cx="8229600" cy="4495800"/>
          </a:xfrm>
          <a:prstGeom prst="rect">
            <a:avLst/>
          </a:prstGeom>
          <a:noFill/>
          <a:ln w="9525">
            <a:solidFill>
              <a:srgbClr val="3333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Segoe UI" charset="0"/>
              <a:ea typeface="ＭＳ Ｐゴシック" charset="0"/>
              <a:cs typeface="Segoe UI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285984" y="428604"/>
            <a:ext cx="4887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>
                <a:latin typeface="High Tower Text" pitchFamily="18" charset="0"/>
                <a:ea typeface="华文新魏" charset="0"/>
                <a:cs typeface="Segoe UI" pitchFamily="34" charset="0"/>
              </a:rPr>
              <a:t>Desktop Virtualization Architecture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4138" y="6242050"/>
            <a:ext cx="587375" cy="488950"/>
          </a:xfrm>
          <a:prstGeom prst="rect">
            <a:avLst/>
          </a:prstGeom>
        </p:spPr>
        <p:txBody>
          <a:bodyPr/>
          <a:lstStyle/>
          <a:p>
            <a:fld id="{5A78AAEC-7F42-4C2F-8C73-82B9059F863E}" type="slidenum">
              <a:rPr lang="en-US"/>
              <a:pPr/>
              <a:t>33</a:t>
            </a:fld>
            <a:endParaRPr lang="en-US"/>
          </a:p>
        </p:txBody>
      </p:sp>
      <p:sp>
        <p:nvSpPr>
          <p:cNvPr id="2457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Virtualization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Virtualization is an abstraction layer that decouples the physical hardware from the operating system to deliver greater IT resource utilization and flexibility. </a:t>
            </a:r>
          </a:p>
          <a:p>
            <a:pPr algn="just"/>
            <a:r>
              <a:rPr lang="en-US" dirty="0"/>
              <a:t>It allows multiple virtual machines, with heterogeneous operating systems to run in isolation, side-by-side on the same physical machine.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4138" y="6242050"/>
            <a:ext cx="587375" cy="488950"/>
          </a:xfrm>
          <a:prstGeom prst="rect">
            <a:avLst/>
          </a:prstGeom>
        </p:spPr>
        <p:txBody>
          <a:bodyPr/>
          <a:lstStyle/>
          <a:p>
            <a:fld id="{C1C437D9-C400-498E-A313-794A045C04E2}" type="slidenum">
              <a:rPr lang="en-US"/>
              <a:pPr/>
              <a:t>34</a:t>
            </a:fld>
            <a:endParaRPr lang="en-US"/>
          </a:p>
        </p:txBody>
      </p:sp>
      <p:sp>
        <p:nvSpPr>
          <p:cNvPr id="2560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Virtualization contd..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90600" y="2438400"/>
            <a:ext cx="7239000" cy="3692525"/>
          </a:xfrm>
        </p:spPr>
        <p:txBody>
          <a:bodyPr/>
          <a:lstStyle/>
          <a:p>
            <a:r>
              <a:rPr lang="en-US"/>
              <a:t>Each virtual machine has its own set of virtual hardware (e.g., RAM, CPU, NIC, etc.) upon which an operating system and applications are loaded.</a:t>
            </a:r>
          </a:p>
          <a:p>
            <a:r>
              <a:rPr lang="en-US"/>
              <a:t> The operating system creates the illusion of multiple processes, each executing on its own processor with its own (virtual) memory.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138" y="6242050"/>
            <a:ext cx="587375" cy="488950"/>
          </a:xfrm>
          <a:prstGeom prst="rect">
            <a:avLst/>
          </a:prstGeom>
        </p:spPr>
        <p:txBody>
          <a:bodyPr/>
          <a:lstStyle/>
          <a:p>
            <a:fld id="{11706ADE-91C4-4C0A-A3DA-6F4290C2ED38}" type="slidenum">
              <a:rPr lang="en-US"/>
              <a:pPr/>
              <a:t>35</a:t>
            </a:fld>
            <a:endParaRPr lang="en-US"/>
          </a:p>
        </p:txBody>
      </p:sp>
      <p:sp>
        <p:nvSpPr>
          <p:cNvPr id="27650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33400"/>
            <a:ext cx="8229600" cy="609584"/>
          </a:xfrm>
        </p:spPr>
        <p:txBody>
          <a:bodyPr/>
          <a:lstStyle/>
          <a:p>
            <a:r>
              <a:rPr lang="en-US" dirty="0"/>
              <a:t>        Virtual Machine Monitor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57224" y="1500174"/>
            <a:ext cx="7772400" cy="3463925"/>
          </a:xfrm>
        </p:spPr>
        <p:txBody>
          <a:bodyPr/>
          <a:lstStyle/>
          <a:p>
            <a:r>
              <a:rPr lang="en-US" dirty="0"/>
              <a:t>The host software that provides virtualization is often referred to as a </a:t>
            </a:r>
            <a:r>
              <a:rPr lang="en-US" b="1" dirty="0"/>
              <a:t>virtual machine monitor (VMM)</a:t>
            </a:r>
            <a:r>
              <a:rPr lang="en-US" dirty="0"/>
              <a:t> or hypervisor. </a:t>
            </a:r>
          </a:p>
          <a:p>
            <a:r>
              <a:rPr lang="en-US" dirty="0"/>
              <a:t>The VMM gives each virtual machine an illusion of a complete computer to itself.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138" y="6242050"/>
            <a:ext cx="587375" cy="488950"/>
          </a:xfrm>
          <a:prstGeom prst="rect">
            <a:avLst/>
          </a:prstGeom>
        </p:spPr>
        <p:txBody>
          <a:bodyPr/>
          <a:lstStyle/>
          <a:p>
            <a:fld id="{AF9AB7D9-40FD-4890-AF26-B103F302EC5E}" type="slidenum">
              <a:rPr lang="en-US"/>
              <a:pPr/>
              <a:t>36</a:t>
            </a:fld>
            <a:endParaRPr lang="en-US"/>
          </a:p>
        </p:txBody>
      </p:sp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1676400" y="1219200"/>
          <a:ext cx="6248400" cy="4343400"/>
        </p:xfrm>
        <a:graphic>
          <a:graphicData uri="http://schemas.openxmlformats.org/presentationml/2006/ole">
            <p:oleObj spid="_x0000_s89090" name="Bitmap Image" r:id="rId3" imgW="5401429" imgH="3086531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4138" y="6242050"/>
            <a:ext cx="587375" cy="488950"/>
          </a:xfrm>
          <a:prstGeom prst="rect">
            <a:avLst/>
          </a:prstGeom>
        </p:spPr>
        <p:txBody>
          <a:bodyPr/>
          <a:lstStyle/>
          <a:p>
            <a:fld id="{00B0BCD7-236F-4C99-BC02-B4E4101FB81F}" type="slidenum">
              <a:rPr lang="en-US"/>
              <a:pPr/>
              <a:t>37</a:t>
            </a:fld>
            <a:endParaRPr lang="en-US"/>
          </a:p>
        </p:txBody>
      </p:sp>
      <p:sp>
        <p:nvSpPr>
          <p:cNvPr id="33794" name="AutoShap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6746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33799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375" t="5376" r="656" b="5125"/>
          <a:stretch>
            <a:fillRect/>
          </a:stretch>
        </p:blipFill>
        <p:spPr>
          <a:xfrm>
            <a:off x="1265238" y="2425700"/>
            <a:ext cx="6624637" cy="3632200"/>
          </a:xfrm>
          <a:noFill/>
          <a:ln w="38100" cmpd="dbl">
            <a:solidFill>
              <a:srgbClr val="CC66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4138" y="6242050"/>
            <a:ext cx="587375" cy="488950"/>
          </a:xfrm>
          <a:prstGeom prst="rect">
            <a:avLst/>
          </a:prstGeom>
        </p:spPr>
        <p:txBody>
          <a:bodyPr/>
          <a:lstStyle/>
          <a:p>
            <a:fld id="{8AA0166E-7797-40EA-9F83-88DAA056E3CB}" type="slidenum">
              <a:rPr lang="en-US"/>
              <a:pPr/>
              <a:t>38</a:t>
            </a:fld>
            <a:endParaRPr lang="en-US"/>
          </a:p>
        </p:txBody>
      </p:sp>
      <p:sp>
        <p:nvSpPr>
          <p:cNvPr id="6246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7693025" cy="4114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  1. Partitioning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              - Multiple applications and operating systems can be supported within a single physical system.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              - There is no overlap amongst memory as each Virtual Memory has its own memory space.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4138" y="6242050"/>
            <a:ext cx="587375" cy="488950"/>
          </a:xfrm>
          <a:prstGeom prst="rect">
            <a:avLst/>
          </a:prstGeom>
        </p:spPr>
        <p:txBody>
          <a:bodyPr/>
          <a:lstStyle/>
          <a:p>
            <a:fld id="{CF5B8DC7-C62C-4C58-B4E8-93A5F1B71A82}" type="slidenum">
              <a:rPr lang="en-US"/>
              <a:pPr/>
              <a:t>39</a:t>
            </a:fld>
            <a:endParaRPr lang="en-US"/>
          </a:p>
        </p:txBody>
      </p:sp>
      <p:sp>
        <p:nvSpPr>
          <p:cNvPr id="6349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2743200"/>
            <a:ext cx="7235825" cy="334327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/>
              <a:t>2.Isolation</a:t>
            </a:r>
          </a:p>
          <a:p>
            <a:pPr algn="just">
              <a:buFont typeface="Wingdings" pitchFamily="2" charset="2"/>
              <a:buNone/>
            </a:pPr>
            <a:r>
              <a:rPr lang="en-US"/>
              <a:t>            -Virtual machines are completely isolated from the host machine and other virtual machines. If a virtual machine crashes, all others are unaffected. 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-Data does not leak across virtual machines.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vi.pot">
  <a:themeElements>
    <a:clrScheme name="avi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vi.po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avi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vi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C:\Apps\Microsoft Office\Templates\Presentations\avi.pot</Template>
  <TotalTime>22659</TotalTime>
  <Words>1708</Words>
  <Application>Microsoft PowerPoint</Application>
  <PresentationFormat>On-screen Show (4:3)</PresentationFormat>
  <Paragraphs>225</Paragraphs>
  <Slides>39</Slides>
  <Notes>1</Notes>
  <HiddenSlides>10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avi.pot</vt:lpstr>
      <vt:lpstr>Document</vt:lpstr>
      <vt:lpstr>Bitmap Image</vt:lpstr>
      <vt:lpstr>Module 3:  Operating-System Structures</vt:lpstr>
      <vt:lpstr>Common System Components</vt:lpstr>
      <vt:lpstr>Process Management</vt:lpstr>
      <vt:lpstr>Main-Memory Management</vt:lpstr>
      <vt:lpstr>Secondary-Storage Management</vt:lpstr>
      <vt:lpstr>I/O System Management</vt:lpstr>
      <vt:lpstr>File Management</vt:lpstr>
      <vt:lpstr>Protection System</vt:lpstr>
      <vt:lpstr>Networking (Distributed Systems)</vt:lpstr>
      <vt:lpstr>Command-Interpreter System</vt:lpstr>
      <vt:lpstr>Command-Interpreter System (Cont.)</vt:lpstr>
      <vt:lpstr>Operating System Services</vt:lpstr>
      <vt:lpstr>Additional Operating System Functions</vt:lpstr>
      <vt:lpstr>System Calls</vt:lpstr>
      <vt:lpstr>Type of System Calls</vt:lpstr>
      <vt:lpstr>Passing of Parameters As A Table</vt:lpstr>
      <vt:lpstr>MS-DOS Execution</vt:lpstr>
      <vt:lpstr>UNIX Running Multiple Programs</vt:lpstr>
      <vt:lpstr>Communication Models</vt:lpstr>
      <vt:lpstr>System Programs</vt:lpstr>
      <vt:lpstr>System Call Vs System Program</vt:lpstr>
      <vt:lpstr>System Structure – Simple Approach</vt:lpstr>
      <vt:lpstr>MS-DOS Layer Structure</vt:lpstr>
      <vt:lpstr>System Structure – Simple Approach (Cont.)</vt:lpstr>
      <vt:lpstr>UNIX System Structure</vt:lpstr>
      <vt:lpstr>System Structure – Layered Approach</vt:lpstr>
      <vt:lpstr>An Operating System Layer</vt:lpstr>
      <vt:lpstr>Layered Structure of the THE OS</vt:lpstr>
      <vt:lpstr>OS/2 Layer Structure</vt:lpstr>
      <vt:lpstr>Virtual Machine</vt:lpstr>
      <vt:lpstr>Description</vt:lpstr>
      <vt:lpstr>Slide 32</vt:lpstr>
      <vt:lpstr>Virtualization</vt:lpstr>
      <vt:lpstr>Virtualization contd..</vt:lpstr>
      <vt:lpstr>        Virtual Machine Monitor</vt:lpstr>
      <vt:lpstr>Slide 36</vt:lpstr>
      <vt:lpstr>Architecture</vt:lpstr>
      <vt:lpstr>Benefits</vt:lpstr>
      <vt:lpstr>Benefits</vt:lpstr>
    </vt:vector>
  </TitlesOfParts>
  <Company>Lucent Technologies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 Operating-System Structures</dc:title>
  <dc:creator>Marilyn Turnamian</dc:creator>
  <cp:lastModifiedBy>Administrator</cp:lastModifiedBy>
  <cp:revision>56</cp:revision>
  <cp:lastPrinted>1999-07-20T18:42:43Z</cp:lastPrinted>
  <dcterms:created xsi:type="dcterms:W3CDTF">1999-06-30T20:09:32Z</dcterms:created>
  <dcterms:modified xsi:type="dcterms:W3CDTF">2019-07-09T04:43:37Z</dcterms:modified>
</cp:coreProperties>
</file>