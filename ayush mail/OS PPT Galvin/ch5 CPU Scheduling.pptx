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78" r:id="rId4"/>
    <p:sldId id="279" r:id="rId5"/>
    <p:sldId id="258" r:id="rId6"/>
    <p:sldId id="259" r:id="rId7"/>
    <p:sldId id="288" r:id="rId8"/>
    <p:sldId id="289" r:id="rId9"/>
    <p:sldId id="260" r:id="rId10"/>
    <p:sldId id="261" r:id="rId11"/>
    <p:sldId id="262" r:id="rId12"/>
    <p:sldId id="263" r:id="rId13"/>
    <p:sldId id="264" r:id="rId14"/>
    <p:sldId id="290" r:id="rId15"/>
    <p:sldId id="291" r:id="rId16"/>
    <p:sldId id="292" r:id="rId17"/>
    <p:sldId id="265" r:id="rId18"/>
    <p:sldId id="266" r:id="rId19"/>
    <p:sldId id="267" r:id="rId20"/>
    <p:sldId id="268" r:id="rId21"/>
    <p:sldId id="269" r:id="rId22"/>
    <p:sldId id="270" r:id="rId23"/>
    <p:sldId id="293" r:id="rId24"/>
    <p:sldId id="271" r:id="rId25"/>
    <p:sldId id="281" r:id="rId26"/>
    <p:sldId id="282" r:id="rId27"/>
    <p:sldId id="272" r:id="rId28"/>
    <p:sldId id="283" r:id="rId29"/>
    <p:sldId id="273" r:id="rId30"/>
    <p:sldId id="284" r:id="rId31"/>
    <p:sldId id="274" r:id="rId32"/>
    <p:sldId id="275" r:id="rId33"/>
    <p:sldId id="276" r:id="rId34"/>
    <p:sldId id="285" r:id="rId35"/>
    <p:sldId id="277" r:id="rId36"/>
    <p:sldId id="287" r:id="rId37"/>
  </p:sldIdLst>
  <p:sldSz cx="9144000" cy="6858000" type="screen4x3"/>
  <p:notesSz cx="6991350" cy="92821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1086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6338" y="696913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762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fld id="{3E5DF8A8-9446-431A-BEE5-D8CE82FCB7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868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25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1026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025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1026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2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84213" y="342900"/>
            <a:ext cx="7831137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Operating System Concepts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1000"/>
              <a:t>Silberschatz and Galvin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/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4121150" y="6583363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/>
              <a:t>5.</a:t>
            </a:r>
            <a:fld id="{81F24899-FF4D-4E2C-98DA-E344F5BFE32A}" type="slidenum">
              <a:rPr lang="en-US" sz="1000"/>
              <a:pPr>
                <a:spcBef>
                  <a:spcPct val="50000"/>
                </a:spcBef>
              </a:pPr>
              <a:t>‹#›</a:t>
            </a:fld>
            <a:endParaRPr 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5:  CPU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Basic Concepts</a:t>
            </a:r>
          </a:p>
          <a:p>
            <a:r>
              <a:rPr lang="en-US"/>
              <a:t>Scheduling Criteria </a:t>
            </a:r>
          </a:p>
          <a:p>
            <a:r>
              <a:rPr lang="en-US"/>
              <a:t>Scheduling Algorithms</a:t>
            </a:r>
          </a:p>
          <a:p>
            <a:r>
              <a:rPr lang="en-US"/>
              <a:t>Multiple-Processor Scheduling</a:t>
            </a:r>
          </a:p>
          <a:p>
            <a:r>
              <a:rPr lang="en-US"/>
              <a:t>Real-Time Scheduling</a:t>
            </a:r>
          </a:p>
          <a:p>
            <a:r>
              <a:rPr lang="en-US"/>
              <a:t>Algorithm Evaluation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Concepts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Maximum CPU utilization obtained with multiprogramming</a:t>
            </a:r>
          </a:p>
          <a:p>
            <a:r>
              <a:rPr lang="en-US"/>
              <a:t>CPU–I/O Burst Cycle – Process execution consists of a </a:t>
            </a:r>
            <a:r>
              <a:rPr lang="en-US" i="1"/>
              <a:t>cycle</a:t>
            </a:r>
            <a:r>
              <a:rPr lang="en-US"/>
              <a:t> of CPU execution and I/O wait.</a:t>
            </a:r>
          </a:p>
          <a:p>
            <a:r>
              <a:rPr lang="en-US"/>
              <a:t>CPU burst distribution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95300"/>
            <a:ext cx="7924800" cy="457200"/>
          </a:xfrm>
        </p:spPr>
        <p:txBody>
          <a:bodyPr/>
          <a:lstStyle/>
          <a:p>
            <a:r>
              <a:rPr lang="en-US"/>
              <a:t>Alternating Sequence of CPU And I/O Bursts</a:t>
            </a:r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2"/>
          <a:srcRect l="38274" t="10310" r="40599" b="52560"/>
          <a:stretch>
            <a:fillRect/>
          </a:stretch>
        </p:blipFill>
        <p:spPr bwMode="auto">
          <a:xfrm>
            <a:off x="3089275" y="1397000"/>
            <a:ext cx="3413125" cy="479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 of CPU-burst Times</a:t>
            </a:r>
          </a:p>
        </p:txBody>
      </p:sp>
      <p:pic>
        <p:nvPicPr>
          <p:cNvPr id="55302" name="Picture 1030"/>
          <p:cNvPicPr>
            <a:picLocks noChangeAspect="1" noChangeArrowheads="1"/>
          </p:cNvPicPr>
          <p:nvPr/>
        </p:nvPicPr>
        <p:blipFill>
          <a:blip r:embed="rId2"/>
          <a:srcRect l="1099" t="9616" r="389" b="9158"/>
          <a:stretch>
            <a:fillRect/>
          </a:stretch>
        </p:blipFill>
        <p:spPr bwMode="auto">
          <a:xfrm>
            <a:off x="1447800" y="1600200"/>
            <a:ext cx="6831013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Scheduler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Selects from among the processes in memory that are ready to execute, and allocates the CPU to one of them.</a:t>
            </a:r>
          </a:p>
          <a:p>
            <a:r>
              <a:rPr lang="en-US" dirty="0"/>
              <a:t>CPU scheduling decisions may take place when a process:</a:t>
            </a:r>
          </a:p>
          <a:p>
            <a:pPr lvl="1">
              <a:buFontTx/>
              <a:buNone/>
            </a:pPr>
            <a:r>
              <a:rPr lang="en-US" dirty="0"/>
              <a:t>1.	Switches from running to waiting state.</a:t>
            </a:r>
          </a:p>
          <a:p>
            <a:pPr lvl="1">
              <a:buFontTx/>
              <a:buNone/>
            </a:pPr>
            <a:r>
              <a:rPr lang="en-US" dirty="0"/>
              <a:t>2.	Switches from running to ready state.</a:t>
            </a:r>
          </a:p>
          <a:p>
            <a:pPr lvl="1">
              <a:buFontTx/>
              <a:buNone/>
            </a:pPr>
            <a:r>
              <a:rPr lang="en-US" dirty="0"/>
              <a:t>3.	Switches from waiting to ready.</a:t>
            </a:r>
          </a:p>
          <a:p>
            <a:pPr lvl="1">
              <a:buFontTx/>
              <a:buNone/>
            </a:pPr>
            <a:r>
              <a:rPr lang="en-US" dirty="0"/>
              <a:t>4.	Terminates.</a:t>
            </a:r>
          </a:p>
          <a:p>
            <a:r>
              <a:rPr lang="en-US" dirty="0"/>
              <a:t>Scheduling under 1 and 4 is </a:t>
            </a:r>
            <a:r>
              <a:rPr lang="en-US" b="1" i="1" dirty="0" smtClean="0">
                <a:solidFill>
                  <a:srgbClr val="FF0000"/>
                </a:solidFill>
              </a:rPr>
              <a:t>non-preemptive</a:t>
            </a:r>
            <a:r>
              <a:rPr lang="en-US" dirty="0"/>
              <a:t>.</a:t>
            </a:r>
          </a:p>
          <a:p>
            <a:r>
              <a:rPr lang="en-US" dirty="0"/>
              <a:t>All other scheduling is </a:t>
            </a:r>
            <a:r>
              <a:rPr lang="en-US" b="1" i="1" dirty="0">
                <a:solidFill>
                  <a:srgbClr val="FF0000"/>
                </a:solidFill>
              </a:rPr>
              <a:t>preemptive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Dispatcher module gives control of the CPU to the process selected by the short-term scheduler; this involves:</a:t>
            </a:r>
          </a:p>
          <a:p>
            <a:pPr lvl="1"/>
            <a:r>
              <a:rPr lang="en-US"/>
              <a:t>switching context</a:t>
            </a:r>
          </a:p>
          <a:p>
            <a:pPr lvl="1"/>
            <a:r>
              <a:rPr lang="en-US"/>
              <a:t>switching to user mode</a:t>
            </a:r>
          </a:p>
          <a:p>
            <a:pPr lvl="1"/>
            <a:r>
              <a:rPr lang="en-US"/>
              <a:t>jumping to the proper location in the user program to restart that program</a:t>
            </a:r>
          </a:p>
          <a:p>
            <a:r>
              <a:rPr lang="en-US" i="1"/>
              <a:t>Dispatch latency</a:t>
            </a:r>
            <a:r>
              <a:rPr lang="en-US"/>
              <a:t> – time it takes for the dispatcher to stop one process and start another running.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CPU scheduling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 smtClean="0"/>
              <a:t>CPU scheduling</a:t>
            </a:r>
            <a:r>
              <a:rPr lang="en-IN" dirty="0" smtClean="0"/>
              <a:t> is a process which allows one process to use the </a:t>
            </a:r>
            <a:r>
              <a:rPr lang="en-IN" b="1" dirty="0" smtClean="0"/>
              <a:t>CPU</a:t>
            </a:r>
            <a:r>
              <a:rPr lang="en-IN" dirty="0" smtClean="0"/>
              <a:t> while the execution of another process is on hold(in waiting state) due to unavailability of any resource like I/O etc,. </a:t>
            </a:r>
          </a:p>
          <a:p>
            <a:pPr algn="just"/>
            <a:r>
              <a:rPr lang="en-IN" dirty="0" smtClean="0"/>
              <a:t>The aim of </a:t>
            </a:r>
            <a:r>
              <a:rPr lang="en-IN" b="1" dirty="0" smtClean="0"/>
              <a:t>CPU scheduling</a:t>
            </a:r>
            <a:r>
              <a:rPr lang="en-IN" dirty="0" smtClean="0"/>
              <a:t> is to make the system efficient, fast and fair.</a:t>
            </a:r>
          </a:p>
          <a:p>
            <a:r>
              <a:rPr lang="en-IN" dirty="0" smtClean="0"/>
              <a:t>First-Come, First-Served (FCFS) Scheduling</a:t>
            </a:r>
          </a:p>
          <a:p>
            <a:r>
              <a:rPr lang="en-IN" dirty="0" smtClean="0"/>
              <a:t>Shortest-Job-Next (SJN) Scheduling</a:t>
            </a:r>
          </a:p>
          <a:p>
            <a:r>
              <a:rPr lang="en-IN" dirty="0" smtClean="0"/>
              <a:t>Priority Scheduling</a:t>
            </a:r>
          </a:p>
          <a:p>
            <a:r>
              <a:rPr lang="en-IN" dirty="0" smtClean="0"/>
              <a:t>Shortest Remaining Time</a:t>
            </a:r>
          </a:p>
          <a:p>
            <a:r>
              <a:rPr lang="en-IN" dirty="0" smtClean="0"/>
              <a:t>Round Robin(RR) Scheduling</a:t>
            </a:r>
          </a:p>
          <a:p>
            <a:r>
              <a:rPr lang="en-IN" dirty="0" smtClean="0"/>
              <a:t>Multiple-Level Queues Scheduling</a:t>
            </a:r>
          </a:p>
          <a:p>
            <a:pPr algn="just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Non-</a:t>
            </a:r>
            <a:r>
              <a:rPr lang="en-IN" dirty="0" err="1" smtClean="0"/>
              <a:t>preemptive</a:t>
            </a:r>
            <a:r>
              <a:rPr lang="en-IN" dirty="0" smtClean="0"/>
              <a:t> or </a:t>
            </a:r>
            <a:r>
              <a:rPr lang="en-IN" dirty="0" err="1" smtClean="0"/>
              <a:t>preemptive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Non-</a:t>
            </a:r>
            <a:r>
              <a:rPr lang="en-IN" b="1" dirty="0" err="1" smtClean="0"/>
              <a:t>preemptive</a:t>
            </a:r>
            <a:r>
              <a:rPr lang="en-IN" dirty="0" smtClean="0"/>
              <a:t> algorithms are designed so that once a process enters the running state, it cannot be </a:t>
            </a:r>
            <a:r>
              <a:rPr lang="en-IN" dirty="0" err="1" smtClean="0"/>
              <a:t>preempted</a:t>
            </a:r>
            <a:r>
              <a:rPr lang="en-IN" dirty="0" smtClean="0"/>
              <a:t> until it completes its allotted time.</a:t>
            </a:r>
          </a:p>
          <a:p>
            <a:pPr algn="just"/>
            <a:r>
              <a:rPr lang="en-IN" b="1" dirty="0" err="1" smtClean="0"/>
              <a:t>Preemptive</a:t>
            </a:r>
            <a:r>
              <a:rPr lang="en-IN" dirty="0" smtClean="0"/>
              <a:t> scheduling is based on priority where a scheduler may </a:t>
            </a:r>
            <a:r>
              <a:rPr lang="en-IN" dirty="0" err="1" smtClean="0"/>
              <a:t>preempt</a:t>
            </a:r>
            <a:r>
              <a:rPr lang="en-IN" dirty="0" smtClean="0"/>
              <a:t> a low priority running process anytime when a high priority process enters into a ready state.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Criteria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029450" cy="4114800"/>
          </a:xfrm>
        </p:spPr>
        <p:txBody>
          <a:bodyPr/>
          <a:lstStyle/>
          <a:p>
            <a:r>
              <a:rPr lang="en-US"/>
              <a:t>CPU utilization – keep the CPU as busy as possible</a:t>
            </a:r>
          </a:p>
          <a:p>
            <a:r>
              <a:rPr lang="en-US"/>
              <a:t>Throughput – # of processes that complete their execution per time unit</a:t>
            </a:r>
          </a:p>
          <a:p>
            <a:r>
              <a:rPr lang="en-US"/>
              <a:t>Turnaround time – amount of time to execute a particular process</a:t>
            </a:r>
          </a:p>
          <a:p>
            <a:r>
              <a:rPr lang="en-US"/>
              <a:t>Waiting time – amount of time a process has been waiting in the ready queue</a:t>
            </a:r>
          </a:p>
          <a:p>
            <a:r>
              <a:rPr lang="en-US"/>
              <a:t>Response time – amount of time it takes from when a request was submitted until the first response is produced, </a:t>
            </a:r>
            <a:r>
              <a:rPr lang="en-US" b="1"/>
              <a:t>not</a:t>
            </a:r>
            <a:r>
              <a:rPr lang="en-US"/>
              <a:t> output  (for time-sharing environment)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Criteria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 CPU utilization</a:t>
            </a:r>
          </a:p>
          <a:p>
            <a:r>
              <a:rPr lang="en-US"/>
              <a:t>Max throughput</a:t>
            </a:r>
          </a:p>
          <a:p>
            <a:r>
              <a:rPr lang="en-US"/>
              <a:t>Min turnaround time </a:t>
            </a:r>
          </a:p>
          <a:p>
            <a:r>
              <a:rPr lang="en-US"/>
              <a:t>Min waiting time </a:t>
            </a:r>
          </a:p>
          <a:p>
            <a:r>
              <a:rPr lang="en-US"/>
              <a:t>Min response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95300"/>
            <a:ext cx="7924800" cy="457200"/>
          </a:xfrm>
        </p:spPr>
        <p:txBody>
          <a:bodyPr/>
          <a:lstStyle/>
          <a:p>
            <a:r>
              <a:rPr lang="en-US"/>
              <a:t>First-Come, First-Served (FCFS) Scheduling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3032125" algn="ctr"/>
                <a:tab pos="4635500" algn="ctr"/>
              </a:tabLst>
            </a:pPr>
            <a:r>
              <a:rPr lang="en-US" dirty="0"/>
              <a:t>Example:	</a:t>
            </a:r>
            <a:r>
              <a:rPr lang="en-US" u="sng" dirty="0"/>
              <a:t>Process</a:t>
            </a:r>
            <a:r>
              <a:rPr lang="en-US" dirty="0"/>
              <a:t>	</a:t>
            </a:r>
            <a:r>
              <a:rPr lang="en-US" u="sng" dirty="0"/>
              <a:t>Burst Time	</a:t>
            </a:r>
          </a:p>
          <a:p>
            <a:pPr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	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	24</a:t>
            </a:r>
          </a:p>
          <a:p>
            <a:pPr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	 </a:t>
            </a: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 	3</a:t>
            </a:r>
          </a:p>
          <a:p>
            <a:pPr>
              <a:buFontTx/>
              <a:buNone/>
              <a:tabLst>
                <a:tab pos="3032125" algn="ctr"/>
                <a:tab pos="4635500" algn="ctr"/>
              </a:tabLst>
            </a:pPr>
            <a:r>
              <a:rPr lang="en-US" dirty="0"/>
              <a:t>		 </a:t>
            </a:r>
            <a:r>
              <a:rPr lang="en-US" i="1" dirty="0"/>
              <a:t>P</a:t>
            </a:r>
            <a:r>
              <a:rPr lang="en-US" i="1" baseline="-25000" dirty="0"/>
              <a:t>3	 </a:t>
            </a:r>
            <a:r>
              <a:rPr lang="en-US" dirty="0"/>
              <a:t>3</a:t>
            </a:r>
            <a:r>
              <a:rPr lang="en-US" i="1" baseline="-25000" dirty="0"/>
              <a:t> </a:t>
            </a:r>
          </a:p>
          <a:p>
            <a:pPr>
              <a:tabLst>
                <a:tab pos="3032125" algn="ctr"/>
                <a:tab pos="4635500" algn="ctr"/>
              </a:tabLst>
            </a:pPr>
            <a:r>
              <a:rPr lang="en-US" dirty="0"/>
              <a:t>Suppose that the processes arrive in the order: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 , 	 </a:t>
            </a: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 , </a:t>
            </a:r>
            <a:r>
              <a:rPr lang="en-US" i="1" dirty="0"/>
              <a:t>P</a:t>
            </a:r>
            <a:r>
              <a:rPr lang="en-US" i="1" baseline="-25000" dirty="0"/>
              <a:t>3  </a:t>
            </a:r>
            <a:br>
              <a:rPr lang="en-US" i="1" baseline="-25000" dirty="0"/>
            </a:br>
            <a:r>
              <a:rPr lang="en-US" dirty="0"/>
              <a:t>The Gantt Chart for the schedule is: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tabLst>
                <a:tab pos="3032125" algn="ctr"/>
                <a:tab pos="4635500" algn="ctr"/>
              </a:tabLst>
            </a:pPr>
            <a:r>
              <a:rPr lang="en-US" dirty="0"/>
              <a:t>Waiting time for 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  = 0; </a:t>
            </a: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  = 24; </a:t>
            </a:r>
            <a:r>
              <a:rPr lang="en-US" i="1" dirty="0"/>
              <a:t>P</a:t>
            </a:r>
            <a:r>
              <a:rPr lang="en-US" i="1" baseline="-25000" dirty="0"/>
              <a:t>3 </a:t>
            </a:r>
            <a:r>
              <a:rPr lang="en-US" dirty="0"/>
              <a:t>= 27</a:t>
            </a:r>
          </a:p>
          <a:p>
            <a:pPr>
              <a:tabLst>
                <a:tab pos="3032125" algn="ctr"/>
                <a:tab pos="4635500" algn="ctr"/>
              </a:tabLst>
            </a:pPr>
            <a:r>
              <a:rPr lang="en-US" dirty="0"/>
              <a:t>Average waiting time:  (0 + 24 + 27)/3 = </a:t>
            </a:r>
            <a:r>
              <a:rPr lang="en-US" dirty="0" smtClean="0"/>
              <a:t>17</a:t>
            </a:r>
          </a:p>
          <a:p>
            <a:pPr>
              <a:tabLst>
                <a:tab pos="3032125" algn="ctr"/>
                <a:tab pos="4635500" algn="ctr"/>
              </a:tabLst>
            </a:pPr>
            <a:r>
              <a:rPr lang="en-US" dirty="0" smtClean="0"/>
              <a:t>Note: In this example Arrival Time is consider as 0.</a:t>
            </a:r>
            <a:endParaRPr lang="en-US" dirty="0"/>
          </a:p>
        </p:txBody>
      </p:sp>
      <p:grpSp>
        <p:nvGrpSpPr>
          <p:cNvPr id="36882" name="Group 18"/>
          <p:cNvGrpSpPr>
            <a:grpSpLocks/>
          </p:cNvGrpSpPr>
          <p:nvPr/>
        </p:nvGrpSpPr>
        <p:grpSpPr bwMode="auto">
          <a:xfrm>
            <a:off x="1358900" y="4267200"/>
            <a:ext cx="5556250" cy="1128713"/>
            <a:chOff x="856" y="2688"/>
            <a:chExt cx="3500" cy="711"/>
          </a:xfrm>
        </p:grpSpPr>
        <p:sp>
          <p:nvSpPr>
            <p:cNvPr id="36868" name="Rectangle 4"/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69" name="Text Box 5"/>
            <p:cNvSpPr txBox="1">
              <a:spLocks noChangeArrowheads="1"/>
            </p:cNvSpPr>
            <p:nvPr/>
          </p:nvSpPr>
          <p:spPr bwMode="auto">
            <a:xfrm>
              <a:off x="1776" y="2736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36870" name="Text Box 6"/>
            <p:cNvSpPr txBox="1">
              <a:spLocks noChangeArrowheads="1"/>
            </p:cNvSpPr>
            <p:nvPr/>
          </p:nvSpPr>
          <p:spPr bwMode="auto">
            <a:xfrm>
              <a:off x="3264" y="2736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36871" name="Text Box 7"/>
            <p:cNvSpPr txBox="1">
              <a:spLocks noChangeArrowheads="1"/>
            </p:cNvSpPr>
            <p:nvPr/>
          </p:nvSpPr>
          <p:spPr bwMode="auto">
            <a:xfrm>
              <a:off x="3840" y="2736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</a:t>
              </a:r>
              <a:r>
                <a:rPr lang="en-US" baseline="-25000"/>
                <a:t>3</a:t>
              </a:r>
              <a:endParaRPr lang="en-US"/>
            </a:p>
          </p:txBody>
        </p:sp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73" name="Line 9"/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74" name="Line 10"/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75" name="Line 11"/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76" name="Line 12"/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77" name="Line 13"/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878" name="Text Box 14"/>
            <p:cNvSpPr txBox="1">
              <a:spLocks noChangeArrowheads="1"/>
            </p:cNvSpPr>
            <p:nvPr/>
          </p:nvSpPr>
          <p:spPr bwMode="auto">
            <a:xfrm>
              <a:off x="2928" y="316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24</a:t>
              </a:r>
            </a:p>
          </p:txBody>
        </p:sp>
        <p:sp>
          <p:nvSpPr>
            <p:cNvPr id="36879" name="Text Box 15"/>
            <p:cNvSpPr txBox="1">
              <a:spLocks noChangeArrowheads="1"/>
            </p:cNvSpPr>
            <p:nvPr/>
          </p:nvSpPr>
          <p:spPr bwMode="auto">
            <a:xfrm>
              <a:off x="3504" y="316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27</a:t>
              </a:r>
            </a:p>
          </p:txBody>
        </p:sp>
        <p:sp>
          <p:nvSpPr>
            <p:cNvPr id="36880" name="Text Box 16"/>
            <p:cNvSpPr txBox="1">
              <a:spLocks noChangeArrowheads="1"/>
            </p:cNvSpPr>
            <p:nvPr/>
          </p:nvSpPr>
          <p:spPr bwMode="auto">
            <a:xfrm>
              <a:off x="4080" y="3168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30</a:t>
              </a:r>
            </a:p>
          </p:txBody>
        </p:sp>
        <p:sp>
          <p:nvSpPr>
            <p:cNvPr id="36881" name="Text Box 17"/>
            <p:cNvSpPr txBox="1">
              <a:spLocks noChangeArrowheads="1"/>
            </p:cNvSpPr>
            <p:nvPr/>
          </p:nvSpPr>
          <p:spPr bwMode="auto">
            <a:xfrm>
              <a:off x="856" y="316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FCFS Scheduling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tabLst>
                <a:tab pos="3651250" algn="ctr"/>
              </a:tabLst>
            </a:pPr>
            <a:r>
              <a:rPr lang="en-US"/>
              <a:t>Suppose that the processes arrive in the order</a:t>
            </a:r>
          </a:p>
          <a:p>
            <a:pPr>
              <a:buFontTx/>
              <a:buNone/>
              <a:tabLst>
                <a:tab pos="365125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 , 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 .</a:t>
            </a:r>
          </a:p>
          <a:p>
            <a:pPr>
              <a:tabLst>
                <a:tab pos="3651250" algn="ctr"/>
              </a:tabLst>
            </a:pPr>
            <a:r>
              <a:rPr lang="en-US"/>
              <a:t>The Gantt chart for the schedule is:</a:t>
            </a:r>
            <a:br>
              <a:rPr lang="en-US"/>
            </a:br>
            <a:endParaRPr lang="en-US"/>
          </a:p>
          <a:p>
            <a:pPr>
              <a:tabLst>
                <a:tab pos="3651250" algn="ctr"/>
              </a:tabLst>
            </a:pPr>
            <a:endParaRPr lang="en-US"/>
          </a:p>
          <a:p>
            <a:pPr>
              <a:tabLst>
                <a:tab pos="3651250" algn="ctr"/>
              </a:tabLst>
            </a:pPr>
            <a:endParaRPr lang="en-US"/>
          </a:p>
          <a:p>
            <a:pPr>
              <a:tabLst>
                <a:tab pos="3651250" algn="ctr"/>
              </a:tabLst>
            </a:pPr>
            <a:endParaRPr lang="en-US"/>
          </a:p>
          <a:p>
            <a:pPr>
              <a:tabLst>
                <a:tab pos="3651250" algn="ctr"/>
              </a:tabLst>
            </a:pPr>
            <a:r>
              <a:rPr lang="en-US"/>
              <a:t>Waiting time for </a:t>
            </a:r>
            <a:r>
              <a:rPr lang="en-US" i="1"/>
              <a:t>P</a:t>
            </a:r>
            <a:r>
              <a:rPr lang="en-US" i="1" baseline="-25000"/>
              <a:t>1 </a:t>
            </a:r>
            <a:r>
              <a:rPr lang="en-US" i="1"/>
              <a:t>=</a:t>
            </a:r>
            <a:r>
              <a:rPr lang="en-US"/>
              <a:t> 6</a:t>
            </a:r>
            <a:r>
              <a:rPr lang="en-US" i="1"/>
              <a:t>;</a:t>
            </a:r>
            <a:r>
              <a:rPr lang="en-US" i="1" baseline="-25000"/>
              <a:t>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/>
              <a:t> = 0</a:t>
            </a:r>
            <a:r>
              <a:rPr lang="en-US" i="1" baseline="-25000"/>
              <a:t>; </a:t>
            </a:r>
            <a:r>
              <a:rPr lang="en-US" i="1"/>
              <a:t>P</a:t>
            </a:r>
            <a:r>
              <a:rPr lang="en-US" i="1" baseline="-25000"/>
              <a:t>3 </a:t>
            </a:r>
            <a:r>
              <a:rPr lang="en-US" i="1"/>
              <a:t>= </a:t>
            </a:r>
            <a:r>
              <a:rPr lang="en-US"/>
              <a:t>3</a:t>
            </a:r>
            <a:endParaRPr lang="en-US" i="1"/>
          </a:p>
          <a:p>
            <a:pPr>
              <a:tabLst>
                <a:tab pos="3651250" algn="ctr"/>
              </a:tabLst>
            </a:pPr>
            <a:r>
              <a:rPr lang="en-US"/>
              <a:t>Average waiting time:   (6 + 0 + 3)/3 = 3</a:t>
            </a:r>
          </a:p>
          <a:p>
            <a:pPr>
              <a:tabLst>
                <a:tab pos="3651250" algn="ctr"/>
              </a:tabLst>
            </a:pPr>
            <a:r>
              <a:rPr lang="en-US"/>
              <a:t>Much better than previous case.</a:t>
            </a:r>
          </a:p>
          <a:p>
            <a:pPr>
              <a:tabLst>
                <a:tab pos="3651250" algn="ctr"/>
              </a:tabLst>
            </a:pPr>
            <a:r>
              <a:rPr lang="en-US" i="1"/>
              <a:t>Convoy effect</a:t>
            </a:r>
            <a:r>
              <a:rPr lang="en-US"/>
              <a:t> short process behind long process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 flipH="1">
            <a:off x="1143000" y="3124200"/>
            <a:ext cx="5257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 flipH="1">
            <a:off x="4684713" y="3200400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 flipH="1">
            <a:off x="2322513" y="3200400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3</a:t>
            </a:r>
            <a:endParaRPr lang="en-US"/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 flipH="1">
            <a:off x="1408113" y="3200400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 flipH="1">
            <a:off x="64008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 flipH="1">
            <a:off x="11430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 flipH="1">
            <a:off x="3048000" y="3124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 flipH="1">
            <a:off x="2133600" y="3124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 flipH="1">
            <a:off x="30480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21336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7904" name="Text Box 16"/>
          <p:cNvSpPr txBox="1">
            <a:spLocks noChangeArrowheads="1"/>
          </p:cNvSpPr>
          <p:nvPr/>
        </p:nvSpPr>
        <p:spPr bwMode="auto">
          <a:xfrm flipH="1">
            <a:off x="2901950" y="3886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6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 flipH="1">
            <a:off x="1987550" y="3886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 flipH="1">
            <a:off x="6127750" y="38862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37907" name="Text Box 19"/>
          <p:cNvSpPr txBox="1">
            <a:spLocks noChangeArrowheads="1"/>
          </p:cNvSpPr>
          <p:nvPr/>
        </p:nvSpPr>
        <p:spPr bwMode="auto">
          <a:xfrm flipH="1">
            <a:off x="990600" y="3886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Shortest-Job-First (</a:t>
            </a:r>
            <a:r>
              <a:rPr lang="en-US" dirty="0" smtClean="0"/>
              <a:t>SJF) </a:t>
            </a:r>
            <a:r>
              <a:rPr lang="en-US" dirty="0"/>
              <a:t>Scheduling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Associate with each process the length of its next CPU burst.  Use these lengths to schedule the process with the shortest time.</a:t>
            </a:r>
          </a:p>
          <a:p>
            <a:r>
              <a:rPr lang="en-US"/>
              <a:t>Two schemes: </a:t>
            </a:r>
          </a:p>
          <a:p>
            <a:pPr lvl="1"/>
            <a:r>
              <a:rPr lang="en-US"/>
              <a:t>nonpreemptive – once CPU given to the process it cannot be preempted until completes its CPU burst.</a:t>
            </a:r>
          </a:p>
          <a:p>
            <a:pPr lvl="1"/>
            <a:r>
              <a:rPr lang="en-US"/>
              <a:t>Preemptive – if a new process arrives with CPU burst length less than remaining time of current executing process, preempt.  This scheme is know as the </a:t>
            </a:r>
            <a:br>
              <a:rPr lang="en-US"/>
            </a:br>
            <a:r>
              <a:rPr lang="en-US"/>
              <a:t>Shortest-Remaining-Time-First (SRTF).</a:t>
            </a:r>
          </a:p>
          <a:p>
            <a:r>
              <a:rPr lang="en-US"/>
              <a:t>SJF is optimal – gives minimum average waiting time for a given set of processes.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282700"/>
            <a:ext cx="7351712" cy="4483100"/>
          </a:xfrm>
        </p:spPr>
        <p:txBody>
          <a:bodyPr/>
          <a:lstStyle/>
          <a:p>
            <a:pPr>
              <a:lnSpc>
                <a:spcPct val="93000"/>
              </a:lnSpc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r>
              <a:rPr lang="en-GB" u="sng" dirty="0" smtClean="0"/>
              <a:t>Process	</a:t>
            </a:r>
            <a:r>
              <a:rPr lang="en-GB" u="sng" dirty="0" smtClean="0"/>
              <a:t>     Arrival </a:t>
            </a:r>
            <a:r>
              <a:rPr lang="en-GB" u="sng" dirty="0" smtClean="0"/>
              <a:t>Time</a:t>
            </a:r>
            <a:r>
              <a:rPr lang="en-GB" dirty="0" smtClean="0"/>
              <a:t>	</a:t>
            </a:r>
            <a:r>
              <a:rPr lang="en-GB" dirty="0" smtClean="0"/>
              <a:t>       </a:t>
            </a:r>
            <a:r>
              <a:rPr lang="en-GB" u="sng" dirty="0" smtClean="0"/>
              <a:t>Burst </a:t>
            </a:r>
            <a:r>
              <a:rPr lang="en-GB" u="sng" dirty="0" smtClean="0"/>
              <a:t>Time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r>
              <a:rPr lang="en-GB" i="1" dirty="0" smtClean="0"/>
              <a:t>P</a:t>
            </a:r>
            <a:r>
              <a:rPr lang="en-GB" i="1" baseline="-25000" dirty="0" smtClean="0"/>
              <a:t>1</a:t>
            </a:r>
            <a:r>
              <a:rPr lang="en-GB" dirty="0" smtClean="0"/>
              <a:t>	0.0	6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2	</a:t>
            </a:r>
            <a:r>
              <a:rPr lang="en-GB" dirty="0" smtClean="0"/>
              <a:t>0.0	4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3</a:t>
            </a:r>
            <a:r>
              <a:rPr lang="en-GB" dirty="0" smtClean="0"/>
              <a:t>	0.0	1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4</a:t>
            </a:r>
            <a:r>
              <a:rPr lang="en-GB" dirty="0" smtClean="0"/>
              <a:t>	0.0	5</a:t>
            </a:r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SJF (non-</a:t>
            </a:r>
            <a:r>
              <a:rPr lang="en-GB" dirty="0" err="1" smtClean="0"/>
              <a:t>preemptive</a:t>
            </a:r>
            <a:r>
              <a:rPr lang="en-GB" dirty="0" smtClean="0"/>
              <a:t>, simultaneous arrival)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waiting time = (0 + 1 + 5 + 10)/4  = 4</a:t>
            </a:r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turn-around time = (1 + 5 + 10 + 16)/4  = 8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8077200" cy="609600"/>
          </a:xfrm>
        </p:spPr>
        <p:txBody>
          <a:bodyPr lIns="91440" tIns="45720" rIns="91440" bIns="45720" anchor="ctr"/>
          <a:lstStyle/>
          <a:p>
            <a:pPr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2000" smtClean="0">
                <a:ea typeface="+mj-ea"/>
              </a:rPr>
              <a:t>Example #1: Non-Preemptive SJF</a:t>
            </a:r>
            <a:br>
              <a:rPr lang="en-GB" sz="2000" smtClean="0">
                <a:ea typeface="+mj-ea"/>
              </a:rPr>
            </a:br>
            <a:r>
              <a:rPr lang="en-GB" sz="2000" smtClean="0">
                <a:ea typeface="+mj-ea"/>
              </a:rPr>
              <a:t>(simultaneous arrival)</a:t>
            </a:r>
          </a:p>
        </p:txBody>
      </p:sp>
      <p:sp>
        <p:nvSpPr>
          <p:cNvPr id="21508" name="AutoShape 4"/>
          <p:cNvSpPr>
            <a:spLocks noChangeArrowheads="1"/>
          </p:cNvSpPr>
          <p:nvPr/>
        </p:nvSpPr>
        <p:spPr bwMode="auto">
          <a:xfrm>
            <a:off x="2195513" y="3690938"/>
            <a:ext cx="5257800" cy="609600"/>
          </a:xfrm>
          <a:prstGeom prst="roundRect">
            <a:avLst>
              <a:gd name="adj" fmla="val 259"/>
            </a:avLst>
          </a:prstGeom>
          <a:solidFill>
            <a:srgbClr val="FFFF99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Lucida Sans Unicode" pitchFamily="34" charset="0"/>
            </a:endParaRPr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5980113" y="3763963"/>
            <a:ext cx="420687" cy="350837"/>
          </a:xfrm>
          <a:prstGeom prst="roundRect">
            <a:avLst>
              <a:gd name="adj" fmla="val 43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P</a:t>
            </a:r>
            <a:r>
              <a:rPr lang="en-GB" sz="1800" baseline="-250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1</a:t>
            </a:r>
          </a:p>
        </p:txBody>
      </p:sp>
      <p:sp>
        <p:nvSpPr>
          <p:cNvPr id="21510" name="AutoShape 6"/>
          <p:cNvSpPr>
            <a:spLocks noChangeArrowheads="1"/>
          </p:cNvSpPr>
          <p:nvPr/>
        </p:nvSpPr>
        <p:spPr bwMode="auto">
          <a:xfrm>
            <a:off x="2170113" y="3763963"/>
            <a:ext cx="420687" cy="350837"/>
          </a:xfrm>
          <a:prstGeom prst="roundRect">
            <a:avLst>
              <a:gd name="adj" fmla="val 43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P</a:t>
            </a:r>
            <a:r>
              <a:rPr lang="en-GB" sz="1800" baseline="-250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3</a:t>
            </a:r>
          </a:p>
        </p:txBody>
      </p:sp>
      <p:sp>
        <p:nvSpPr>
          <p:cNvPr id="21511" name="AutoShape 7"/>
          <p:cNvSpPr>
            <a:spLocks noChangeArrowheads="1"/>
          </p:cNvSpPr>
          <p:nvPr/>
        </p:nvSpPr>
        <p:spPr bwMode="auto">
          <a:xfrm>
            <a:off x="3008313" y="3763963"/>
            <a:ext cx="420687" cy="350837"/>
          </a:xfrm>
          <a:prstGeom prst="roundRect">
            <a:avLst>
              <a:gd name="adj" fmla="val 43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P</a:t>
            </a:r>
            <a:r>
              <a:rPr lang="en-GB" sz="1800" baseline="-250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2</a:t>
            </a: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7453313" y="4300538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2195513" y="4300538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3816350" y="3690938"/>
            <a:ext cx="1588" cy="609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2514600" y="3690938"/>
            <a:ext cx="1588" cy="609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3816350" y="4300538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2819400" y="4187825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AutoShape 14"/>
          <p:cNvSpPr>
            <a:spLocks noChangeArrowheads="1"/>
          </p:cNvSpPr>
          <p:nvPr/>
        </p:nvSpPr>
        <p:spPr bwMode="auto">
          <a:xfrm>
            <a:off x="3657600" y="4525963"/>
            <a:ext cx="311150" cy="350837"/>
          </a:xfrm>
          <a:prstGeom prst="roundRect">
            <a:avLst>
              <a:gd name="adj" fmla="val 50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5</a:t>
            </a:r>
          </a:p>
        </p:txBody>
      </p:sp>
      <p:sp>
        <p:nvSpPr>
          <p:cNvPr id="21519" name="AutoShape 15"/>
          <p:cNvSpPr>
            <a:spLocks noChangeArrowheads="1"/>
          </p:cNvSpPr>
          <p:nvPr/>
        </p:nvSpPr>
        <p:spPr bwMode="auto">
          <a:xfrm>
            <a:off x="2355850" y="4525963"/>
            <a:ext cx="311150" cy="350837"/>
          </a:xfrm>
          <a:prstGeom prst="roundRect">
            <a:avLst>
              <a:gd name="adj" fmla="val 50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1</a:t>
            </a:r>
          </a:p>
        </p:txBody>
      </p:sp>
      <p:sp>
        <p:nvSpPr>
          <p:cNvPr id="21520" name="AutoShape 16"/>
          <p:cNvSpPr>
            <a:spLocks noChangeArrowheads="1"/>
          </p:cNvSpPr>
          <p:nvPr/>
        </p:nvSpPr>
        <p:spPr bwMode="auto">
          <a:xfrm>
            <a:off x="7180263" y="4525963"/>
            <a:ext cx="438150" cy="350837"/>
          </a:xfrm>
          <a:prstGeom prst="roundRect">
            <a:avLst>
              <a:gd name="adj" fmla="val 43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16</a:t>
            </a:r>
          </a:p>
        </p:txBody>
      </p:sp>
      <p:sp>
        <p:nvSpPr>
          <p:cNvPr id="21521" name="AutoShape 17"/>
          <p:cNvSpPr>
            <a:spLocks noChangeArrowheads="1"/>
          </p:cNvSpPr>
          <p:nvPr/>
        </p:nvSpPr>
        <p:spPr bwMode="auto">
          <a:xfrm>
            <a:off x="2043113" y="4525963"/>
            <a:ext cx="311150" cy="350837"/>
          </a:xfrm>
          <a:prstGeom prst="roundRect">
            <a:avLst>
              <a:gd name="adj" fmla="val 50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0</a:t>
            </a:r>
          </a:p>
        </p:txBody>
      </p:sp>
      <p:sp>
        <p:nvSpPr>
          <p:cNvPr id="21522" name="AutoShape 18"/>
          <p:cNvSpPr>
            <a:spLocks noChangeArrowheads="1"/>
          </p:cNvSpPr>
          <p:nvPr/>
        </p:nvSpPr>
        <p:spPr bwMode="auto">
          <a:xfrm>
            <a:off x="4303713" y="3763963"/>
            <a:ext cx="420687" cy="350837"/>
          </a:xfrm>
          <a:prstGeom prst="roundRect">
            <a:avLst>
              <a:gd name="adj" fmla="val 43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P</a:t>
            </a:r>
            <a:r>
              <a:rPr lang="en-GB" sz="1800" baseline="-250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4</a:t>
            </a:r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5341938" y="3690938"/>
            <a:ext cx="1587" cy="609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4" name="Line 21"/>
          <p:cNvSpPr>
            <a:spLocks noChangeShapeType="1"/>
          </p:cNvSpPr>
          <p:nvPr/>
        </p:nvSpPr>
        <p:spPr bwMode="auto">
          <a:xfrm>
            <a:off x="3124200" y="4187825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5" name="Line 22"/>
          <p:cNvSpPr>
            <a:spLocks noChangeShapeType="1"/>
          </p:cNvSpPr>
          <p:nvPr/>
        </p:nvSpPr>
        <p:spPr bwMode="auto">
          <a:xfrm>
            <a:off x="3505200" y="4187825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Line 24"/>
          <p:cNvSpPr>
            <a:spLocks noChangeShapeType="1"/>
          </p:cNvSpPr>
          <p:nvPr/>
        </p:nvSpPr>
        <p:spPr bwMode="auto">
          <a:xfrm>
            <a:off x="4114800" y="4187825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25"/>
          <p:cNvSpPr>
            <a:spLocks noChangeShapeType="1"/>
          </p:cNvSpPr>
          <p:nvPr/>
        </p:nvSpPr>
        <p:spPr bwMode="auto">
          <a:xfrm>
            <a:off x="5332413" y="4300538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AutoShape 26"/>
          <p:cNvSpPr>
            <a:spLocks noChangeArrowheads="1"/>
          </p:cNvSpPr>
          <p:nvPr/>
        </p:nvSpPr>
        <p:spPr bwMode="auto">
          <a:xfrm>
            <a:off x="5111750" y="4525963"/>
            <a:ext cx="438150" cy="350837"/>
          </a:xfrm>
          <a:prstGeom prst="roundRect">
            <a:avLst>
              <a:gd name="adj" fmla="val 50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1125"/>
              </a:spcBef>
              <a:buClr>
                <a:srgbClr val="000000"/>
              </a:buClr>
              <a:buSzPct val="100000"/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rPr>
              <a:t>10</a:t>
            </a:r>
          </a:p>
        </p:txBody>
      </p:sp>
      <p:sp>
        <p:nvSpPr>
          <p:cNvPr id="21529" name="Line 27"/>
          <p:cNvSpPr>
            <a:spLocks noChangeShapeType="1"/>
          </p:cNvSpPr>
          <p:nvPr/>
        </p:nvSpPr>
        <p:spPr bwMode="auto">
          <a:xfrm>
            <a:off x="5029200" y="4187825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28"/>
          <p:cNvSpPr>
            <a:spLocks noChangeShapeType="1"/>
          </p:cNvSpPr>
          <p:nvPr/>
        </p:nvSpPr>
        <p:spPr bwMode="auto">
          <a:xfrm>
            <a:off x="5624513" y="4187825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Line 29"/>
          <p:cNvSpPr>
            <a:spLocks noChangeShapeType="1"/>
          </p:cNvSpPr>
          <p:nvPr/>
        </p:nvSpPr>
        <p:spPr bwMode="auto">
          <a:xfrm>
            <a:off x="5929313" y="4187825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2" name="Line 30"/>
          <p:cNvSpPr>
            <a:spLocks noChangeShapeType="1"/>
          </p:cNvSpPr>
          <p:nvPr/>
        </p:nvSpPr>
        <p:spPr bwMode="auto">
          <a:xfrm>
            <a:off x="2514600" y="4300538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3" name="Line 32"/>
          <p:cNvSpPr>
            <a:spLocks noChangeShapeType="1"/>
          </p:cNvSpPr>
          <p:nvPr/>
        </p:nvSpPr>
        <p:spPr bwMode="auto">
          <a:xfrm>
            <a:off x="6538913" y="4187825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4" name="Line 33"/>
          <p:cNvSpPr>
            <a:spLocks noChangeShapeType="1"/>
          </p:cNvSpPr>
          <p:nvPr/>
        </p:nvSpPr>
        <p:spPr bwMode="auto">
          <a:xfrm>
            <a:off x="6843713" y="4187825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5" name="Line 34"/>
          <p:cNvSpPr>
            <a:spLocks noChangeShapeType="1"/>
          </p:cNvSpPr>
          <p:nvPr/>
        </p:nvSpPr>
        <p:spPr bwMode="auto">
          <a:xfrm>
            <a:off x="7148513" y="4187825"/>
            <a:ext cx="1587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6" name="Line 36"/>
          <p:cNvSpPr>
            <a:spLocks noChangeShapeType="1"/>
          </p:cNvSpPr>
          <p:nvPr/>
        </p:nvSpPr>
        <p:spPr bwMode="auto">
          <a:xfrm>
            <a:off x="4724400" y="4191000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7" name="Line 38"/>
          <p:cNvSpPr>
            <a:spLocks noChangeShapeType="1"/>
          </p:cNvSpPr>
          <p:nvPr/>
        </p:nvSpPr>
        <p:spPr bwMode="auto">
          <a:xfrm>
            <a:off x="6248400" y="4191000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8" name="Line 39"/>
          <p:cNvSpPr>
            <a:spLocks noChangeShapeType="1"/>
          </p:cNvSpPr>
          <p:nvPr/>
        </p:nvSpPr>
        <p:spPr bwMode="auto">
          <a:xfrm>
            <a:off x="4419600" y="4191000"/>
            <a:ext cx="1588" cy="228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8572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066800"/>
            <a:ext cx="7351712" cy="5118100"/>
          </a:xfrm>
        </p:spPr>
        <p:txBody>
          <a:bodyPr/>
          <a:lstStyle/>
          <a:p>
            <a:pPr>
              <a:lnSpc>
                <a:spcPct val="93000"/>
              </a:lnSpc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r>
              <a:rPr lang="en-GB" u="sng" dirty="0" smtClean="0"/>
              <a:t>Process	</a:t>
            </a:r>
            <a:r>
              <a:rPr lang="en-GB" u="sng" dirty="0" smtClean="0"/>
              <a:t>    Arrival </a:t>
            </a:r>
            <a:r>
              <a:rPr lang="en-GB" u="sng" dirty="0" smtClean="0"/>
              <a:t>Time</a:t>
            </a:r>
            <a:r>
              <a:rPr lang="en-GB" dirty="0" smtClean="0"/>
              <a:t>	</a:t>
            </a:r>
            <a:r>
              <a:rPr lang="en-GB" dirty="0" smtClean="0"/>
              <a:t>   </a:t>
            </a:r>
            <a:r>
              <a:rPr lang="en-GB" u="sng" dirty="0" smtClean="0"/>
              <a:t>Burst </a:t>
            </a:r>
            <a:r>
              <a:rPr lang="en-GB" u="sng" dirty="0" smtClean="0"/>
              <a:t>Time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r>
              <a:rPr lang="en-GB" i="1" dirty="0" smtClean="0"/>
              <a:t>P</a:t>
            </a:r>
            <a:r>
              <a:rPr lang="en-GB" i="1" baseline="-25000" dirty="0" smtClean="0"/>
              <a:t>1</a:t>
            </a:r>
            <a:r>
              <a:rPr lang="en-GB" dirty="0" smtClean="0"/>
              <a:t>	0.0	7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2	</a:t>
            </a:r>
            <a:r>
              <a:rPr lang="en-GB" dirty="0" smtClean="0"/>
              <a:t>2.0	4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3</a:t>
            </a:r>
            <a:r>
              <a:rPr lang="en-GB" dirty="0" smtClean="0"/>
              <a:t>	4.0	1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4</a:t>
            </a:r>
            <a:r>
              <a:rPr lang="en-GB" dirty="0" smtClean="0"/>
              <a:t>	5.0	4</a:t>
            </a:r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SJF (non-</a:t>
            </a:r>
            <a:r>
              <a:rPr lang="en-GB" dirty="0" err="1" smtClean="0"/>
              <a:t>preemptive</a:t>
            </a:r>
            <a:r>
              <a:rPr lang="en-GB" dirty="0" smtClean="0"/>
              <a:t>, varied arrival times)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waiting time </a:t>
            </a:r>
            <a:br>
              <a:rPr lang="en-GB" dirty="0" smtClean="0"/>
            </a:br>
            <a:r>
              <a:rPr lang="en-GB" dirty="0" smtClean="0"/>
              <a:t> 	                           = ( (0 – 0) + (8 – 2) + (7 – 4) + (12 – 5) )/4  </a:t>
            </a:r>
            <a:br>
              <a:rPr lang="en-GB" dirty="0" smtClean="0"/>
            </a:br>
            <a:r>
              <a:rPr lang="en-GB" dirty="0" smtClean="0"/>
              <a:t> 	                           = (0 + 6 + 3 + 7)/4 = 4                            </a:t>
            </a:r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turn-around time: </a:t>
            </a:r>
            <a:br>
              <a:rPr lang="en-GB" dirty="0" smtClean="0"/>
            </a:br>
            <a:r>
              <a:rPr lang="en-GB" dirty="0" smtClean="0"/>
              <a:t>                            = ( (7 – 0) + (12 – 2) + (8 - 4) + (16 – 5))/4 </a:t>
            </a:r>
            <a:br>
              <a:rPr lang="en-GB" dirty="0" smtClean="0"/>
            </a:br>
            <a:r>
              <a:rPr lang="en-GB" dirty="0" smtClean="0"/>
              <a:t>	                            = ( 7 + 10 + 4 + 11)/4  = 8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8077200" cy="609600"/>
          </a:xfrm>
        </p:spPr>
        <p:txBody>
          <a:bodyPr lIns="91440" tIns="45720" rIns="91440" bIns="45720" anchor="ctr"/>
          <a:lstStyle/>
          <a:p>
            <a:pPr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mtClean="0">
                <a:ea typeface="+mj-ea"/>
              </a:rPr>
              <a:t>Example #2: Non-Preemptive SJF</a:t>
            </a:r>
            <a:br>
              <a:rPr lang="en-GB" smtClean="0">
                <a:ea typeface="+mj-ea"/>
              </a:rPr>
            </a:br>
            <a:r>
              <a:rPr lang="en-GB" smtClean="0">
                <a:ea typeface="+mj-ea"/>
              </a:rPr>
              <a:t>(varied arrival times)</a:t>
            </a:r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2043113" y="3475040"/>
            <a:ext cx="5575299" cy="1128713"/>
            <a:chOff x="1287" y="2325"/>
            <a:chExt cx="3512" cy="711"/>
          </a:xfrm>
        </p:grpSpPr>
        <p:sp>
          <p:nvSpPr>
            <p:cNvPr id="22534" name="AutoShape 5"/>
            <p:cNvSpPr>
              <a:spLocks noChangeArrowheads="1"/>
            </p:cNvSpPr>
            <p:nvPr/>
          </p:nvSpPr>
          <p:spPr bwMode="auto">
            <a:xfrm>
              <a:off x="1383" y="2325"/>
              <a:ext cx="3312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Lucida Sans Unicode" pitchFamily="34" charset="0"/>
              </a:endParaRPr>
            </a:p>
          </p:txBody>
        </p:sp>
        <p:sp>
          <p:nvSpPr>
            <p:cNvPr id="22535" name="AutoShape 6"/>
            <p:cNvSpPr>
              <a:spLocks noChangeArrowheads="1"/>
            </p:cNvSpPr>
            <p:nvPr/>
          </p:nvSpPr>
          <p:spPr bwMode="auto">
            <a:xfrm>
              <a:off x="1815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</a:t>
              </a:r>
            </a:p>
          </p:txBody>
        </p:sp>
        <p:sp>
          <p:nvSpPr>
            <p:cNvPr id="22536" name="AutoShape 7"/>
            <p:cNvSpPr>
              <a:spLocks noChangeArrowheads="1"/>
            </p:cNvSpPr>
            <p:nvPr/>
          </p:nvSpPr>
          <p:spPr bwMode="auto">
            <a:xfrm>
              <a:off x="2823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3</a:t>
              </a:r>
            </a:p>
          </p:txBody>
        </p:sp>
        <p:sp>
          <p:nvSpPr>
            <p:cNvPr id="22537" name="AutoShape 8"/>
            <p:cNvSpPr>
              <a:spLocks noChangeArrowheads="1"/>
            </p:cNvSpPr>
            <p:nvPr/>
          </p:nvSpPr>
          <p:spPr bwMode="auto">
            <a:xfrm>
              <a:off x="3399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2</a:t>
              </a:r>
            </a:p>
          </p:txBody>
        </p:sp>
        <p:sp>
          <p:nvSpPr>
            <p:cNvPr id="22538" name="Line 9"/>
            <p:cNvSpPr>
              <a:spLocks noChangeShapeType="1"/>
            </p:cNvSpPr>
            <p:nvPr/>
          </p:nvSpPr>
          <p:spPr bwMode="auto">
            <a:xfrm>
              <a:off x="4695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Line 10"/>
            <p:cNvSpPr>
              <a:spLocks noChangeShapeType="1"/>
            </p:cNvSpPr>
            <p:nvPr/>
          </p:nvSpPr>
          <p:spPr bwMode="auto">
            <a:xfrm>
              <a:off x="1383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1"/>
            <p:cNvSpPr>
              <a:spLocks noChangeShapeType="1"/>
            </p:cNvSpPr>
            <p:nvPr/>
          </p:nvSpPr>
          <p:spPr bwMode="auto">
            <a:xfrm>
              <a:off x="3111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2"/>
            <p:cNvSpPr>
              <a:spLocks noChangeShapeType="1"/>
            </p:cNvSpPr>
            <p:nvPr/>
          </p:nvSpPr>
          <p:spPr bwMode="auto">
            <a:xfrm>
              <a:off x="2823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13"/>
            <p:cNvSpPr>
              <a:spLocks noChangeShapeType="1"/>
            </p:cNvSpPr>
            <p:nvPr/>
          </p:nvSpPr>
          <p:spPr bwMode="auto">
            <a:xfrm>
              <a:off x="2823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Line 14"/>
            <p:cNvSpPr>
              <a:spLocks noChangeShapeType="1"/>
            </p:cNvSpPr>
            <p:nvPr/>
          </p:nvSpPr>
          <p:spPr bwMode="auto">
            <a:xfrm>
              <a:off x="181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AutoShape 15"/>
            <p:cNvSpPr>
              <a:spLocks noChangeArrowheads="1"/>
            </p:cNvSpPr>
            <p:nvPr/>
          </p:nvSpPr>
          <p:spPr bwMode="auto">
            <a:xfrm>
              <a:off x="2727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7</a:t>
              </a:r>
            </a:p>
          </p:txBody>
        </p:sp>
        <p:sp>
          <p:nvSpPr>
            <p:cNvPr id="22545" name="AutoShape 16"/>
            <p:cNvSpPr>
              <a:spLocks noChangeArrowheads="1"/>
            </p:cNvSpPr>
            <p:nvPr/>
          </p:nvSpPr>
          <p:spPr bwMode="auto">
            <a:xfrm>
              <a:off x="1956" y="2810"/>
              <a:ext cx="115" cy="222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800" dirty="0">
                <a:solidFill>
                  <a:schemeClr val="tx1"/>
                </a:solidFill>
                <a:latin typeface="Helvetica" pitchFamily="32" charset="0"/>
                <a:ea typeface="Lucida Sans Unicode" pitchFamily="34" charset="0"/>
              </a:endParaRPr>
            </a:p>
          </p:txBody>
        </p:sp>
        <p:sp>
          <p:nvSpPr>
            <p:cNvPr id="22546" name="AutoShape 17"/>
            <p:cNvSpPr>
              <a:spLocks noChangeArrowheads="1"/>
            </p:cNvSpPr>
            <p:nvPr/>
          </p:nvSpPr>
          <p:spPr bwMode="auto">
            <a:xfrm>
              <a:off x="4523" y="2805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16</a:t>
              </a:r>
            </a:p>
          </p:txBody>
        </p:sp>
        <p:sp>
          <p:nvSpPr>
            <p:cNvPr id="22547" name="AutoShape 18"/>
            <p:cNvSpPr>
              <a:spLocks noChangeArrowheads="1"/>
            </p:cNvSpPr>
            <p:nvPr/>
          </p:nvSpPr>
          <p:spPr bwMode="auto">
            <a:xfrm>
              <a:off x="1287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0</a:t>
              </a:r>
            </a:p>
          </p:txBody>
        </p:sp>
        <p:sp>
          <p:nvSpPr>
            <p:cNvPr id="22548" name="AutoShape 19"/>
            <p:cNvSpPr>
              <a:spLocks noChangeArrowheads="1"/>
            </p:cNvSpPr>
            <p:nvPr/>
          </p:nvSpPr>
          <p:spPr bwMode="auto">
            <a:xfrm>
              <a:off x="4119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4</a:t>
              </a:r>
            </a:p>
          </p:txBody>
        </p:sp>
        <p:sp>
          <p:nvSpPr>
            <p:cNvPr id="22549" name="Line 20"/>
            <p:cNvSpPr>
              <a:spLocks noChangeShapeType="1"/>
            </p:cNvSpPr>
            <p:nvPr/>
          </p:nvSpPr>
          <p:spPr bwMode="auto">
            <a:xfrm>
              <a:off x="3879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Line 21"/>
            <p:cNvSpPr>
              <a:spLocks noChangeShapeType="1"/>
            </p:cNvSpPr>
            <p:nvPr/>
          </p:nvSpPr>
          <p:spPr bwMode="auto">
            <a:xfrm>
              <a:off x="157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22"/>
            <p:cNvSpPr>
              <a:spLocks noChangeShapeType="1"/>
            </p:cNvSpPr>
            <p:nvPr/>
          </p:nvSpPr>
          <p:spPr bwMode="auto">
            <a:xfrm>
              <a:off x="205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Line 23"/>
            <p:cNvSpPr>
              <a:spLocks noChangeShapeType="1"/>
            </p:cNvSpPr>
            <p:nvPr/>
          </p:nvSpPr>
          <p:spPr bwMode="auto">
            <a:xfrm>
              <a:off x="229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Line 24"/>
            <p:cNvSpPr>
              <a:spLocks noChangeShapeType="1"/>
            </p:cNvSpPr>
            <p:nvPr/>
          </p:nvSpPr>
          <p:spPr bwMode="auto">
            <a:xfrm>
              <a:off x="2487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Line 25"/>
            <p:cNvSpPr>
              <a:spLocks noChangeShapeType="1"/>
            </p:cNvSpPr>
            <p:nvPr/>
          </p:nvSpPr>
          <p:spPr bwMode="auto">
            <a:xfrm>
              <a:off x="2679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Line 26"/>
            <p:cNvSpPr>
              <a:spLocks noChangeShapeType="1"/>
            </p:cNvSpPr>
            <p:nvPr/>
          </p:nvSpPr>
          <p:spPr bwMode="auto">
            <a:xfrm>
              <a:off x="3111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AutoShape 27"/>
            <p:cNvSpPr>
              <a:spLocks noChangeArrowheads="1"/>
            </p:cNvSpPr>
            <p:nvPr/>
          </p:nvSpPr>
          <p:spPr bwMode="auto">
            <a:xfrm>
              <a:off x="3015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8</a:t>
              </a:r>
            </a:p>
          </p:txBody>
        </p:sp>
        <p:sp>
          <p:nvSpPr>
            <p:cNvPr id="22557" name="Line 28"/>
            <p:cNvSpPr>
              <a:spLocks noChangeShapeType="1"/>
            </p:cNvSpPr>
            <p:nvPr/>
          </p:nvSpPr>
          <p:spPr bwMode="auto">
            <a:xfrm>
              <a:off x="3351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Line 29"/>
            <p:cNvSpPr>
              <a:spLocks noChangeShapeType="1"/>
            </p:cNvSpPr>
            <p:nvPr/>
          </p:nvSpPr>
          <p:spPr bwMode="auto">
            <a:xfrm>
              <a:off x="3543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Line 30"/>
            <p:cNvSpPr>
              <a:spLocks noChangeShapeType="1"/>
            </p:cNvSpPr>
            <p:nvPr/>
          </p:nvSpPr>
          <p:spPr bwMode="auto">
            <a:xfrm>
              <a:off x="373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Line 31"/>
            <p:cNvSpPr>
              <a:spLocks noChangeShapeType="1"/>
            </p:cNvSpPr>
            <p:nvPr/>
          </p:nvSpPr>
          <p:spPr bwMode="auto">
            <a:xfrm>
              <a:off x="3879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AutoShape 32"/>
            <p:cNvSpPr>
              <a:spLocks noChangeArrowheads="1"/>
            </p:cNvSpPr>
            <p:nvPr/>
          </p:nvSpPr>
          <p:spPr bwMode="auto">
            <a:xfrm>
              <a:off x="3735" y="2805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12</a:t>
              </a:r>
            </a:p>
          </p:txBody>
        </p:sp>
        <p:sp>
          <p:nvSpPr>
            <p:cNvPr id="22562" name="Line 33"/>
            <p:cNvSpPr>
              <a:spLocks noChangeShapeType="1"/>
            </p:cNvSpPr>
            <p:nvPr/>
          </p:nvSpPr>
          <p:spPr bwMode="auto">
            <a:xfrm>
              <a:off x="4119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Line 34"/>
            <p:cNvSpPr>
              <a:spLocks noChangeShapeType="1"/>
            </p:cNvSpPr>
            <p:nvPr/>
          </p:nvSpPr>
          <p:spPr bwMode="auto">
            <a:xfrm>
              <a:off x="4311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Line 35"/>
            <p:cNvSpPr>
              <a:spLocks noChangeShapeType="1"/>
            </p:cNvSpPr>
            <p:nvPr/>
          </p:nvSpPr>
          <p:spPr bwMode="auto">
            <a:xfrm>
              <a:off x="4503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3" name="TextBox 35"/>
          <p:cNvSpPr txBox="1">
            <a:spLocks noChangeArrowheads="1"/>
          </p:cNvSpPr>
          <p:nvPr/>
        </p:nvSpPr>
        <p:spPr bwMode="auto">
          <a:xfrm>
            <a:off x="5097463" y="1336985"/>
            <a:ext cx="38892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Waiting time : sum of time that a process has spent 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waiting </a:t>
            </a:r>
            <a:r>
              <a:rPr lang="en-US" sz="1400" dirty="0">
                <a:solidFill>
                  <a:schemeClr val="tx1"/>
                </a:solidFill>
              </a:rPr>
              <a:t>in the ready queue</a:t>
            </a:r>
          </a:p>
        </p:txBody>
      </p:sp>
    </p:spTree>
    <p:extLst>
      <p:ext uri="{BB962C8B-B14F-4D97-AF65-F5344CB8AC3E}">
        <p14:creationId xmlns:p14="http://schemas.microsoft.com/office/powerpoint/2010/main" val="424076569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8077200" cy="609600"/>
          </a:xfrm>
        </p:spPr>
        <p:txBody>
          <a:bodyPr/>
          <a:lstStyle/>
          <a:p>
            <a:pPr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dirty="0" smtClean="0">
                <a:ea typeface="+mj-ea"/>
              </a:rPr>
              <a:t>Example #3: </a:t>
            </a:r>
            <a:r>
              <a:rPr lang="en-GB" dirty="0" err="1" smtClean="0">
                <a:ea typeface="+mj-ea"/>
              </a:rPr>
              <a:t>Preemptive</a:t>
            </a:r>
            <a:r>
              <a:rPr lang="en-GB" dirty="0" smtClean="0">
                <a:ea typeface="+mj-ea"/>
              </a:rPr>
              <a:t> SJF</a:t>
            </a:r>
            <a:br>
              <a:rPr lang="en-GB" dirty="0" smtClean="0">
                <a:ea typeface="+mj-ea"/>
              </a:rPr>
            </a:br>
            <a:r>
              <a:rPr lang="en-GB" dirty="0" smtClean="0">
                <a:ea typeface="+mj-ea"/>
              </a:rPr>
              <a:t>(Shortest-remaining-time-first)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12225"/>
            <a:ext cx="8153400" cy="5270500"/>
          </a:xfrm>
        </p:spPr>
        <p:txBody>
          <a:bodyPr/>
          <a:lstStyle/>
          <a:p>
            <a:pPr>
              <a:lnSpc>
                <a:spcPct val="93000"/>
              </a:lnSpc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r>
              <a:rPr lang="en-GB" u="sng" dirty="0" smtClean="0"/>
              <a:t>Process	</a:t>
            </a:r>
            <a:r>
              <a:rPr lang="en-GB" u="sng" dirty="0" smtClean="0"/>
              <a:t>      Arrival </a:t>
            </a:r>
            <a:r>
              <a:rPr lang="en-GB" u="sng" dirty="0" smtClean="0"/>
              <a:t>Time</a:t>
            </a:r>
            <a:r>
              <a:rPr lang="en-GB" dirty="0" smtClean="0"/>
              <a:t>	</a:t>
            </a:r>
            <a:r>
              <a:rPr lang="en-GB" u="sng" dirty="0" smtClean="0"/>
              <a:t>Burst Time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r>
              <a:rPr lang="en-GB" i="1" dirty="0" smtClean="0"/>
              <a:t>P</a:t>
            </a:r>
            <a:r>
              <a:rPr lang="en-GB" i="1" baseline="-25000" dirty="0" smtClean="0"/>
              <a:t>1</a:t>
            </a:r>
            <a:r>
              <a:rPr lang="en-GB" dirty="0" smtClean="0"/>
              <a:t>	0.0	7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2	</a:t>
            </a:r>
            <a:r>
              <a:rPr lang="en-GB" dirty="0" smtClean="0"/>
              <a:t>2.0	4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3</a:t>
            </a:r>
            <a:r>
              <a:rPr lang="en-GB" dirty="0" smtClean="0"/>
              <a:t>	4.0	1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 </a:t>
            </a:r>
            <a:r>
              <a:rPr lang="en-GB" i="1" dirty="0" smtClean="0"/>
              <a:t>P</a:t>
            </a:r>
            <a:r>
              <a:rPr lang="en-GB" i="1" baseline="-25000" dirty="0" smtClean="0"/>
              <a:t>4</a:t>
            </a:r>
            <a:r>
              <a:rPr lang="en-GB" dirty="0" smtClean="0"/>
              <a:t>	5.0	4</a:t>
            </a:r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SJF (</a:t>
            </a:r>
            <a:r>
              <a:rPr lang="en-GB" dirty="0" err="1" smtClean="0"/>
              <a:t>preemptive</a:t>
            </a:r>
            <a:r>
              <a:rPr lang="en-GB" dirty="0" smtClean="0"/>
              <a:t>, varied arrival times)</a:t>
            </a:r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buFont typeface="Monotype Sorts" charset="2"/>
              <a:buNone/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/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waiting time </a:t>
            </a:r>
            <a:br>
              <a:rPr lang="en-GB" dirty="0" smtClean="0"/>
            </a:br>
            <a:r>
              <a:rPr lang="en-GB" dirty="0" smtClean="0"/>
              <a:t>		= ( [(0 – 0) + (11 - 2)] + [(2 – 2) + (5 – 4)] + (4 - 4) + (7 – 5) )/4 </a:t>
            </a:r>
            <a:br>
              <a:rPr lang="en-GB" dirty="0" smtClean="0"/>
            </a:br>
            <a:r>
              <a:rPr lang="en-GB" dirty="0" smtClean="0"/>
              <a:t>                    = 9 + 1 + 0 + 2)/4 </a:t>
            </a:r>
            <a:br>
              <a:rPr lang="en-GB" dirty="0" smtClean="0"/>
            </a:br>
            <a:r>
              <a:rPr lang="en-GB" dirty="0" smtClean="0"/>
              <a:t>                    = 3</a:t>
            </a:r>
          </a:p>
          <a:p>
            <a:pPr>
              <a:tabLst>
                <a:tab pos="341313" algn="l"/>
                <a:tab pos="1600200" algn="ctr"/>
                <a:tab pos="3251200" algn="ctr"/>
                <a:tab pos="5141913" algn="ctr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turn-around time 	= (16 + 7 + 5 + 11)/4 = 9.75</a:t>
            </a:r>
            <a:br>
              <a:rPr lang="en-GB" dirty="0" smtClean="0"/>
            </a:br>
            <a:endParaRPr lang="en-GB" dirty="0" smtClean="0"/>
          </a:p>
        </p:txBody>
      </p:sp>
      <p:grpSp>
        <p:nvGrpSpPr>
          <p:cNvPr id="23556" name="Group 3"/>
          <p:cNvGrpSpPr>
            <a:grpSpLocks/>
          </p:cNvGrpSpPr>
          <p:nvPr/>
        </p:nvGrpSpPr>
        <p:grpSpPr bwMode="auto">
          <a:xfrm>
            <a:off x="1371600" y="3718000"/>
            <a:ext cx="5924550" cy="1204913"/>
            <a:chOff x="864" y="2364"/>
            <a:chExt cx="3732" cy="759"/>
          </a:xfrm>
        </p:grpSpPr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960" y="2373"/>
              <a:ext cx="3504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Lucida Sans Unicode" pitchFamily="34" charset="0"/>
              </a:endParaRPr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>
              <a:off x="1008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</a:t>
              </a:r>
            </a:p>
          </p:txBody>
        </p:sp>
        <p:sp>
          <p:nvSpPr>
            <p:cNvPr id="23560" name="AutoShape 6"/>
            <p:cNvSpPr>
              <a:spLocks noChangeArrowheads="1"/>
            </p:cNvSpPr>
            <p:nvPr/>
          </p:nvSpPr>
          <p:spPr bwMode="auto">
            <a:xfrm>
              <a:off x="1824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3</a:t>
              </a:r>
            </a:p>
          </p:txBody>
        </p:sp>
        <p:sp>
          <p:nvSpPr>
            <p:cNvPr id="23561" name="AutoShape 7"/>
            <p:cNvSpPr>
              <a:spLocks noChangeArrowheads="1"/>
            </p:cNvSpPr>
            <p:nvPr/>
          </p:nvSpPr>
          <p:spPr bwMode="auto">
            <a:xfrm>
              <a:off x="1488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2</a:t>
              </a:r>
            </a:p>
          </p:txBody>
        </p:sp>
        <p:sp>
          <p:nvSpPr>
            <p:cNvPr id="23562" name="Line 8"/>
            <p:cNvSpPr>
              <a:spLocks noChangeShapeType="1"/>
            </p:cNvSpPr>
            <p:nvPr/>
          </p:nvSpPr>
          <p:spPr bwMode="auto">
            <a:xfrm>
              <a:off x="4452" y="274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Line 9"/>
            <p:cNvSpPr>
              <a:spLocks noChangeShapeType="1"/>
            </p:cNvSpPr>
            <p:nvPr/>
          </p:nvSpPr>
          <p:spPr bwMode="auto">
            <a:xfrm>
              <a:off x="960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Line 10"/>
            <p:cNvSpPr>
              <a:spLocks noChangeShapeType="1"/>
            </p:cNvSpPr>
            <p:nvPr/>
          </p:nvSpPr>
          <p:spPr bwMode="auto">
            <a:xfrm>
              <a:off x="2688" y="2373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Line 11"/>
            <p:cNvSpPr>
              <a:spLocks noChangeShapeType="1"/>
            </p:cNvSpPr>
            <p:nvPr/>
          </p:nvSpPr>
          <p:spPr bwMode="auto">
            <a:xfrm>
              <a:off x="1344" y="2364"/>
              <a:ext cx="1" cy="57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Line 12"/>
            <p:cNvSpPr>
              <a:spLocks noChangeShapeType="1"/>
            </p:cNvSpPr>
            <p:nvPr/>
          </p:nvSpPr>
          <p:spPr bwMode="auto">
            <a:xfrm>
              <a:off x="2400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AutoShape 13"/>
            <p:cNvSpPr>
              <a:spLocks noChangeArrowheads="1"/>
            </p:cNvSpPr>
            <p:nvPr/>
          </p:nvSpPr>
          <p:spPr bwMode="auto">
            <a:xfrm>
              <a:off x="1728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4</a:t>
              </a:r>
            </a:p>
          </p:txBody>
        </p:sp>
        <p:sp>
          <p:nvSpPr>
            <p:cNvPr id="23568" name="AutoShape 14"/>
            <p:cNvSpPr>
              <a:spLocks noChangeArrowheads="1"/>
            </p:cNvSpPr>
            <p:nvPr/>
          </p:nvSpPr>
          <p:spPr bwMode="auto">
            <a:xfrm>
              <a:off x="1248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2</a:t>
              </a:r>
            </a:p>
          </p:txBody>
        </p:sp>
        <p:sp>
          <p:nvSpPr>
            <p:cNvPr id="23569" name="AutoShape 15"/>
            <p:cNvSpPr>
              <a:spLocks noChangeArrowheads="1"/>
            </p:cNvSpPr>
            <p:nvPr/>
          </p:nvSpPr>
          <p:spPr bwMode="auto">
            <a:xfrm>
              <a:off x="3312" y="2880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11</a:t>
              </a:r>
            </a:p>
          </p:txBody>
        </p:sp>
        <p:sp>
          <p:nvSpPr>
            <p:cNvPr id="23570" name="AutoShape 16"/>
            <p:cNvSpPr>
              <a:spLocks noChangeArrowheads="1"/>
            </p:cNvSpPr>
            <p:nvPr/>
          </p:nvSpPr>
          <p:spPr bwMode="auto">
            <a:xfrm>
              <a:off x="864" y="2880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0</a:t>
              </a:r>
            </a:p>
          </p:txBody>
        </p:sp>
        <p:sp>
          <p:nvSpPr>
            <p:cNvPr id="23571" name="AutoShape 17"/>
            <p:cNvSpPr>
              <a:spLocks noChangeArrowheads="1"/>
            </p:cNvSpPr>
            <p:nvPr/>
          </p:nvSpPr>
          <p:spPr bwMode="auto">
            <a:xfrm>
              <a:off x="2976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4</a:t>
              </a:r>
            </a:p>
          </p:txBody>
        </p:sp>
        <p:sp>
          <p:nvSpPr>
            <p:cNvPr id="23572" name="Line 18"/>
            <p:cNvSpPr>
              <a:spLocks noChangeShapeType="1"/>
            </p:cNvSpPr>
            <p:nvPr/>
          </p:nvSpPr>
          <p:spPr bwMode="auto">
            <a:xfrm>
              <a:off x="3456" y="2373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Line 19"/>
            <p:cNvSpPr>
              <a:spLocks noChangeShapeType="1"/>
            </p:cNvSpPr>
            <p:nvPr/>
          </p:nvSpPr>
          <p:spPr bwMode="auto">
            <a:xfrm>
              <a:off x="115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Line 20"/>
            <p:cNvSpPr>
              <a:spLocks noChangeShapeType="1"/>
            </p:cNvSpPr>
            <p:nvPr/>
          </p:nvSpPr>
          <p:spPr bwMode="auto">
            <a:xfrm>
              <a:off x="163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Line 21"/>
            <p:cNvSpPr>
              <a:spLocks noChangeShapeType="1"/>
            </p:cNvSpPr>
            <p:nvPr/>
          </p:nvSpPr>
          <p:spPr bwMode="auto">
            <a:xfrm>
              <a:off x="2688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AutoShape 22"/>
            <p:cNvSpPr>
              <a:spLocks noChangeArrowheads="1"/>
            </p:cNvSpPr>
            <p:nvPr/>
          </p:nvSpPr>
          <p:spPr bwMode="auto">
            <a:xfrm>
              <a:off x="2064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5</a:t>
              </a:r>
            </a:p>
          </p:txBody>
        </p:sp>
        <p:sp>
          <p:nvSpPr>
            <p:cNvPr id="23577" name="Line 23"/>
            <p:cNvSpPr>
              <a:spLocks noChangeShapeType="1"/>
            </p:cNvSpPr>
            <p:nvPr/>
          </p:nvSpPr>
          <p:spPr bwMode="auto">
            <a:xfrm>
              <a:off x="2928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Line 24"/>
            <p:cNvSpPr>
              <a:spLocks noChangeShapeType="1"/>
            </p:cNvSpPr>
            <p:nvPr/>
          </p:nvSpPr>
          <p:spPr bwMode="auto">
            <a:xfrm>
              <a:off x="3120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Line 25"/>
            <p:cNvSpPr>
              <a:spLocks noChangeShapeType="1"/>
            </p:cNvSpPr>
            <p:nvPr/>
          </p:nvSpPr>
          <p:spPr bwMode="auto">
            <a:xfrm>
              <a:off x="331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Line 26"/>
            <p:cNvSpPr>
              <a:spLocks noChangeShapeType="1"/>
            </p:cNvSpPr>
            <p:nvPr/>
          </p:nvSpPr>
          <p:spPr bwMode="auto">
            <a:xfrm>
              <a:off x="3456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AutoShape 27"/>
            <p:cNvSpPr>
              <a:spLocks noChangeArrowheads="1"/>
            </p:cNvSpPr>
            <p:nvPr/>
          </p:nvSpPr>
          <p:spPr bwMode="auto">
            <a:xfrm>
              <a:off x="2592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7</a:t>
              </a:r>
            </a:p>
          </p:txBody>
        </p:sp>
        <p:sp>
          <p:nvSpPr>
            <p:cNvPr id="23582" name="Line 28"/>
            <p:cNvSpPr>
              <a:spLocks noChangeShapeType="1"/>
            </p:cNvSpPr>
            <p:nvPr/>
          </p:nvSpPr>
          <p:spPr bwMode="auto">
            <a:xfrm>
              <a:off x="3696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Line 29"/>
            <p:cNvSpPr>
              <a:spLocks noChangeShapeType="1"/>
            </p:cNvSpPr>
            <p:nvPr/>
          </p:nvSpPr>
          <p:spPr bwMode="auto">
            <a:xfrm>
              <a:off x="3888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Line 30"/>
            <p:cNvSpPr>
              <a:spLocks noChangeShapeType="1"/>
            </p:cNvSpPr>
            <p:nvPr/>
          </p:nvSpPr>
          <p:spPr bwMode="auto">
            <a:xfrm>
              <a:off x="4080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31"/>
            <p:cNvSpPr>
              <a:spLocks noChangeShapeType="1"/>
            </p:cNvSpPr>
            <p:nvPr/>
          </p:nvSpPr>
          <p:spPr bwMode="auto">
            <a:xfrm>
              <a:off x="1824" y="2364"/>
              <a:ext cx="1" cy="57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32"/>
            <p:cNvSpPr>
              <a:spLocks noChangeShapeType="1"/>
            </p:cNvSpPr>
            <p:nvPr/>
          </p:nvSpPr>
          <p:spPr bwMode="auto">
            <a:xfrm>
              <a:off x="2160" y="2364"/>
              <a:ext cx="1" cy="57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AutoShape 33"/>
            <p:cNvSpPr>
              <a:spLocks noChangeArrowheads="1"/>
            </p:cNvSpPr>
            <p:nvPr/>
          </p:nvSpPr>
          <p:spPr bwMode="auto">
            <a:xfrm>
              <a:off x="2256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2</a:t>
              </a:r>
            </a:p>
          </p:txBody>
        </p:sp>
        <p:sp>
          <p:nvSpPr>
            <p:cNvPr id="23588" name="AutoShape 34"/>
            <p:cNvSpPr>
              <a:spLocks noChangeArrowheads="1"/>
            </p:cNvSpPr>
            <p:nvPr/>
          </p:nvSpPr>
          <p:spPr bwMode="auto">
            <a:xfrm>
              <a:off x="3840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</a:t>
              </a:r>
            </a:p>
          </p:txBody>
        </p:sp>
        <p:sp>
          <p:nvSpPr>
            <p:cNvPr id="23589" name="Line 35"/>
            <p:cNvSpPr>
              <a:spLocks noChangeShapeType="1"/>
            </p:cNvSpPr>
            <p:nvPr/>
          </p:nvSpPr>
          <p:spPr bwMode="auto">
            <a:xfrm>
              <a:off x="427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AutoShape 36"/>
            <p:cNvSpPr>
              <a:spLocks noChangeArrowheads="1"/>
            </p:cNvSpPr>
            <p:nvPr/>
          </p:nvSpPr>
          <p:spPr bwMode="auto">
            <a:xfrm>
              <a:off x="4320" y="284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16</a:t>
              </a:r>
            </a:p>
          </p:txBody>
        </p:sp>
      </p:grpSp>
      <p:sp>
        <p:nvSpPr>
          <p:cNvPr id="23557" name="TextBox 37"/>
          <p:cNvSpPr txBox="1">
            <a:spLocks noChangeArrowheads="1"/>
          </p:cNvSpPr>
          <p:nvPr/>
        </p:nvSpPr>
        <p:spPr bwMode="auto">
          <a:xfrm>
            <a:off x="5109396" y="1401303"/>
            <a:ext cx="38892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Waiting time : sum of time that a process has spent 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waiting </a:t>
            </a:r>
            <a:r>
              <a:rPr lang="en-US" sz="1400" dirty="0">
                <a:solidFill>
                  <a:schemeClr val="tx1"/>
                </a:solidFill>
              </a:rPr>
              <a:t>in the ready queue</a:t>
            </a:r>
          </a:p>
        </p:txBody>
      </p:sp>
    </p:spTree>
    <p:extLst>
      <p:ext uri="{BB962C8B-B14F-4D97-AF65-F5344CB8AC3E}">
        <p14:creationId xmlns:p14="http://schemas.microsoft.com/office/powerpoint/2010/main" val="22411739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</a:t>
            </a:r>
            <a:r>
              <a:rPr lang="en-US" u="sng"/>
              <a:t>Process	Arrival Time</a:t>
            </a:r>
            <a:r>
              <a:rPr lang="en-US"/>
              <a:t>	</a:t>
            </a:r>
            <a:r>
              <a:rPr lang="en-US" u="sng"/>
              <a:t>Burst Time</a:t>
            </a:r>
            <a:endParaRPr lang="en-US"/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0.0	7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	</a:t>
            </a:r>
            <a:r>
              <a:rPr lang="en-US"/>
              <a:t>2.0	4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4.0	1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SJF (non-preemptive)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Average waiting time = (0 + 6 + 3 + 7)/4 - 4</a:t>
            </a:r>
            <a:endParaRPr lang="en-US" i="1" baseline="-25000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Example of Non-Preemptive SJF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 flipH="1">
            <a:off x="1524000" y="4357688"/>
            <a:ext cx="5257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 flipH="1">
            <a:off x="2209800" y="443388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 flipH="1">
            <a:off x="3810000" y="443388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3</a:t>
            </a:r>
            <a:endParaRPr lang="en-US"/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 flipH="1">
            <a:off x="4724400" y="443388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 flipH="1">
            <a:off x="67818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 flipH="1">
            <a:off x="42672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 flipH="1">
            <a:off x="38100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 flipH="1">
            <a:off x="2209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 flipH="1">
            <a:off x="3657600" y="51196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 flipH="1">
            <a:off x="2368550" y="51196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 flipH="1">
            <a:off x="6508750" y="511968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</a:t>
            </a:r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 flipH="1">
            <a:off x="5867400" y="443388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4</a:t>
            </a:r>
            <a:endParaRPr lang="en-US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 flipH="1">
            <a:off x="297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5" name="Line 25"/>
          <p:cNvSpPr>
            <a:spLocks noChangeShapeType="1"/>
          </p:cNvSpPr>
          <p:nvPr/>
        </p:nvSpPr>
        <p:spPr bwMode="auto">
          <a:xfrm flipH="1">
            <a:off x="32766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 flipH="1">
            <a:off x="3581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7" name="Line 27"/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88" name="Text Box 28"/>
          <p:cNvSpPr txBox="1">
            <a:spLocks noChangeArrowheads="1"/>
          </p:cNvSpPr>
          <p:nvPr/>
        </p:nvSpPr>
        <p:spPr bwMode="auto">
          <a:xfrm flipH="1">
            <a:off x="4114800" y="51196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91" name="Line 31"/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 flipH="1">
            <a:off x="5257800" y="511968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12</a:t>
            </a:r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Preemptive SJF</a:t>
            </a:r>
          </a:p>
        </p:txBody>
      </p:sp>
      <p:sp>
        <p:nvSpPr>
          <p:cNvPr id="42020" name="Rectangle 36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</a:t>
            </a:r>
            <a:r>
              <a:rPr lang="en-US" u="sng"/>
              <a:t>Process	Arrival Time</a:t>
            </a:r>
            <a:r>
              <a:rPr lang="en-US"/>
              <a:t>	</a:t>
            </a:r>
            <a:r>
              <a:rPr lang="en-US" u="sng"/>
              <a:t>Burst Time</a:t>
            </a:r>
            <a:endParaRPr lang="en-US"/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</a:t>
            </a:r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	0.0	7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	</a:t>
            </a:r>
            <a:r>
              <a:rPr lang="en-US"/>
              <a:t>2.0	4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</a:t>
            </a:r>
            <a:r>
              <a:rPr lang="en-US"/>
              <a:t>	4.0	1</a:t>
            </a:r>
          </a:p>
          <a:p>
            <a:pPr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</a:t>
            </a:r>
            <a:r>
              <a:rPr lang="en-US"/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SJF (preemptive)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/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/>
              <a:t>Average waiting time = (9 + 1 + 0 +2)/4 - 3</a:t>
            </a:r>
            <a:endParaRPr lang="en-US" i="1" baseline="-25000"/>
          </a:p>
        </p:txBody>
      </p:sp>
      <p:sp>
        <p:nvSpPr>
          <p:cNvPr id="42021" name="Rectangle 37"/>
          <p:cNvSpPr>
            <a:spLocks noChangeArrowheads="1"/>
          </p:cNvSpPr>
          <p:nvPr/>
        </p:nvSpPr>
        <p:spPr bwMode="auto">
          <a:xfrm flipH="1">
            <a:off x="1524000" y="4357688"/>
            <a:ext cx="5562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22" name="Text Box 38"/>
          <p:cNvSpPr txBox="1">
            <a:spLocks noChangeArrowheads="1"/>
          </p:cNvSpPr>
          <p:nvPr/>
        </p:nvSpPr>
        <p:spPr bwMode="auto">
          <a:xfrm flipH="1">
            <a:off x="1600200" y="44196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42023" name="Text Box 39"/>
          <p:cNvSpPr txBox="1">
            <a:spLocks noChangeArrowheads="1"/>
          </p:cNvSpPr>
          <p:nvPr/>
        </p:nvSpPr>
        <p:spPr bwMode="auto">
          <a:xfrm flipH="1">
            <a:off x="2895600" y="44196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3</a:t>
            </a:r>
            <a:endParaRPr lang="en-US"/>
          </a:p>
        </p:txBody>
      </p:sp>
      <p:sp>
        <p:nvSpPr>
          <p:cNvPr id="42024" name="Text Box 40"/>
          <p:cNvSpPr txBox="1">
            <a:spLocks noChangeArrowheads="1"/>
          </p:cNvSpPr>
          <p:nvPr/>
        </p:nvSpPr>
        <p:spPr bwMode="auto">
          <a:xfrm flipH="1">
            <a:off x="2362200" y="44196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 flipH="1">
            <a:off x="706755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26" name="Line 42"/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27" name="Line 43"/>
          <p:cNvSpPr>
            <a:spLocks noChangeShapeType="1"/>
          </p:cNvSpPr>
          <p:nvPr/>
        </p:nvSpPr>
        <p:spPr bwMode="auto">
          <a:xfrm flipH="1">
            <a:off x="42672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28" name="Line 44"/>
          <p:cNvSpPr>
            <a:spLocks noChangeShapeType="1"/>
          </p:cNvSpPr>
          <p:nvPr/>
        </p:nvSpPr>
        <p:spPr bwMode="auto">
          <a:xfrm flipH="1">
            <a:off x="2133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31" name="Text Box 47"/>
          <p:cNvSpPr txBox="1">
            <a:spLocks noChangeArrowheads="1"/>
          </p:cNvSpPr>
          <p:nvPr/>
        </p:nvSpPr>
        <p:spPr bwMode="auto">
          <a:xfrm flipH="1">
            <a:off x="27432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42032" name="Text Box 48"/>
          <p:cNvSpPr txBox="1">
            <a:spLocks noChangeArrowheads="1"/>
          </p:cNvSpPr>
          <p:nvPr/>
        </p:nvSpPr>
        <p:spPr bwMode="auto">
          <a:xfrm flipH="1">
            <a:off x="19812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42033" name="Text Box 49"/>
          <p:cNvSpPr txBox="1">
            <a:spLocks noChangeArrowheads="1"/>
          </p:cNvSpPr>
          <p:nvPr/>
        </p:nvSpPr>
        <p:spPr bwMode="auto">
          <a:xfrm flipH="1">
            <a:off x="5257800" y="51054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</a:p>
        </p:txBody>
      </p:sp>
      <p:sp>
        <p:nvSpPr>
          <p:cNvPr id="42035" name="Text Box 51"/>
          <p:cNvSpPr txBox="1">
            <a:spLocks noChangeArrowheads="1"/>
          </p:cNvSpPr>
          <p:nvPr/>
        </p:nvSpPr>
        <p:spPr bwMode="auto">
          <a:xfrm flipH="1">
            <a:off x="4724400" y="44196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4</a:t>
            </a:r>
            <a:endParaRPr lang="en-US"/>
          </a:p>
        </p:txBody>
      </p:sp>
      <p:sp>
        <p:nvSpPr>
          <p:cNvPr id="42036" name="Line 52"/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37" name="Line 53"/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38" name="Line 54"/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42" name="Line 58"/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43" name="Text Box 59"/>
          <p:cNvSpPr txBox="1">
            <a:spLocks noChangeArrowheads="1"/>
          </p:cNvSpPr>
          <p:nvPr/>
        </p:nvSpPr>
        <p:spPr bwMode="auto">
          <a:xfrm flipH="1">
            <a:off x="32766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sp>
        <p:nvSpPr>
          <p:cNvPr id="42044" name="Line 60"/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45" name="Line 61"/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46" name="Line 62"/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47" name="Line 63"/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48" name="Text Box 64"/>
          <p:cNvSpPr txBox="1">
            <a:spLocks noChangeArrowheads="1"/>
          </p:cNvSpPr>
          <p:nvPr/>
        </p:nvSpPr>
        <p:spPr bwMode="auto">
          <a:xfrm flipH="1">
            <a:off x="41148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42049" name="Line 65"/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50" name="Line 66"/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51" name="Line 67"/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52" name="Line 68"/>
          <p:cNvSpPr>
            <a:spLocks noChangeShapeType="1"/>
          </p:cNvSpPr>
          <p:nvPr/>
        </p:nvSpPr>
        <p:spPr bwMode="auto">
          <a:xfrm flipH="1">
            <a:off x="2895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53" name="Line 69"/>
          <p:cNvSpPr>
            <a:spLocks noChangeShapeType="1"/>
          </p:cNvSpPr>
          <p:nvPr/>
        </p:nvSpPr>
        <p:spPr bwMode="auto">
          <a:xfrm flipH="1">
            <a:off x="34290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54" name="Text Box 70"/>
          <p:cNvSpPr txBox="1">
            <a:spLocks noChangeArrowheads="1"/>
          </p:cNvSpPr>
          <p:nvPr/>
        </p:nvSpPr>
        <p:spPr bwMode="auto">
          <a:xfrm flipH="1">
            <a:off x="3581400" y="44196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42055" name="Text Box 71"/>
          <p:cNvSpPr txBox="1">
            <a:spLocks noChangeArrowheads="1"/>
          </p:cNvSpPr>
          <p:nvPr/>
        </p:nvSpPr>
        <p:spPr bwMode="auto">
          <a:xfrm flipH="1">
            <a:off x="6096000" y="44196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42056" name="Line 72"/>
          <p:cNvSpPr>
            <a:spLocks noChangeShapeType="1"/>
          </p:cNvSpPr>
          <p:nvPr/>
        </p:nvSpPr>
        <p:spPr bwMode="auto">
          <a:xfrm flipH="1">
            <a:off x="678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42057" name="Text Box 73"/>
          <p:cNvSpPr txBox="1">
            <a:spLocks noChangeArrowheads="1"/>
          </p:cNvSpPr>
          <p:nvPr/>
        </p:nvSpPr>
        <p:spPr bwMode="auto">
          <a:xfrm flipH="1">
            <a:off x="6858000" y="51054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Determining Length of Next CPU Burst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Can only estimate the length.</a:t>
            </a:r>
          </a:p>
          <a:p>
            <a:r>
              <a:rPr lang="en-US"/>
              <a:t>Can be done by using the length of previous CPU bursts, using exponential averaging.</a:t>
            </a:r>
          </a:p>
          <a:p>
            <a:pPr lvl="1">
              <a:buFontTx/>
              <a:buNone/>
            </a:pPr>
            <a:endParaRPr lang="en-US"/>
          </a:p>
          <a:p>
            <a:pPr lvl="1">
              <a:buFontTx/>
              <a:buNone/>
            </a:pPr>
            <a:endParaRPr lang="en-US"/>
          </a:p>
        </p:txBody>
      </p:sp>
      <p:graphicFrame>
        <p:nvGraphicFramePr>
          <p:cNvPr id="67584" name="Object 2048"/>
          <p:cNvGraphicFramePr>
            <a:graphicFrameLocks noChangeAspect="1"/>
          </p:cNvGraphicFramePr>
          <p:nvPr/>
        </p:nvGraphicFramePr>
        <p:xfrm>
          <a:off x="1530350" y="2857500"/>
          <a:ext cx="46990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6" name="Equation" r:id="rId3" imgW="4698720" imgH="1333440" progId="Equation.3">
                  <p:embed/>
                </p:oleObj>
              </mc:Choice>
              <mc:Fallback>
                <p:oleObj name="Equation" r:id="rId3" imgW="4698720" imgH="1333440" progId="Equation.3">
                  <p:embed/>
                  <p:pic>
                    <p:nvPicPr>
                      <p:cNvPr id="0" name="Picture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2857500"/>
                        <a:ext cx="4699000" cy="1333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" name="Object 2049"/>
          <p:cNvGraphicFramePr>
            <a:graphicFrameLocks noChangeAspect="1"/>
          </p:cNvGraphicFramePr>
          <p:nvPr/>
        </p:nvGraphicFramePr>
        <p:xfrm>
          <a:off x="3016250" y="4419600"/>
          <a:ext cx="19939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7" name="Equation" r:id="rId5" imgW="1993680" imgH="291960" progId="Equation.3">
                  <p:embed/>
                </p:oleObj>
              </mc:Choice>
              <mc:Fallback>
                <p:oleObj name="Equation" r:id="rId5" imgW="1993680" imgH="291960" progId="Equation.3">
                  <p:embed/>
                  <p:pic>
                    <p:nvPicPr>
                      <p:cNvPr id="0" name="Picture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419600"/>
                        <a:ext cx="1993900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Exponential Averaging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Symbol" pitchFamily="18" charset="2"/>
              </a:rPr>
              <a:t> =0</a:t>
            </a:r>
          </a:p>
          <a:p>
            <a:pPr lvl="1"/>
            <a:r>
              <a:rPr lang="en-US">
                <a:sym typeface="Symbol" pitchFamily="18" charset="2"/>
              </a:rPr>
              <a:t></a:t>
            </a:r>
            <a:r>
              <a:rPr lang="en-US" baseline="-25000">
                <a:sym typeface="Symbol" pitchFamily="18" charset="2"/>
              </a:rPr>
              <a:t>n+1</a:t>
            </a:r>
            <a:r>
              <a:rPr lang="en-US">
                <a:sym typeface="Symbol" pitchFamily="18" charset="2"/>
              </a:rPr>
              <a:t> = </a:t>
            </a:r>
            <a:r>
              <a:rPr lang="en-US" baseline="-25000">
                <a:sym typeface="Symbol" pitchFamily="18" charset="2"/>
              </a:rPr>
              <a:t>n</a:t>
            </a:r>
          </a:p>
          <a:p>
            <a:pPr lvl="1"/>
            <a:r>
              <a:rPr lang="en-US">
                <a:sym typeface="Symbol" pitchFamily="18" charset="2"/>
              </a:rPr>
              <a:t>Recent history does not count.</a:t>
            </a:r>
          </a:p>
          <a:p>
            <a:r>
              <a:rPr lang="en-US">
                <a:sym typeface="Symbol" pitchFamily="18" charset="2"/>
              </a:rPr>
              <a:t> =1</a:t>
            </a:r>
          </a:p>
          <a:p>
            <a:pPr lvl="1"/>
            <a:r>
              <a:rPr lang="en-US">
                <a:sym typeface="Symbol" pitchFamily="18" charset="2"/>
              </a:rPr>
              <a:t> </a:t>
            </a:r>
            <a:r>
              <a:rPr lang="en-US" baseline="-25000">
                <a:sym typeface="Symbol" pitchFamily="18" charset="2"/>
              </a:rPr>
              <a:t>n+1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t</a:t>
            </a:r>
            <a:r>
              <a:rPr lang="en-US" baseline="-25000">
                <a:sym typeface="Symbol" pitchFamily="18" charset="2"/>
              </a:rPr>
              <a:t>n</a:t>
            </a:r>
          </a:p>
          <a:p>
            <a:pPr lvl="1"/>
            <a:r>
              <a:rPr lang="en-US">
                <a:sym typeface="Symbol" pitchFamily="18" charset="2"/>
              </a:rPr>
              <a:t>Only the actual last CPU burst counts.</a:t>
            </a:r>
          </a:p>
          <a:p>
            <a:r>
              <a:rPr lang="en-US">
                <a:sym typeface="Symbol" pitchFamily="18" charset="2"/>
              </a:rPr>
              <a:t>If we expand the formula, we get:</a:t>
            </a:r>
          </a:p>
          <a:p>
            <a:pPr lvl="2">
              <a:buFont typeface="Monotype Sorts" pitchFamily="2" charset="2"/>
              <a:buNone/>
            </a:pPr>
            <a:r>
              <a:rPr lang="en-US">
                <a:sym typeface="Symbol" pitchFamily="18" charset="2"/>
              </a:rPr>
              <a:t></a:t>
            </a:r>
            <a:r>
              <a:rPr lang="en-US" baseline="-25000">
                <a:sym typeface="Symbol" pitchFamily="18" charset="2"/>
              </a:rPr>
              <a:t>n+1</a:t>
            </a:r>
            <a:r>
              <a:rPr lang="en-US">
                <a:sym typeface="Symbol" pitchFamily="18" charset="2"/>
              </a:rPr>
              <a:t> =  t</a:t>
            </a:r>
            <a:r>
              <a:rPr lang="en-US" baseline="-25000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+(</a:t>
            </a:r>
            <a:r>
              <a:rPr lang="en-US" i="0">
                <a:sym typeface="Symbol" pitchFamily="18" charset="2"/>
              </a:rPr>
              <a:t>1 - </a:t>
            </a:r>
            <a:r>
              <a:rPr lang="en-US">
                <a:sym typeface="Symbol" pitchFamily="18" charset="2"/>
              </a:rPr>
              <a:t></a:t>
            </a:r>
            <a:r>
              <a:rPr lang="en-US" i="0">
                <a:sym typeface="Symbol" pitchFamily="18" charset="2"/>
              </a:rPr>
              <a:t>) </a:t>
            </a:r>
            <a:r>
              <a:rPr lang="en-US">
                <a:sym typeface="Symbol" pitchFamily="18" charset="2"/>
              </a:rPr>
              <a:t> t</a:t>
            </a:r>
            <a:r>
              <a:rPr lang="en-US" baseline="-25000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 -</a:t>
            </a:r>
            <a:r>
              <a:rPr lang="en-US" i="0">
                <a:sym typeface="Symbol" pitchFamily="18" charset="2"/>
              </a:rPr>
              <a:t>1 </a:t>
            </a:r>
            <a:r>
              <a:rPr lang="en-US">
                <a:sym typeface="Symbol" pitchFamily="18" charset="2"/>
              </a:rPr>
              <a:t>+ …</a:t>
            </a:r>
          </a:p>
          <a:p>
            <a:pPr lvl="2">
              <a:buFont typeface="Monotype Sorts" pitchFamily="2" charset="2"/>
              <a:buNone/>
            </a:pPr>
            <a:r>
              <a:rPr lang="en-US">
                <a:sym typeface="Symbol" pitchFamily="18" charset="2"/>
              </a:rPr>
              <a:t>            </a:t>
            </a:r>
            <a:r>
              <a:rPr lang="en-US" i="0">
                <a:sym typeface="Symbol" pitchFamily="18" charset="2"/>
              </a:rPr>
              <a:t>+(1</a:t>
            </a:r>
            <a:r>
              <a:rPr lang="en-US">
                <a:sym typeface="Symbol" pitchFamily="18" charset="2"/>
              </a:rPr>
              <a:t> -  </a:t>
            </a:r>
            <a:r>
              <a:rPr lang="en-US" i="0">
                <a:sym typeface="Symbol" pitchFamily="18" charset="2"/>
              </a:rPr>
              <a:t>)</a:t>
            </a:r>
            <a:r>
              <a:rPr lang="en-US" baseline="30000">
                <a:sym typeface="Symbol" pitchFamily="18" charset="2"/>
              </a:rPr>
              <a:t>j </a:t>
            </a:r>
            <a:r>
              <a:rPr lang="en-US">
                <a:sym typeface="Symbol" pitchFamily="18" charset="2"/>
              </a:rPr>
              <a:t> t</a:t>
            </a:r>
            <a:r>
              <a:rPr lang="en-US" baseline="-25000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 -</a:t>
            </a:r>
            <a:r>
              <a:rPr lang="en-US" i="0">
                <a:sym typeface="Symbol" pitchFamily="18" charset="2"/>
              </a:rPr>
              <a:t>1 </a:t>
            </a:r>
            <a:r>
              <a:rPr lang="en-US">
                <a:sym typeface="Symbol" pitchFamily="18" charset="2"/>
              </a:rPr>
              <a:t>+ …</a:t>
            </a:r>
          </a:p>
          <a:p>
            <a:pPr lvl="2">
              <a:buFont typeface="Monotype Sorts" pitchFamily="2" charset="2"/>
              <a:buNone/>
            </a:pPr>
            <a:r>
              <a:rPr lang="en-US">
                <a:sym typeface="Symbol" pitchFamily="18" charset="2"/>
              </a:rPr>
              <a:t>            </a:t>
            </a:r>
            <a:r>
              <a:rPr lang="en-US" i="0">
                <a:sym typeface="Symbol" pitchFamily="18" charset="2"/>
              </a:rPr>
              <a:t>+(1</a:t>
            </a:r>
            <a:r>
              <a:rPr lang="en-US">
                <a:sym typeface="Symbol" pitchFamily="18" charset="2"/>
              </a:rPr>
              <a:t> -  </a:t>
            </a:r>
            <a:r>
              <a:rPr lang="en-US" i="0">
                <a:sym typeface="Symbol" pitchFamily="18" charset="2"/>
              </a:rPr>
              <a:t>)</a:t>
            </a:r>
            <a:r>
              <a:rPr lang="en-US" baseline="30000">
                <a:sym typeface="Symbol" pitchFamily="18" charset="2"/>
              </a:rPr>
              <a:t>n=1 </a:t>
            </a:r>
            <a:r>
              <a:rPr lang="en-US">
                <a:sym typeface="Symbol" pitchFamily="18" charset="2"/>
              </a:rPr>
              <a:t>t</a:t>
            </a:r>
            <a:r>
              <a:rPr lang="en-US" baseline="-25000">
                <a:sym typeface="Symbol" pitchFamily="18" charset="2"/>
              </a:rPr>
              <a:t>n</a:t>
            </a:r>
            <a:r>
              <a:rPr lang="en-US">
                <a:sym typeface="Symbol" pitchFamily="18" charset="2"/>
              </a:rPr>
              <a:t> </a:t>
            </a:r>
            <a:r>
              <a:rPr lang="en-US" baseline="-25000">
                <a:sym typeface="Symbol" pitchFamily="18" charset="2"/>
              </a:rPr>
              <a:t>0</a:t>
            </a:r>
          </a:p>
          <a:p>
            <a:r>
              <a:rPr lang="en-US">
                <a:sym typeface="Symbol" pitchFamily="18" charset="2"/>
              </a:rPr>
              <a:t>Since both  and (1 - ) are less than or equal to 1, each successive term has less weight than its predecessor.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Scheduling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priority number (integer) is associated with each process</a:t>
            </a:r>
          </a:p>
          <a:p>
            <a:r>
              <a:rPr lang="en-US" dirty="0"/>
              <a:t>The CPU is allocated to the process with the highest priority (smallest integer </a:t>
            </a:r>
            <a:r>
              <a:rPr lang="en-US" dirty="0">
                <a:sym typeface="Symbol" pitchFamily="18" charset="2"/>
              </a:rPr>
              <a:t> highest priority).</a:t>
            </a:r>
          </a:p>
          <a:p>
            <a:pPr lvl="1"/>
            <a:r>
              <a:rPr lang="en-US" dirty="0"/>
              <a:t>Preemptive</a:t>
            </a:r>
          </a:p>
          <a:p>
            <a:pPr lvl="1"/>
            <a:r>
              <a:rPr lang="en-US" dirty="0" err="1"/>
              <a:t>nonpreemptive</a:t>
            </a:r>
            <a:endParaRPr lang="en-US" dirty="0"/>
          </a:p>
          <a:p>
            <a:r>
              <a:rPr lang="en-US" dirty="0"/>
              <a:t>SJF is a priority scheduling where priority is the predicted next CPU burst time.</a:t>
            </a:r>
          </a:p>
          <a:p>
            <a:r>
              <a:rPr lang="en-US" dirty="0"/>
              <a:t>Problem </a:t>
            </a:r>
            <a:r>
              <a:rPr lang="en-US" dirty="0">
                <a:sym typeface="Symbol" pitchFamily="18" charset="2"/>
              </a:rPr>
              <a:t> Starvation – low priority processes may never execute.</a:t>
            </a:r>
          </a:p>
          <a:p>
            <a:r>
              <a:rPr lang="en-US" dirty="0">
                <a:sym typeface="Symbol" pitchFamily="18" charset="2"/>
              </a:rPr>
              <a:t>Solution  Aging – as time progresses increase the priority of the 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Robin (RR)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process gets a small unit of CPU time (</a:t>
            </a:r>
            <a:r>
              <a:rPr lang="en-US" i="1"/>
              <a:t>time quantum</a:t>
            </a:r>
            <a:r>
              <a:rPr lang="en-US"/>
              <a:t>), usually 10-100 milliseconds.  After this time has elapsed, the process is preempted and added to the end of the ready queue.</a:t>
            </a:r>
          </a:p>
          <a:p>
            <a:r>
              <a:rPr lang="en-US"/>
              <a:t>If there are </a:t>
            </a:r>
            <a:r>
              <a:rPr lang="en-US" i="1"/>
              <a:t>n</a:t>
            </a:r>
            <a:r>
              <a:rPr lang="en-US"/>
              <a:t> processes in the ready queue and the time quantum is </a:t>
            </a:r>
            <a:r>
              <a:rPr lang="en-US" i="1"/>
              <a:t>q</a:t>
            </a:r>
            <a:r>
              <a:rPr lang="en-US"/>
              <a:t>, then each process gets 1/</a:t>
            </a:r>
            <a:r>
              <a:rPr lang="en-US" i="1"/>
              <a:t>n</a:t>
            </a:r>
            <a:r>
              <a:rPr lang="en-US"/>
              <a:t> of the CPU time in chunks of at most </a:t>
            </a:r>
            <a:r>
              <a:rPr lang="en-US" i="1"/>
              <a:t>q</a:t>
            </a:r>
            <a:r>
              <a:rPr lang="en-US"/>
              <a:t> time units at once.  No process waits more than (</a:t>
            </a:r>
            <a:r>
              <a:rPr lang="en-US" i="1"/>
              <a:t>n</a:t>
            </a:r>
            <a:r>
              <a:rPr lang="en-US"/>
              <a:t>-1)</a:t>
            </a:r>
            <a:r>
              <a:rPr lang="en-US" i="1"/>
              <a:t>q </a:t>
            </a:r>
            <a:r>
              <a:rPr lang="en-US"/>
              <a:t>time units.</a:t>
            </a:r>
          </a:p>
          <a:p>
            <a:r>
              <a:rPr lang="en-US"/>
              <a:t>Performance</a:t>
            </a:r>
          </a:p>
          <a:p>
            <a:pPr lvl="1"/>
            <a:r>
              <a:rPr lang="en-US" i="1"/>
              <a:t>q</a:t>
            </a:r>
            <a:r>
              <a:rPr lang="en-US"/>
              <a:t> large </a:t>
            </a:r>
            <a:r>
              <a:rPr lang="en-US">
                <a:sym typeface="Symbol" pitchFamily="18" charset="2"/>
              </a:rPr>
              <a:t> FIFO</a:t>
            </a:r>
          </a:p>
          <a:p>
            <a:pPr lvl="1"/>
            <a:r>
              <a:rPr lang="en-US" i="1">
                <a:sym typeface="Symbol" pitchFamily="18" charset="2"/>
              </a:rPr>
              <a:t>q </a:t>
            </a:r>
            <a:r>
              <a:rPr lang="en-US">
                <a:sym typeface="Symbol" pitchFamily="18" charset="2"/>
              </a:rPr>
              <a:t>small  </a:t>
            </a:r>
            <a:r>
              <a:rPr lang="en-US" i="1">
                <a:sym typeface="Symbol" pitchFamily="18" charset="2"/>
              </a:rPr>
              <a:t>q </a:t>
            </a:r>
            <a:r>
              <a:rPr lang="en-US">
                <a:sym typeface="Symbol" pitchFamily="18" charset="2"/>
              </a:rPr>
              <a:t>must be large with respect to context switch, otherwise overhead is too high.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96875"/>
            <a:ext cx="8054975" cy="844550"/>
          </a:xfrm>
        </p:spPr>
        <p:txBody>
          <a:bodyPr/>
          <a:lstStyle/>
          <a:p>
            <a:pPr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dirty="0" smtClean="0">
                <a:ea typeface="+mj-ea"/>
              </a:rPr>
              <a:t>Example of RR with Time Quantum = 20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914400"/>
            <a:ext cx="8113713" cy="4483100"/>
          </a:xfrm>
        </p:spPr>
        <p:txBody>
          <a:bodyPr/>
          <a:lstStyle/>
          <a:p>
            <a:pPr algn="ctr">
              <a:lnSpc>
                <a:spcPct val="93000"/>
              </a:lnSpc>
              <a:buFont typeface="Monotype Sorts" charset="2"/>
              <a:buNone/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		</a:t>
            </a:r>
            <a:endParaRPr lang="en-GB" dirty="0" smtClean="0"/>
          </a:p>
          <a:p>
            <a:pPr algn="ctr">
              <a:lnSpc>
                <a:spcPct val="93000"/>
              </a:lnSpc>
              <a:buFont typeface="Monotype Sorts" charset="2"/>
              <a:buNone/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u="sng" dirty="0" smtClean="0"/>
              <a:t>Process</a:t>
            </a:r>
            <a:r>
              <a:rPr lang="en-GB" sz="1600" dirty="0" smtClean="0"/>
              <a:t>	</a:t>
            </a:r>
            <a:r>
              <a:rPr lang="en-GB" sz="1600" u="sng" dirty="0" smtClean="0"/>
              <a:t>Burst Time</a:t>
            </a:r>
          </a:p>
          <a:p>
            <a:pPr algn="ctr">
              <a:lnSpc>
                <a:spcPct val="90000"/>
              </a:lnSpc>
              <a:buFont typeface="Monotype Sorts" charset="2"/>
              <a:buNone/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i="1" dirty="0" smtClean="0"/>
              <a:t>		P</a:t>
            </a:r>
            <a:r>
              <a:rPr lang="en-GB" sz="1600" i="1" baseline="-25000" dirty="0" smtClean="0"/>
              <a:t>1	</a:t>
            </a:r>
            <a:r>
              <a:rPr lang="en-GB" sz="1600" dirty="0" smtClean="0"/>
              <a:t>53</a:t>
            </a:r>
          </a:p>
          <a:p>
            <a:pPr algn="ctr">
              <a:lnSpc>
                <a:spcPct val="90000"/>
              </a:lnSpc>
              <a:buFont typeface="Monotype Sorts" charset="2"/>
              <a:buNone/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 smtClean="0"/>
              <a:t>		 </a:t>
            </a:r>
            <a:r>
              <a:rPr lang="en-GB" sz="1600" i="1" dirty="0" smtClean="0"/>
              <a:t>P</a:t>
            </a:r>
            <a:r>
              <a:rPr lang="en-GB" sz="1600" i="1" baseline="-25000" dirty="0" smtClean="0"/>
              <a:t>2	 </a:t>
            </a:r>
            <a:r>
              <a:rPr lang="en-GB" sz="1600" dirty="0" smtClean="0"/>
              <a:t>17</a:t>
            </a:r>
          </a:p>
          <a:p>
            <a:pPr algn="ctr">
              <a:lnSpc>
                <a:spcPct val="90000"/>
              </a:lnSpc>
              <a:buFont typeface="Monotype Sorts" charset="2"/>
              <a:buNone/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 smtClean="0"/>
              <a:t>		 </a:t>
            </a:r>
            <a:r>
              <a:rPr lang="en-GB" sz="1600" i="1" dirty="0" smtClean="0"/>
              <a:t>P</a:t>
            </a:r>
            <a:r>
              <a:rPr lang="en-GB" sz="1600" i="1" baseline="-25000" dirty="0" smtClean="0"/>
              <a:t>3	</a:t>
            </a:r>
            <a:r>
              <a:rPr lang="en-GB" sz="1600" dirty="0" smtClean="0"/>
              <a:t>68</a:t>
            </a:r>
          </a:p>
          <a:p>
            <a:pPr algn="ctr">
              <a:lnSpc>
                <a:spcPct val="90000"/>
              </a:lnSpc>
              <a:buFont typeface="Monotype Sorts" charset="2"/>
              <a:buNone/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 smtClean="0"/>
              <a:t>		 </a:t>
            </a:r>
            <a:r>
              <a:rPr lang="en-GB" sz="1600" i="1" dirty="0" smtClean="0"/>
              <a:t>P</a:t>
            </a:r>
            <a:r>
              <a:rPr lang="en-GB" sz="1600" i="1" baseline="-25000" dirty="0" smtClean="0"/>
              <a:t>4	 </a:t>
            </a:r>
            <a:r>
              <a:rPr lang="en-GB" sz="1600" dirty="0" smtClean="0"/>
              <a:t>24</a:t>
            </a:r>
          </a:p>
          <a:p>
            <a:pPr>
              <a:lnSpc>
                <a:spcPct val="90000"/>
              </a:lnSpc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The Gantt chart is: 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 smtClean="0"/>
          </a:p>
          <a:p>
            <a:pPr>
              <a:lnSpc>
                <a:spcPct val="90000"/>
              </a:lnSpc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Typically, </a:t>
            </a:r>
            <a:r>
              <a:rPr lang="en-GB" u="sng" dirty="0" smtClean="0"/>
              <a:t>higher</a:t>
            </a:r>
            <a:r>
              <a:rPr lang="en-GB" dirty="0" smtClean="0"/>
              <a:t> average turnaround than SJF, but </a:t>
            </a:r>
            <a:r>
              <a:rPr lang="en-GB" u="sng" dirty="0" smtClean="0"/>
              <a:t>better</a:t>
            </a:r>
            <a:r>
              <a:rPr lang="en-GB" dirty="0" smtClean="0"/>
              <a:t> </a:t>
            </a:r>
            <a:r>
              <a:rPr lang="en-GB" i="1" dirty="0" smtClean="0"/>
              <a:t>response time</a:t>
            </a:r>
          </a:p>
          <a:p>
            <a:pPr>
              <a:lnSpc>
                <a:spcPct val="90000"/>
              </a:lnSpc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waiting time </a:t>
            </a:r>
            <a:br>
              <a:rPr lang="en-GB" dirty="0" smtClean="0"/>
            </a:br>
            <a:r>
              <a:rPr lang="en-GB" dirty="0" smtClean="0"/>
              <a:t>	= ( [(0 – 0) + (77 - 20) + (121 – 97)] + (20 – 0) + [(37 – 0) + (97 - 57) + (134 – 117)] + [(57 – 0) + (117 – 77)] ) / 4 </a:t>
            </a:r>
            <a:br>
              <a:rPr lang="en-GB" dirty="0" smtClean="0"/>
            </a:br>
            <a:r>
              <a:rPr lang="en-GB" dirty="0" smtClean="0"/>
              <a:t>= (0 + 57 + 24) + 20 + (37 + 40 + 17) + (57 + 40) ) / 4 </a:t>
            </a:r>
            <a:br>
              <a:rPr lang="en-GB" dirty="0" smtClean="0"/>
            </a:br>
            <a:r>
              <a:rPr lang="en-GB" dirty="0" smtClean="0"/>
              <a:t>= (81 + 20 + 94 + 97)/4</a:t>
            </a:r>
            <a:br>
              <a:rPr lang="en-GB" dirty="0" smtClean="0"/>
            </a:br>
            <a:r>
              <a:rPr lang="en-GB" dirty="0" smtClean="0"/>
              <a:t>= 292 / 4 = 73</a:t>
            </a:r>
          </a:p>
          <a:p>
            <a:pPr>
              <a:lnSpc>
                <a:spcPct val="90000"/>
              </a:lnSpc>
              <a:tabLst>
                <a:tab pos="341313" algn="l"/>
                <a:tab pos="2219325" algn="ctr"/>
                <a:tab pos="3994150" algn="ctr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Average turn-around time 	= 134 + 37 + 162 + 121) / 4 = 113.5</a:t>
            </a:r>
            <a:endParaRPr lang="en-GB" i="1" dirty="0" smtClean="0"/>
          </a:p>
        </p:txBody>
      </p:sp>
      <p:grpSp>
        <p:nvGrpSpPr>
          <p:cNvPr id="28676" name="Group 3"/>
          <p:cNvGrpSpPr>
            <a:grpSpLocks/>
          </p:cNvGrpSpPr>
          <p:nvPr/>
        </p:nvGrpSpPr>
        <p:grpSpPr bwMode="auto">
          <a:xfrm>
            <a:off x="1609725" y="3491375"/>
            <a:ext cx="6049963" cy="974725"/>
            <a:chOff x="1014" y="2490"/>
            <a:chExt cx="3811" cy="614"/>
          </a:xfrm>
        </p:grpSpPr>
        <p:grpSp>
          <p:nvGrpSpPr>
            <p:cNvPr id="28677" name="Group 4"/>
            <p:cNvGrpSpPr>
              <a:grpSpLocks/>
            </p:cNvGrpSpPr>
            <p:nvPr/>
          </p:nvGrpSpPr>
          <p:grpSpPr bwMode="auto">
            <a:xfrm>
              <a:off x="1110" y="2490"/>
              <a:ext cx="3551" cy="383"/>
              <a:chOff x="1110" y="2490"/>
              <a:chExt cx="3551" cy="383"/>
            </a:xfrm>
          </p:grpSpPr>
          <p:grpSp>
            <p:nvGrpSpPr>
              <p:cNvPr id="28689" name="Group 5"/>
              <p:cNvGrpSpPr>
                <a:grpSpLocks/>
              </p:cNvGrpSpPr>
              <p:nvPr/>
            </p:nvGrpSpPr>
            <p:grpSpPr bwMode="auto">
              <a:xfrm>
                <a:off x="1110" y="2490"/>
                <a:ext cx="354" cy="383"/>
                <a:chOff x="1110" y="2490"/>
                <a:chExt cx="354" cy="383"/>
              </a:xfrm>
            </p:grpSpPr>
            <p:sp>
              <p:nvSpPr>
                <p:cNvPr id="28717" name="AutoShape 6"/>
                <p:cNvSpPr>
                  <a:spLocks noChangeArrowheads="1"/>
                </p:cNvSpPr>
                <p:nvPr/>
              </p:nvSpPr>
              <p:spPr bwMode="auto">
                <a:xfrm>
                  <a:off x="111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18" name="AutoShape 7"/>
                <p:cNvSpPr>
                  <a:spLocks noChangeArrowheads="1"/>
                </p:cNvSpPr>
                <p:nvPr/>
              </p:nvSpPr>
              <p:spPr bwMode="auto">
                <a:xfrm>
                  <a:off x="111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28690" name="Group 8"/>
              <p:cNvGrpSpPr>
                <a:grpSpLocks/>
              </p:cNvGrpSpPr>
              <p:nvPr/>
            </p:nvGrpSpPr>
            <p:grpSpPr bwMode="auto">
              <a:xfrm>
                <a:off x="1465" y="2490"/>
                <a:ext cx="355" cy="383"/>
                <a:chOff x="1465" y="2490"/>
                <a:chExt cx="355" cy="383"/>
              </a:xfrm>
            </p:grpSpPr>
            <p:sp>
              <p:nvSpPr>
                <p:cNvPr id="28715" name="AutoShape 9"/>
                <p:cNvSpPr>
                  <a:spLocks noChangeArrowheads="1"/>
                </p:cNvSpPr>
                <p:nvPr/>
              </p:nvSpPr>
              <p:spPr bwMode="auto">
                <a:xfrm>
                  <a:off x="1465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16" name="AutoShape 10"/>
                <p:cNvSpPr>
                  <a:spLocks noChangeArrowheads="1"/>
                </p:cNvSpPr>
                <p:nvPr/>
              </p:nvSpPr>
              <p:spPr bwMode="auto">
                <a:xfrm>
                  <a:off x="1465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28691" name="Group 11"/>
              <p:cNvGrpSpPr>
                <a:grpSpLocks/>
              </p:cNvGrpSpPr>
              <p:nvPr/>
            </p:nvGrpSpPr>
            <p:grpSpPr bwMode="auto">
              <a:xfrm>
                <a:off x="1820" y="2490"/>
                <a:ext cx="354" cy="383"/>
                <a:chOff x="1820" y="2490"/>
                <a:chExt cx="354" cy="383"/>
              </a:xfrm>
            </p:grpSpPr>
            <p:sp>
              <p:nvSpPr>
                <p:cNvPr id="28713" name="AutoShape 12"/>
                <p:cNvSpPr>
                  <a:spLocks noChangeArrowheads="1"/>
                </p:cNvSpPr>
                <p:nvPr/>
              </p:nvSpPr>
              <p:spPr bwMode="auto">
                <a:xfrm>
                  <a:off x="182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14" name="AutoShape 13"/>
                <p:cNvSpPr>
                  <a:spLocks noChangeArrowheads="1"/>
                </p:cNvSpPr>
                <p:nvPr/>
              </p:nvSpPr>
              <p:spPr bwMode="auto">
                <a:xfrm>
                  <a:off x="182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8692" name="Group 14"/>
              <p:cNvGrpSpPr>
                <a:grpSpLocks/>
              </p:cNvGrpSpPr>
              <p:nvPr/>
            </p:nvGrpSpPr>
            <p:grpSpPr bwMode="auto">
              <a:xfrm>
                <a:off x="2175" y="2490"/>
                <a:ext cx="354" cy="383"/>
                <a:chOff x="2175" y="2490"/>
                <a:chExt cx="354" cy="383"/>
              </a:xfrm>
            </p:grpSpPr>
            <p:sp>
              <p:nvSpPr>
                <p:cNvPr id="28711" name="AutoShape 15"/>
                <p:cNvSpPr>
                  <a:spLocks noChangeArrowheads="1"/>
                </p:cNvSpPr>
                <p:nvPr/>
              </p:nvSpPr>
              <p:spPr bwMode="auto">
                <a:xfrm>
                  <a:off x="2175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12" name="AutoShape 16"/>
                <p:cNvSpPr>
                  <a:spLocks noChangeArrowheads="1"/>
                </p:cNvSpPr>
                <p:nvPr/>
              </p:nvSpPr>
              <p:spPr bwMode="auto">
                <a:xfrm>
                  <a:off x="2175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28693" name="Group 17"/>
              <p:cNvGrpSpPr>
                <a:grpSpLocks/>
              </p:cNvGrpSpPr>
              <p:nvPr/>
            </p:nvGrpSpPr>
            <p:grpSpPr bwMode="auto">
              <a:xfrm>
                <a:off x="2531" y="2490"/>
                <a:ext cx="355" cy="383"/>
                <a:chOff x="2531" y="2490"/>
                <a:chExt cx="355" cy="383"/>
              </a:xfrm>
            </p:grpSpPr>
            <p:sp>
              <p:nvSpPr>
                <p:cNvPr id="28709" name="AutoShape 18"/>
                <p:cNvSpPr>
                  <a:spLocks noChangeArrowheads="1"/>
                </p:cNvSpPr>
                <p:nvPr/>
              </p:nvSpPr>
              <p:spPr bwMode="auto">
                <a:xfrm>
                  <a:off x="253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10" name="AutoShape 19"/>
                <p:cNvSpPr>
                  <a:spLocks noChangeArrowheads="1"/>
                </p:cNvSpPr>
                <p:nvPr/>
              </p:nvSpPr>
              <p:spPr bwMode="auto">
                <a:xfrm>
                  <a:off x="253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28694" name="Group 20"/>
              <p:cNvGrpSpPr>
                <a:grpSpLocks/>
              </p:cNvGrpSpPr>
              <p:nvPr/>
            </p:nvGrpSpPr>
            <p:grpSpPr bwMode="auto">
              <a:xfrm>
                <a:off x="2886" y="2490"/>
                <a:ext cx="354" cy="383"/>
                <a:chOff x="2886" y="2490"/>
                <a:chExt cx="354" cy="383"/>
              </a:xfrm>
            </p:grpSpPr>
            <p:sp>
              <p:nvSpPr>
                <p:cNvPr id="28707" name="AutoShape 21"/>
                <p:cNvSpPr>
                  <a:spLocks noChangeArrowheads="1"/>
                </p:cNvSpPr>
                <p:nvPr/>
              </p:nvSpPr>
              <p:spPr bwMode="auto">
                <a:xfrm>
                  <a:off x="288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08" name="AutoShape 22"/>
                <p:cNvSpPr>
                  <a:spLocks noChangeArrowheads="1"/>
                </p:cNvSpPr>
                <p:nvPr/>
              </p:nvSpPr>
              <p:spPr bwMode="auto">
                <a:xfrm>
                  <a:off x="288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8695" name="Group 23"/>
              <p:cNvGrpSpPr>
                <a:grpSpLocks/>
              </p:cNvGrpSpPr>
              <p:nvPr/>
            </p:nvGrpSpPr>
            <p:grpSpPr bwMode="auto">
              <a:xfrm>
                <a:off x="3241" y="2490"/>
                <a:ext cx="354" cy="383"/>
                <a:chOff x="3241" y="2490"/>
                <a:chExt cx="354" cy="383"/>
              </a:xfrm>
            </p:grpSpPr>
            <p:sp>
              <p:nvSpPr>
                <p:cNvPr id="28705" name="AutoShape 24"/>
                <p:cNvSpPr>
                  <a:spLocks noChangeArrowheads="1"/>
                </p:cNvSpPr>
                <p:nvPr/>
              </p:nvSpPr>
              <p:spPr bwMode="auto">
                <a:xfrm>
                  <a:off x="3241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06" name="AutoShape 25"/>
                <p:cNvSpPr>
                  <a:spLocks noChangeArrowheads="1"/>
                </p:cNvSpPr>
                <p:nvPr/>
              </p:nvSpPr>
              <p:spPr bwMode="auto">
                <a:xfrm>
                  <a:off x="3241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28696" name="Group 26"/>
              <p:cNvGrpSpPr>
                <a:grpSpLocks/>
              </p:cNvGrpSpPr>
              <p:nvPr/>
            </p:nvGrpSpPr>
            <p:grpSpPr bwMode="auto">
              <a:xfrm>
                <a:off x="3596" y="2490"/>
                <a:ext cx="354" cy="383"/>
                <a:chOff x="3596" y="2490"/>
                <a:chExt cx="354" cy="383"/>
              </a:xfrm>
            </p:grpSpPr>
            <p:sp>
              <p:nvSpPr>
                <p:cNvPr id="28703" name="AutoShape 27"/>
                <p:cNvSpPr>
                  <a:spLocks noChangeArrowheads="1"/>
                </p:cNvSpPr>
                <p:nvPr/>
              </p:nvSpPr>
              <p:spPr bwMode="auto">
                <a:xfrm>
                  <a:off x="359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04" name="AutoShape 28"/>
                <p:cNvSpPr>
                  <a:spLocks noChangeArrowheads="1"/>
                </p:cNvSpPr>
                <p:nvPr/>
              </p:nvSpPr>
              <p:spPr bwMode="auto">
                <a:xfrm>
                  <a:off x="359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28697" name="Group 29"/>
              <p:cNvGrpSpPr>
                <a:grpSpLocks/>
              </p:cNvGrpSpPr>
              <p:nvPr/>
            </p:nvGrpSpPr>
            <p:grpSpPr bwMode="auto">
              <a:xfrm>
                <a:off x="3951" y="2490"/>
                <a:ext cx="355" cy="383"/>
                <a:chOff x="3951" y="2490"/>
                <a:chExt cx="355" cy="383"/>
              </a:xfrm>
            </p:grpSpPr>
            <p:sp>
              <p:nvSpPr>
                <p:cNvPr id="28701" name="AutoShape 30"/>
                <p:cNvSpPr>
                  <a:spLocks noChangeArrowheads="1"/>
                </p:cNvSpPr>
                <p:nvPr/>
              </p:nvSpPr>
              <p:spPr bwMode="auto">
                <a:xfrm>
                  <a:off x="395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02" name="AutoShape 31"/>
                <p:cNvSpPr>
                  <a:spLocks noChangeArrowheads="1"/>
                </p:cNvSpPr>
                <p:nvPr/>
              </p:nvSpPr>
              <p:spPr bwMode="auto">
                <a:xfrm>
                  <a:off x="395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8698" name="Group 32"/>
              <p:cNvGrpSpPr>
                <a:grpSpLocks/>
              </p:cNvGrpSpPr>
              <p:nvPr/>
            </p:nvGrpSpPr>
            <p:grpSpPr bwMode="auto">
              <a:xfrm>
                <a:off x="4307" y="2490"/>
                <a:ext cx="354" cy="383"/>
                <a:chOff x="4307" y="2490"/>
                <a:chExt cx="354" cy="383"/>
              </a:xfrm>
            </p:grpSpPr>
            <p:sp>
              <p:nvSpPr>
                <p:cNvPr id="28699" name="AutoShape 33"/>
                <p:cNvSpPr>
                  <a:spLocks noChangeArrowheads="1"/>
                </p:cNvSpPr>
                <p:nvPr/>
              </p:nvSpPr>
              <p:spPr bwMode="auto">
                <a:xfrm>
                  <a:off x="4307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ea typeface="Lucida Sans Unicode" pitchFamily="34" charset="0"/>
                  </a:endParaRPr>
                </a:p>
              </p:txBody>
            </p:sp>
            <p:sp>
              <p:nvSpPr>
                <p:cNvPr id="28700" name="AutoShape 34"/>
                <p:cNvSpPr>
                  <a:spLocks noChangeArrowheads="1"/>
                </p:cNvSpPr>
                <p:nvPr/>
              </p:nvSpPr>
              <p:spPr bwMode="auto">
                <a:xfrm>
                  <a:off x="4307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sz="18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itchFamily="32" charset="0"/>
                      <a:ea typeface="Lucida Sans Unicode" pitchFamily="34" charset="0"/>
                    </a:rPr>
                    <a:t>3</a:t>
                  </a:r>
                </a:p>
              </p:txBody>
            </p:sp>
          </p:grpSp>
        </p:grpSp>
        <p:sp>
          <p:nvSpPr>
            <p:cNvPr id="28678" name="AutoShape 35"/>
            <p:cNvSpPr>
              <a:spLocks noChangeArrowheads="1"/>
            </p:cNvSpPr>
            <p:nvPr/>
          </p:nvSpPr>
          <p:spPr bwMode="auto">
            <a:xfrm>
              <a:off x="1014" y="2874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0</a:t>
              </a:r>
            </a:p>
          </p:txBody>
        </p:sp>
        <p:sp>
          <p:nvSpPr>
            <p:cNvPr id="28679" name="AutoShape 36"/>
            <p:cNvSpPr>
              <a:spLocks noChangeArrowheads="1"/>
            </p:cNvSpPr>
            <p:nvPr/>
          </p:nvSpPr>
          <p:spPr bwMode="auto">
            <a:xfrm>
              <a:off x="1310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20</a:t>
              </a:r>
            </a:p>
          </p:txBody>
        </p:sp>
        <p:sp>
          <p:nvSpPr>
            <p:cNvPr id="28680" name="AutoShape 37"/>
            <p:cNvSpPr>
              <a:spLocks noChangeArrowheads="1"/>
            </p:cNvSpPr>
            <p:nvPr/>
          </p:nvSpPr>
          <p:spPr bwMode="auto">
            <a:xfrm>
              <a:off x="1646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37</a:t>
              </a:r>
            </a:p>
          </p:txBody>
        </p:sp>
        <p:sp>
          <p:nvSpPr>
            <p:cNvPr id="28681" name="AutoShape 38"/>
            <p:cNvSpPr>
              <a:spLocks noChangeArrowheads="1"/>
            </p:cNvSpPr>
            <p:nvPr/>
          </p:nvSpPr>
          <p:spPr bwMode="auto">
            <a:xfrm>
              <a:off x="2026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57</a:t>
              </a:r>
            </a:p>
          </p:txBody>
        </p:sp>
        <p:sp>
          <p:nvSpPr>
            <p:cNvPr id="28682" name="AutoShape 39"/>
            <p:cNvSpPr>
              <a:spLocks noChangeArrowheads="1"/>
            </p:cNvSpPr>
            <p:nvPr/>
          </p:nvSpPr>
          <p:spPr bwMode="auto">
            <a:xfrm>
              <a:off x="2414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77</a:t>
              </a:r>
            </a:p>
          </p:txBody>
        </p:sp>
        <p:sp>
          <p:nvSpPr>
            <p:cNvPr id="28683" name="AutoShape 40"/>
            <p:cNvSpPr>
              <a:spLocks noChangeArrowheads="1"/>
            </p:cNvSpPr>
            <p:nvPr/>
          </p:nvSpPr>
          <p:spPr bwMode="auto">
            <a:xfrm>
              <a:off x="2750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97</a:t>
              </a:r>
            </a:p>
          </p:txBody>
        </p:sp>
        <p:sp>
          <p:nvSpPr>
            <p:cNvPr id="28684" name="AutoShape 41"/>
            <p:cNvSpPr>
              <a:spLocks noChangeArrowheads="1"/>
            </p:cNvSpPr>
            <p:nvPr/>
          </p:nvSpPr>
          <p:spPr bwMode="auto">
            <a:xfrm>
              <a:off x="3046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117</a:t>
              </a:r>
            </a:p>
          </p:txBody>
        </p:sp>
        <p:sp>
          <p:nvSpPr>
            <p:cNvPr id="28685" name="AutoShape 42"/>
            <p:cNvSpPr>
              <a:spLocks noChangeArrowheads="1"/>
            </p:cNvSpPr>
            <p:nvPr/>
          </p:nvSpPr>
          <p:spPr bwMode="auto">
            <a:xfrm>
              <a:off x="3430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121</a:t>
              </a:r>
            </a:p>
          </p:txBody>
        </p:sp>
        <p:sp>
          <p:nvSpPr>
            <p:cNvPr id="28686" name="AutoShape 43"/>
            <p:cNvSpPr>
              <a:spLocks noChangeArrowheads="1"/>
            </p:cNvSpPr>
            <p:nvPr/>
          </p:nvSpPr>
          <p:spPr bwMode="auto">
            <a:xfrm>
              <a:off x="3766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134</a:t>
              </a:r>
            </a:p>
          </p:txBody>
        </p:sp>
        <p:sp>
          <p:nvSpPr>
            <p:cNvPr id="28687" name="AutoShape 44"/>
            <p:cNvSpPr>
              <a:spLocks noChangeArrowheads="1"/>
            </p:cNvSpPr>
            <p:nvPr/>
          </p:nvSpPr>
          <p:spPr bwMode="auto">
            <a:xfrm>
              <a:off x="4134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154</a:t>
              </a:r>
            </a:p>
          </p:txBody>
        </p:sp>
        <p:sp>
          <p:nvSpPr>
            <p:cNvPr id="28688" name="AutoShape 45"/>
            <p:cNvSpPr>
              <a:spLocks noChangeArrowheads="1"/>
            </p:cNvSpPr>
            <p:nvPr/>
          </p:nvSpPr>
          <p:spPr bwMode="auto">
            <a:xfrm>
              <a:off x="4470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  <a:latin typeface="Helvetica" pitchFamily="32" charset="0"/>
                  <a:ea typeface="Lucida Sans Unicode" pitchFamily="34" charset="0"/>
                </a:rPr>
                <a:t>162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4634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 RR with Time Quantum = 20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029450" cy="4114800"/>
          </a:xfrm>
        </p:spPr>
        <p:txBody>
          <a:bodyPr/>
          <a:lstStyle/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 i="1"/>
              <a:t>		P</a:t>
            </a:r>
            <a:r>
              <a:rPr lang="en-US" i="1" baseline="-25000"/>
              <a:t>1	</a:t>
            </a:r>
            <a:r>
              <a:rPr lang="en-US"/>
              <a:t>53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2	 </a:t>
            </a:r>
            <a:r>
              <a:rPr lang="en-US"/>
              <a:t>17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3	</a:t>
            </a:r>
            <a:r>
              <a:rPr lang="en-US"/>
              <a:t>68</a:t>
            </a:r>
          </a:p>
          <a:p>
            <a:pPr>
              <a:buFontTx/>
              <a:buNone/>
              <a:tabLst>
                <a:tab pos="2222500" algn="ctr"/>
                <a:tab pos="3997325" algn="ctr"/>
              </a:tabLst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i="1" baseline="-25000"/>
              <a:t>4	 </a:t>
            </a:r>
            <a:r>
              <a:rPr lang="en-US"/>
              <a:t>24</a:t>
            </a:r>
          </a:p>
          <a:p>
            <a:pPr>
              <a:tabLst>
                <a:tab pos="2222500" algn="ctr"/>
                <a:tab pos="3997325" algn="ctr"/>
              </a:tabLst>
            </a:pPr>
            <a:r>
              <a:rPr lang="en-US"/>
              <a:t>The Gantt chart is: 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  <a:p>
            <a:pPr>
              <a:tabLst>
                <a:tab pos="2222500" algn="ctr"/>
                <a:tab pos="3997325" algn="ctr"/>
              </a:tabLst>
            </a:pPr>
            <a:r>
              <a:rPr lang="en-US"/>
              <a:t>Typically, higher average turnaround than SJF, but better </a:t>
            </a:r>
            <a:r>
              <a:rPr lang="en-US" i="1"/>
              <a:t>response</a:t>
            </a:r>
            <a:r>
              <a:rPr lang="en-US"/>
              <a:t>.</a:t>
            </a:r>
          </a:p>
        </p:txBody>
      </p:sp>
      <p:grpSp>
        <p:nvGrpSpPr>
          <p:cNvPr id="47118" name="Group 14"/>
          <p:cNvGrpSpPr>
            <a:grpSpLocks/>
          </p:cNvGrpSpPr>
          <p:nvPr/>
        </p:nvGrpSpPr>
        <p:grpSpPr bwMode="auto">
          <a:xfrm>
            <a:off x="1828800" y="4191000"/>
            <a:ext cx="5638800" cy="609600"/>
            <a:chOff x="1152" y="2736"/>
            <a:chExt cx="2880" cy="288"/>
          </a:xfrm>
        </p:grpSpPr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1152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47109" name="Rectangle 5"/>
            <p:cNvSpPr>
              <a:spLocks noChangeArrowheads="1"/>
            </p:cNvSpPr>
            <p:nvPr/>
          </p:nvSpPr>
          <p:spPr bwMode="auto">
            <a:xfrm>
              <a:off x="1440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47110" name="Rectangle 6"/>
            <p:cNvSpPr>
              <a:spLocks noChangeArrowheads="1"/>
            </p:cNvSpPr>
            <p:nvPr/>
          </p:nvSpPr>
          <p:spPr bwMode="auto">
            <a:xfrm>
              <a:off x="1728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47111" name="Rectangle 7"/>
            <p:cNvSpPr>
              <a:spLocks noChangeArrowheads="1"/>
            </p:cNvSpPr>
            <p:nvPr/>
          </p:nvSpPr>
          <p:spPr bwMode="auto">
            <a:xfrm>
              <a:off x="2016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4</a:t>
              </a:r>
            </a:p>
          </p:txBody>
        </p:sp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2304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47113" name="Rectangle 9"/>
            <p:cNvSpPr>
              <a:spLocks noChangeArrowheads="1"/>
            </p:cNvSpPr>
            <p:nvPr/>
          </p:nvSpPr>
          <p:spPr bwMode="auto">
            <a:xfrm>
              <a:off x="2592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47114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4</a:t>
              </a:r>
            </a:p>
          </p:txBody>
        </p:sp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3168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47116" name="Rectangle 12"/>
            <p:cNvSpPr>
              <a:spLocks noChangeArrowheads="1"/>
            </p:cNvSpPr>
            <p:nvPr/>
          </p:nvSpPr>
          <p:spPr bwMode="auto">
            <a:xfrm>
              <a:off x="3456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47117" name="Rectangle 13"/>
            <p:cNvSpPr>
              <a:spLocks noChangeArrowheads="1"/>
            </p:cNvSpPr>
            <p:nvPr/>
          </p:nvSpPr>
          <p:spPr bwMode="auto">
            <a:xfrm>
              <a:off x="3744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</p:grp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1676400" y="4800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</a:t>
            </a:r>
          </a:p>
        </p:txBody>
      </p:sp>
      <p:sp>
        <p:nvSpPr>
          <p:cNvPr id="47120" name="Text Box 16"/>
          <p:cNvSpPr txBox="1">
            <a:spLocks noChangeArrowheads="1"/>
          </p:cNvSpPr>
          <p:nvPr/>
        </p:nvSpPr>
        <p:spPr bwMode="auto">
          <a:xfrm>
            <a:off x="2146300" y="4800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2679700" y="4800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7122" name="Text Box 18"/>
          <p:cNvSpPr txBox="1">
            <a:spLocks noChangeArrowheads="1"/>
          </p:cNvSpPr>
          <p:nvPr/>
        </p:nvSpPr>
        <p:spPr bwMode="auto">
          <a:xfrm>
            <a:off x="3282950" y="4800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57</a:t>
            </a:r>
          </a:p>
        </p:txBody>
      </p:sp>
      <p:sp>
        <p:nvSpPr>
          <p:cNvPr id="47123" name="Text Box 19"/>
          <p:cNvSpPr txBox="1">
            <a:spLocks noChangeArrowheads="1"/>
          </p:cNvSpPr>
          <p:nvPr/>
        </p:nvSpPr>
        <p:spPr bwMode="auto">
          <a:xfrm>
            <a:off x="3898900" y="4800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77</a:t>
            </a:r>
          </a:p>
        </p:txBody>
      </p:sp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4432300" y="4800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97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4902200" y="48006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117</a:t>
            </a:r>
          </a:p>
        </p:txBody>
      </p:sp>
      <p:sp>
        <p:nvSpPr>
          <p:cNvPr id="47126" name="Text Box 22"/>
          <p:cNvSpPr txBox="1">
            <a:spLocks noChangeArrowheads="1"/>
          </p:cNvSpPr>
          <p:nvPr/>
        </p:nvSpPr>
        <p:spPr bwMode="auto">
          <a:xfrm>
            <a:off x="5511800" y="48006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121</a:t>
            </a:r>
          </a:p>
        </p:txBody>
      </p:sp>
      <p:sp>
        <p:nvSpPr>
          <p:cNvPr id="47128" name="Text Box 24"/>
          <p:cNvSpPr txBox="1">
            <a:spLocks noChangeArrowheads="1"/>
          </p:cNvSpPr>
          <p:nvPr/>
        </p:nvSpPr>
        <p:spPr bwMode="auto">
          <a:xfrm>
            <a:off x="6045200" y="48006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134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6629400" y="48006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154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7162800" y="4800600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5300"/>
            <a:ext cx="8229600" cy="457200"/>
          </a:xfrm>
        </p:spPr>
        <p:txBody>
          <a:bodyPr/>
          <a:lstStyle/>
          <a:p>
            <a:r>
              <a:rPr lang="en-US" sz="2200"/>
              <a:t>How a Smaller Time Quantum Increases Context Switches</a:t>
            </a:r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2"/>
          <a:srcRect l="33292" t="23140" r="28781" b="55464"/>
          <a:stretch>
            <a:fillRect/>
          </a:stretch>
        </p:blipFill>
        <p:spPr bwMode="auto">
          <a:xfrm>
            <a:off x="1016000" y="1919288"/>
            <a:ext cx="7213600" cy="325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8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495300"/>
            <a:ext cx="8305800" cy="457200"/>
          </a:xfrm>
        </p:spPr>
        <p:txBody>
          <a:bodyPr/>
          <a:lstStyle/>
          <a:p>
            <a:r>
              <a:rPr lang="en-US" sz="2600"/>
              <a:t>Turnaround Time Varies With The Time Quantum</a:t>
            </a:r>
          </a:p>
        </p:txBody>
      </p:sp>
      <p:pic>
        <p:nvPicPr>
          <p:cNvPr id="58373" name="Picture 1029"/>
          <p:cNvPicPr>
            <a:picLocks noChangeAspect="1" noChangeArrowheads="1"/>
          </p:cNvPicPr>
          <p:nvPr/>
        </p:nvPicPr>
        <p:blipFill>
          <a:blip r:embed="rId2"/>
          <a:srcRect l="3073" t="676" r="2827" b="891"/>
          <a:stretch>
            <a:fillRect/>
          </a:stretch>
        </p:blipFill>
        <p:spPr bwMode="auto">
          <a:xfrm>
            <a:off x="1685925" y="1362075"/>
            <a:ext cx="607695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Multilevel Queue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Ready queue is partitioned into separate queues:</a:t>
            </a:r>
            <a:br>
              <a:rPr lang="en-US"/>
            </a:br>
            <a:r>
              <a:rPr lang="en-US"/>
              <a:t>foreground (interactive)</a:t>
            </a:r>
            <a:br>
              <a:rPr lang="en-US"/>
            </a:br>
            <a:r>
              <a:rPr lang="en-US"/>
              <a:t>background (batch)</a:t>
            </a:r>
          </a:p>
          <a:p>
            <a:r>
              <a:rPr lang="en-US"/>
              <a:t>Each queue has its own scheduling algorithm, </a:t>
            </a:r>
            <a:br>
              <a:rPr lang="en-US"/>
            </a:br>
            <a:r>
              <a:rPr lang="en-US"/>
              <a:t>foreground – RR</a:t>
            </a:r>
            <a:br>
              <a:rPr lang="en-US"/>
            </a:br>
            <a:r>
              <a:rPr lang="en-US"/>
              <a:t>background – FCFS</a:t>
            </a:r>
          </a:p>
          <a:p>
            <a:r>
              <a:rPr lang="en-US"/>
              <a:t>Scheduling must be done between the queues.</a:t>
            </a:r>
          </a:p>
          <a:p>
            <a:pPr lvl="1"/>
            <a:r>
              <a:rPr lang="en-US"/>
              <a:t>Fixed priority scheduling; i.e., serve all from foreground then from background.  Possibility of starvation.</a:t>
            </a:r>
          </a:p>
          <a:p>
            <a:pPr lvl="1"/>
            <a:r>
              <a:rPr lang="en-US"/>
              <a:t>Time slice – each queue gets a certain amount of CPU time which it can schedule amongst its processes; i.e.,</a:t>
            </a:r>
            <a:br>
              <a:rPr lang="en-US"/>
            </a:br>
            <a:r>
              <a:rPr lang="en-US"/>
              <a:t>80% to foreground in RR</a:t>
            </a:r>
          </a:p>
          <a:p>
            <a:pPr lvl="1"/>
            <a:r>
              <a:rPr lang="en-US"/>
              <a:t>20% to background in FCFS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Multilevel Queue Scheduling</a:t>
            </a:r>
          </a:p>
        </p:txBody>
      </p:sp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2"/>
          <a:srcRect l="569" t="8675" r="571" b="9201"/>
          <a:stretch>
            <a:fillRect/>
          </a:stretch>
        </p:blipFill>
        <p:spPr bwMode="auto">
          <a:xfrm>
            <a:off x="1579563" y="1595438"/>
            <a:ext cx="6330950" cy="420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Multilevel Feedback Queue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process can move between the various queues; aging can be implemented this way.</a:t>
            </a:r>
          </a:p>
          <a:p>
            <a:r>
              <a:rPr lang="en-US"/>
              <a:t>Multilevel-feedback-queue scheduler defined by the following parameters:</a:t>
            </a:r>
          </a:p>
          <a:p>
            <a:pPr lvl="1"/>
            <a:r>
              <a:rPr lang="en-US"/>
              <a:t>number of queues</a:t>
            </a:r>
          </a:p>
          <a:p>
            <a:pPr lvl="1"/>
            <a:r>
              <a:rPr lang="en-US"/>
              <a:t>scheduling algorithms for each queue</a:t>
            </a:r>
          </a:p>
          <a:p>
            <a:pPr lvl="1"/>
            <a:r>
              <a:rPr lang="en-US"/>
              <a:t>method used to determine when to upgrade a process</a:t>
            </a:r>
          </a:p>
          <a:p>
            <a:pPr lvl="1"/>
            <a:r>
              <a:rPr lang="en-US"/>
              <a:t>method used to determine when to demote a process</a:t>
            </a:r>
          </a:p>
          <a:p>
            <a:pPr lvl="1"/>
            <a:r>
              <a:rPr lang="en-US"/>
              <a:t>method used to determine which queue a process will enter when that process needs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04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Multilevel Feedback Queues</a:t>
            </a:r>
          </a:p>
        </p:txBody>
      </p:sp>
      <p:pic>
        <p:nvPicPr>
          <p:cNvPr id="60421" name="Picture 1029"/>
          <p:cNvPicPr>
            <a:picLocks noChangeAspect="1" noChangeArrowheads="1"/>
          </p:cNvPicPr>
          <p:nvPr/>
        </p:nvPicPr>
        <p:blipFill>
          <a:blip r:embed="rId2"/>
          <a:srcRect l="514" t="12209" r="537" b="12032"/>
          <a:stretch>
            <a:fillRect/>
          </a:stretch>
        </p:blipFill>
        <p:spPr bwMode="auto">
          <a:xfrm>
            <a:off x="1150938" y="1619250"/>
            <a:ext cx="6723062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Multilevel Feedback Queue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queues: 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0</a:t>
            </a:r>
            <a:r>
              <a:rPr lang="en-US"/>
              <a:t> – time quantum 8 milliseconds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 – time quantum 16 milliseconds</a:t>
            </a:r>
          </a:p>
          <a:p>
            <a:pPr lvl="1"/>
            <a:r>
              <a:rPr lang="en-US" i="1"/>
              <a:t>Q</a:t>
            </a:r>
            <a:r>
              <a:rPr lang="en-US" baseline="-25000"/>
              <a:t>2</a:t>
            </a:r>
            <a:r>
              <a:rPr lang="en-US"/>
              <a:t> – FCFS</a:t>
            </a:r>
          </a:p>
          <a:p>
            <a:r>
              <a:rPr lang="en-US"/>
              <a:t>Scheduling</a:t>
            </a:r>
          </a:p>
          <a:p>
            <a:pPr lvl="1"/>
            <a:r>
              <a:rPr lang="en-US"/>
              <a:t>A new job enters queue </a:t>
            </a:r>
            <a:r>
              <a:rPr lang="en-US" i="1"/>
              <a:t>Q</a:t>
            </a:r>
            <a:r>
              <a:rPr lang="en-US" i="1" baseline="-25000"/>
              <a:t>0</a:t>
            </a:r>
            <a:r>
              <a:rPr lang="en-US" i="1"/>
              <a:t> </a:t>
            </a:r>
            <a:r>
              <a:rPr lang="en-US"/>
              <a:t>which is served</a:t>
            </a:r>
            <a:r>
              <a:rPr lang="en-US" i="1"/>
              <a:t> </a:t>
            </a:r>
            <a:r>
              <a:rPr lang="en-US"/>
              <a:t>FCFS. When it gains CPU, job receives 8 milliseconds.  If it does not finish in 8 milliseconds, job is moved to queue </a:t>
            </a:r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.</a:t>
            </a:r>
          </a:p>
          <a:p>
            <a:pPr lvl="1"/>
            <a:r>
              <a:rPr lang="en-US"/>
              <a:t>At </a:t>
            </a:r>
            <a:r>
              <a:rPr lang="en-US" i="1"/>
              <a:t>Q</a:t>
            </a:r>
            <a:r>
              <a:rPr lang="en-US" baseline="-25000"/>
              <a:t>1</a:t>
            </a:r>
            <a:r>
              <a:rPr lang="en-US"/>
              <a:t> job is again served FCFS and receives 16 additional milliseconds.  If it still does not complete, it is preempted and moved to queue </a:t>
            </a:r>
            <a:r>
              <a:rPr lang="en-US" i="1"/>
              <a:t>Q</a:t>
            </a:r>
            <a:r>
              <a:rPr lang="en-US" baseline="-25000"/>
              <a:t>2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Multiple-Processor Scheduling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CPU scheduling more complex when multiple CPUs are available.</a:t>
            </a:r>
          </a:p>
          <a:p>
            <a:r>
              <a:rPr lang="en-US" i="1"/>
              <a:t>Homogeneous processors</a:t>
            </a:r>
            <a:r>
              <a:rPr lang="en-US"/>
              <a:t> within a multiprocessor.</a:t>
            </a:r>
          </a:p>
          <a:p>
            <a:r>
              <a:rPr lang="en-US" i="1"/>
              <a:t>Load sharing</a:t>
            </a:r>
            <a:r>
              <a:rPr lang="en-US"/>
              <a:t> </a:t>
            </a:r>
          </a:p>
          <a:p>
            <a:r>
              <a:rPr lang="en-US" i="1"/>
              <a:t>Asymmetric multiprocessing</a:t>
            </a:r>
            <a:r>
              <a:rPr lang="en-US"/>
              <a:t> – only one processor accesses the system data structures, alleviating the need for data sharing.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Real-Time Scheduling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Hard real-time</a:t>
            </a:r>
            <a:r>
              <a:rPr lang="en-US"/>
              <a:t> systems – required to complete a critical task within a guaranteed amount of time.</a:t>
            </a:r>
          </a:p>
          <a:p>
            <a:r>
              <a:rPr lang="en-US" i="1"/>
              <a:t>Soft real-time</a:t>
            </a:r>
            <a:r>
              <a:rPr lang="en-US"/>
              <a:t> computing – requires that critical processes receive priority over less fortunate ones.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 Latency</a:t>
            </a:r>
          </a:p>
        </p:txBody>
      </p:sp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2"/>
          <a:srcRect l="28979" t="16327" r="30817" b="50131"/>
          <a:stretch>
            <a:fillRect/>
          </a:stretch>
        </p:blipFill>
        <p:spPr bwMode="auto">
          <a:xfrm>
            <a:off x="1219200" y="1420813"/>
            <a:ext cx="6756400" cy="451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 Evaluation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Deterministic modeling – takes a particular predetermined workload and defines the performance of each algorithm  for that workload.</a:t>
            </a:r>
          </a:p>
          <a:p>
            <a:r>
              <a:rPr lang="en-US"/>
              <a:t>Queuing models</a:t>
            </a:r>
          </a:p>
          <a:p>
            <a:r>
              <a:rPr lang="en-US"/>
              <a:t>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495300"/>
            <a:ext cx="7743825" cy="457200"/>
          </a:xfrm>
        </p:spPr>
        <p:txBody>
          <a:bodyPr/>
          <a:lstStyle/>
          <a:p>
            <a:r>
              <a:rPr lang="en-US"/>
              <a:t>Evaluation of CPU Schedulers by Simulation</a:t>
            </a:r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2"/>
          <a:srcRect l="27383" t="17496" r="32048" b="51474"/>
          <a:stretch>
            <a:fillRect/>
          </a:stretch>
        </p:blipFill>
        <p:spPr bwMode="auto">
          <a:xfrm>
            <a:off x="635000" y="1192213"/>
            <a:ext cx="7705725" cy="471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vi.pot">
  <a:themeElements>
    <a:clrScheme name="avi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vi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avi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vi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Office\Templates\Presentations\avi.pot</Template>
  <TotalTime>24465</TotalTime>
  <Words>1372</Words>
  <Application>Microsoft Office PowerPoint</Application>
  <PresentationFormat>On-screen Show (4:3)</PresentationFormat>
  <Paragraphs>375</Paragraphs>
  <Slides>36</Slides>
  <Notes>4</Notes>
  <HiddenSlides>11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avi.pot</vt:lpstr>
      <vt:lpstr>Equation</vt:lpstr>
      <vt:lpstr>Module 5:  CPU Scheduling</vt:lpstr>
      <vt:lpstr>Basic Concepts</vt:lpstr>
      <vt:lpstr>Alternating Sequence of CPU And I/O Bursts</vt:lpstr>
      <vt:lpstr>Histogram of CPU-burst Times</vt:lpstr>
      <vt:lpstr>CPU Scheduler</vt:lpstr>
      <vt:lpstr>Dispatcher</vt:lpstr>
      <vt:lpstr>CPU scheduling</vt:lpstr>
      <vt:lpstr>Non-preemptive or preemptive</vt:lpstr>
      <vt:lpstr>Scheduling Criteria</vt:lpstr>
      <vt:lpstr>Optimization Criteria</vt:lpstr>
      <vt:lpstr>First-Come, First-Served (FCFS) Scheduling</vt:lpstr>
      <vt:lpstr>FCFS Scheduling (Cont.)</vt:lpstr>
      <vt:lpstr>Shortest-Job-First (SJF) Scheduling</vt:lpstr>
      <vt:lpstr>Example #1: Non-Preemptive SJF (simultaneous arrival)</vt:lpstr>
      <vt:lpstr>Example #2: Non-Preemptive SJF (varied arrival times)</vt:lpstr>
      <vt:lpstr>Example #3: Preemptive SJF (Shortest-remaining-time-first)</vt:lpstr>
      <vt:lpstr>Example of Non-Preemptive SJF</vt:lpstr>
      <vt:lpstr>Example of Preemptive SJF</vt:lpstr>
      <vt:lpstr>Determining Length of Next CPU Burst</vt:lpstr>
      <vt:lpstr>Examples of Exponential Averaging</vt:lpstr>
      <vt:lpstr>Priority Scheduling</vt:lpstr>
      <vt:lpstr>Round Robin (RR)</vt:lpstr>
      <vt:lpstr>Example of RR with Time Quantum = 20</vt:lpstr>
      <vt:lpstr>Example:  RR with Time Quantum = 20</vt:lpstr>
      <vt:lpstr>How a Smaller Time Quantum Increases Context Switches</vt:lpstr>
      <vt:lpstr>Turnaround Time Varies With The Time Quantum</vt:lpstr>
      <vt:lpstr>Multilevel Queue</vt:lpstr>
      <vt:lpstr>Multilevel Queue Scheduling</vt:lpstr>
      <vt:lpstr>Multilevel Feedback Queue</vt:lpstr>
      <vt:lpstr>Multilevel Feedback Queues</vt:lpstr>
      <vt:lpstr>Example of Multilevel Feedback Queue</vt:lpstr>
      <vt:lpstr>Multiple-Processor Scheduling</vt:lpstr>
      <vt:lpstr>Real-Time Scheduling</vt:lpstr>
      <vt:lpstr>Dispatch Latency</vt:lpstr>
      <vt:lpstr>Algorithm Evaluation</vt:lpstr>
      <vt:lpstr>Evaluation of CPU Schedulers by Simulation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 CPU Scheduling</dc:title>
  <dc:creator>Marilyn Turnamian</dc:creator>
  <cp:lastModifiedBy>aa</cp:lastModifiedBy>
  <cp:revision>54</cp:revision>
  <cp:lastPrinted>1999-07-21T15:12:35Z</cp:lastPrinted>
  <dcterms:created xsi:type="dcterms:W3CDTF">1999-07-20T17:58:50Z</dcterms:created>
  <dcterms:modified xsi:type="dcterms:W3CDTF">2018-06-28T00:01:23Z</dcterms:modified>
</cp:coreProperties>
</file>