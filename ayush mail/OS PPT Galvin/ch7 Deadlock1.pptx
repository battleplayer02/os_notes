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28"/>
  </p:notesMasterIdLst>
  <p:handoutMasterIdLst>
    <p:handoutMasterId r:id="rId29"/>
  </p:handoutMasterIdLst>
  <p:sldIdLst>
    <p:sldId id="421" r:id="rId2"/>
    <p:sldId id="588" r:id="rId3"/>
    <p:sldId id="256" r:id="rId4"/>
    <p:sldId id="543" r:id="rId5"/>
    <p:sldId id="570" r:id="rId6"/>
    <p:sldId id="549" r:id="rId7"/>
    <p:sldId id="550" r:id="rId8"/>
    <p:sldId id="551" r:id="rId9"/>
    <p:sldId id="552" r:id="rId10"/>
    <p:sldId id="553" r:id="rId11"/>
    <p:sldId id="554" r:id="rId12"/>
    <p:sldId id="555" r:id="rId13"/>
    <p:sldId id="569" r:id="rId14"/>
    <p:sldId id="571" r:id="rId15"/>
    <p:sldId id="573" r:id="rId16"/>
    <p:sldId id="574" r:id="rId17"/>
    <p:sldId id="579" r:id="rId18"/>
    <p:sldId id="575" r:id="rId19"/>
    <p:sldId id="576" r:id="rId20"/>
    <p:sldId id="586" r:id="rId21"/>
    <p:sldId id="581" r:id="rId22"/>
    <p:sldId id="582" r:id="rId23"/>
    <p:sldId id="583" r:id="rId24"/>
    <p:sldId id="584" r:id="rId25"/>
    <p:sldId id="587" r:id="rId26"/>
    <p:sldId id="426" r:id="rId27"/>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Helvetica"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itchFamily="34" charset="0"/>
        <a:ea typeface="+mn-ea"/>
        <a:cs typeface="+mn-cs"/>
      </a:defRPr>
    </a:lvl5pPr>
    <a:lvl6pPr marL="2286000" algn="l" defTabSz="914400" rtl="0" eaLnBrk="1" latinLnBrk="0" hangingPunct="1">
      <a:defRPr kern="1200">
        <a:solidFill>
          <a:schemeClr val="tx1"/>
        </a:solidFill>
        <a:latin typeface="Helvetica" pitchFamily="34" charset="0"/>
        <a:ea typeface="+mn-ea"/>
        <a:cs typeface="+mn-cs"/>
      </a:defRPr>
    </a:lvl6pPr>
    <a:lvl7pPr marL="2743200" algn="l" defTabSz="914400" rtl="0" eaLnBrk="1" latinLnBrk="0" hangingPunct="1">
      <a:defRPr kern="1200">
        <a:solidFill>
          <a:schemeClr val="tx1"/>
        </a:solidFill>
        <a:latin typeface="Helvetica" pitchFamily="34" charset="0"/>
        <a:ea typeface="+mn-ea"/>
        <a:cs typeface="+mn-cs"/>
      </a:defRPr>
    </a:lvl7pPr>
    <a:lvl8pPr marL="3200400" algn="l" defTabSz="914400" rtl="0" eaLnBrk="1" latinLnBrk="0" hangingPunct="1">
      <a:defRPr kern="1200">
        <a:solidFill>
          <a:schemeClr val="tx1"/>
        </a:solidFill>
        <a:latin typeface="Helvetica" pitchFamily="34" charset="0"/>
        <a:ea typeface="+mn-ea"/>
        <a:cs typeface="+mn-cs"/>
      </a:defRPr>
    </a:lvl8pPr>
    <a:lvl9pPr marL="3657600" algn="l" defTabSz="914400" rtl="0" eaLnBrk="1" latinLnBrk="0" hangingPunct="1">
      <a:defRPr kern="1200">
        <a:solidFill>
          <a:schemeClr val="tx1"/>
        </a:solidFill>
        <a:latin typeface="Helvetic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CCFF"/>
    <a:srgbClr val="0033CC"/>
    <a:srgbClr val="FF0000"/>
    <a:srgbClr val="CC66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22" autoAdjust="0"/>
    <p:restoredTop sz="94660" autoAdjust="0"/>
  </p:normalViewPr>
  <p:slideViewPr>
    <p:cSldViewPr snapToGrid="0">
      <p:cViewPr>
        <p:scale>
          <a:sx n="66" d="100"/>
          <a:sy n="66" d="100"/>
        </p:scale>
        <p:origin x="-1512" y="-168"/>
      </p:cViewPr>
      <p:guideLst>
        <p:guide orient="horz" pos="806"/>
        <p:guide pos="5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69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149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defTabSz="966788">
              <a:defRPr sz="1400"/>
            </a:lvl1pPr>
          </a:lstStyle>
          <a:p>
            <a:endParaRPr lang="en-US" altLang="zh-TW"/>
          </a:p>
        </p:txBody>
      </p:sp>
      <p:sp>
        <p:nvSpPr>
          <p:cNvPr id="191491"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r" defTabSz="966788">
              <a:defRPr sz="1400"/>
            </a:lvl1pPr>
          </a:lstStyle>
          <a:p>
            <a:endParaRPr lang="en-US" altLang="zh-TW"/>
          </a:p>
        </p:txBody>
      </p:sp>
      <p:sp>
        <p:nvSpPr>
          <p:cNvPr id="191492"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defTabSz="966788">
              <a:defRPr sz="1400"/>
            </a:lvl1pPr>
          </a:lstStyle>
          <a:p>
            <a:endParaRPr lang="en-US" altLang="zh-TW"/>
          </a:p>
        </p:txBody>
      </p:sp>
      <p:sp>
        <p:nvSpPr>
          <p:cNvPr id="191493"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r" defTabSz="966788">
              <a:defRPr sz="1400"/>
            </a:lvl1pPr>
          </a:lstStyle>
          <a:p>
            <a:fld id="{FBA25C57-AF13-475E-B698-9CA12BF5C214}" type="slidenum">
              <a:rPr lang="en-US" altLang="zh-TW"/>
              <a:pPr/>
              <a:t>‹#›</a:t>
            </a:fld>
            <a:endParaRPr lang="en-US" altLang="zh-TW"/>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lvl1pPr defTabSz="966788">
              <a:defRPr sz="1400">
                <a:latin typeface="Times New Roman" pitchFamily="18" charset="0"/>
              </a:defRPr>
            </a:lvl1pPr>
          </a:lstStyle>
          <a:p>
            <a:endParaRPr lang="en-US" altLang="zh-TW"/>
          </a:p>
        </p:txBody>
      </p:sp>
      <p:sp>
        <p:nvSpPr>
          <p:cNvPr id="6147"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lvl1pPr algn="r" defTabSz="966788">
              <a:defRPr sz="1400">
                <a:latin typeface="Times New Roman" pitchFamily="18" charset="0"/>
              </a:defRPr>
            </a:lvl1pPr>
          </a:lstStyle>
          <a:p>
            <a:endParaRPr lang="en-US" altLang="zh-TW"/>
          </a:p>
        </p:txBody>
      </p:sp>
      <p:sp>
        <p:nvSpPr>
          <p:cNvPr id="44036" name="Rectangle 4"/>
          <p:cNvSpPr>
            <a:spLocks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47738" y="4862513"/>
            <a:ext cx="5203825" cy="4603750"/>
          </a:xfrm>
          <a:prstGeom prst="rect">
            <a:avLst/>
          </a:prstGeom>
          <a:noFill/>
          <a:ln w="9525">
            <a:noFill/>
            <a:miter lim="800000"/>
            <a:headEnd/>
            <a:tailEnd/>
          </a:ln>
          <a:effectLst/>
        </p:spPr>
        <p:txBody>
          <a:bodyPr vert="horz" wrap="none" lIns="96651" tIns="48326" rIns="96651" bIns="48326" numCol="1" anchor="ctr" anchorCtr="0" compatLnSpc="1">
            <a:prstTxWarp prst="textNoShape">
              <a:avLst/>
            </a:prstTxWarp>
          </a:bodyPr>
          <a:lstStyle/>
          <a:p>
            <a:pPr lvl="0"/>
            <a:r>
              <a:rPr lang="en-US" altLang="zh-TW" noProof="0" smtClean="0"/>
              <a:t>Click to edit Master text styles</a:t>
            </a:r>
          </a:p>
          <a:p>
            <a:pPr lvl="1"/>
            <a:r>
              <a:rPr lang="en-US" altLang="zh-TW" noProof="0" smtClean="0"/>
              <a:t>Second level</a:t>
            </a:r>
          </a:p>
          <a:p>
            <a:pPr lvl="2"/>
            <a:r>
              <a:rPr lang="en-US" altLang="zh-TW" noProof="0" smtClean="0"/>
              <a:t>Third level</a:t>
            </a:r>
          </a:p>
          <a:p>
            <a:pPr lvl="3"/>
            <a:r>
              <a:rPr lang="en-US" altLang="zh-TW" noProof="0" smtClean="0"/>
              <a:t>Fourth level</a:t>
            </a:r>
          </a:p>
          <a:p>
            <a:pPr lvl="4"/>
            <a:r>
              <a:rPr lang="en-US" altLang="zh-TW" noProof="0" smtClean="0"/>
              <a:t>Fifth level</a:t>
            </a:r>
          </a:p>
        </p:txBody>
      </p:sp>
      <p:sp>
        <p:nvSpPr>
          <p:cNvPr id="6150"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none" lIns="96651" tIns="48326" rIns="96651" bIns="48326" numCol="1" anchor="b" anchorCtr="0" compatLnSpc="1">
            <a:prstTxWarp prst="textNoShape">
              <a:avLst/>
            </a:prstTxWarp>
          </a:bodyPr>
          <a:lstStyle>
            <a:lvl1pPr defTabSz="966788">
              <a:defRPr sz="1400">
                <a:latin typeface="Times New Roman" pitchFamily="18" charset="0"/>
              </a:defRPr>
            </a:lvl1pPr>
          </a:lstStyle>
          <a:p>
            <a:endParaRPr lang="en-US" altLang="zh-TW"/>
          </a:p>
        </p:txBody>
      </p:sp>
      <p:sp>
        <p:nvSpPr>
          <p:cNvPr id="6151"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none" lIns="96651" tIns="48326" rIns="96651" bIns="48326" numCol="1" anchor="b" anchorCtr="0" compatLnSpc="1">
            <a:prstTxWarp prst="textNoShape">
              <a:avLst/>
            </a:prstTxWarp>
          </a:bodyPr>
          <a:lstStyle>
            <a:lvl1pPr algn="r" defTabSz="966788">
              <a:defRPr sz="1400">
                <a:latin typeface="Times New Roman" pitchFamily="18" charset="0"/>
              </a:defRPr>
            </a:lvl1pPr>
          </a:lstStyle>
          <a:p>
            <a:fld id="{83ACC2E5-2677-4F14-A1B8-4E17515A6BC8}" type="slidenum">
              <a:rPr lang="en-US" altLang="zh-TW"/>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5D433941-44F8-453E-9086-B8042F91B25B}" type="slidenum">
              <a:rPr lang="en-US" altLang="zh-TW"/>
              <a:pPr/>
              <a:t>6</a:t>
            </a:fld>
            <a:endParaRPr lang="en-US" altLang="zh-TW"/>
          </a:p>
        </p:txBody>
      </p:sp>
      <p:sp>
        <p:nvSpPr>
          <p:cNvPr id="45059" name="Rectangle 2"/>
          <p:cNvSpPr>
            <a:spLocks noRot="1" noChangeArrowheads="1" noTextEdit="1"/>
          </p:cNvSpPr>
          <p:nvPr>
            <p:ph type="sldImg"/>
          </p:nvPr>
        </p:nvSpPr>
        <p:spPr>
          <a:xfrm>
            <a:off x="1001713" y="774700"/>
            <a:ext cx="5097462" cy="3822700"/>
          </a:xfrm>
          <a:ln w="12700" cap="flat">
            <a:solidFill>
              <a:schemeClr val="tx1"/>
            </a:solidFill>
          </a:ln>
        </p:spPr>
      </p:sp>
      <p:sp>
        <p:nvSpPr>
          <p:cNvPr id="45060" name="Rectangle 3"/>
          <p:cNvSpPr>
            <a:spLocks noGrp="1" noChangeArrowheads="1"/>
          </p:cNvSpPr>
          <p:nvPr>
            <p:ph type="body" idx="1"/>
          </p:nvPr>
        </p:nvSpPr>
        <p:spPr>
          <a:xfrm>
            <a:off x="946150" y="4860925"/>
            <a:ext cx="5207000" cy="4606925"/>
          </a:xfrm>
          <a:noFill/>
          <a:ln/>
        </p:spPr>
        <p:txBody>
          <a:bodyPr lIns="97852" tIns="48926" rIns="97852" bIns="48926"/>
          <a:lstStyle/>
          <a:p>
            <a:endParaRPr lang="zh-TW" altLang="zh-TW"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219A7BAA-A830-4B69-B959-3E8D6AB29985}" type="slidenum">
              <a:rPr lang="en-US" altLang="zh-TW"/>
              <a:pPr/>
              <a:t>7</a:t>
            </a:fld>
            <a:endParaRPr lang="en-US" altLang="zh-TW"/>
          </a:p>
        </p:txBody>
      </p:sp>
      <p:sp>
        <p:nvSpPr>
          <p:cNvPr id="46083" name="Rectangle 2"/>
          <p:cNvSpPr>
            <a:spLocks noRot="1" noChangeArrowheads="1" noTextEdit="1"/>
          </p:cNvSpPr>
          <p:nvPr>
            <p:ph type="sldImg"/>
          </p:nvPr>
        </p:nvSpPr>
        <p:spPr>
          <a:xfrm>
            <a:off x="1001713" y="774700"/>
            <a:ext cx="5097462" cy="3822700"/>
          </a:xfrm>
          <a:ln w="12700" cap="flat">
            <a:solidFill>
              <a:schemeClr val="tx1"/>
            </a:solidFill>
          </a:ln>
        </p:spPr>
      </p:sp>
      <p:sp>
        <p:nvSpPr>
          <p:cNvPr id="46084" name="Rectangle 3"/>
          <p:cNvSpPr>
            <a:spLocks noGrp="1" noChangeArrowheads="1"/>
          </p:cNvSpPr>
          <p:nvPr>
            <p:ph type="body" idx="1"/>
          </p:nvPr>
        </p:nvSpPr>
        <p:spPr>
          <a:xfrm>
            <a:off x="946150" y="4860925"/>
            <a:ext cx="5207000" cy="4606925"/>
          </a:xfrm>
          <a:noFill/>
          <a:ln/>
        </p:spPr>
        <p:txBody>
          <a:bodyPr lIns="97852" tIns="48926" rIns="97852" bIns="48926"/>
          <a:lstStyle/>
          <a:p>
            <a:endParaRPr lang="zh-TW" altLang="zh-TW"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8E0FF27E-DF11-481B-ABF0-A60C637EBF38}" type="slidenum">
              <a:rPr lang="en-US" altLang="zh-TW"/>
              <a:pPr/>
              <a:t>8</a:t>
            </a:fld>
            <a:endParaRPr lang="en-US" altLang="zh-TW"/>
          </a:p>
        </p:txBody>
      </p:sp>
      <p:sp>
        <p:nvSpPr>
          <p:cNvPr id="47107" name="Rectangle 2"/>
          <p:cNvSpPr>
            <a:spLocks noRot="1" noChangeArrowheads="1" noTextEdit="1"/>
          </p:cNvSpPr>
          <p:nvPr>
            <p:ph type="sldImg"/>
          </p:nvPr>
        </p:nvSpPr>
        <p:spPr>
          <a:xfrm>
            <a:off x="1001713" y="774700"/>
            <a:ext cx="5097462" cy="3822700"/>
          </a:xfrm>
          <a:ln w="12700" cap="flat">
            <a:solidFill>
              <a:schemeClr val="tx1"/>
            </a:solidFill>
          </a:ln>
        </p:spPr>
      </p:sp>
      <p:sp>
        <p:nvSpPr>
          <p:cNvPr id="47108" name="Rectangle 3"/>
          <p:cNvSpPr>
            <a:spLocks noGrp="1" noChangeArrowheads="1"/>
          </p:cNvSpPr>
          <p:nvPr>
            <p:ph type="body" idx="1"/>
          </p:nvPr>
        </p:nvSpPr>
        <p:spPr>
          <a:xfrm>
            <a:off x="946150" y="4860925"/>
            <a:ext cx="5207000" cy="4606925"/>
          </a:xfrm>
          <a:noFill/>
          <a:ln/>
        </p:spPr>
        <p:txBody>
          <a:bodyPr lIns="97852" tIns="48926" rIns="97852" bIns="48926"/>
          <a:lstStyle/>
          <a:p>
            <a:endParaRPr lang="zh-TW" altLang="zh-TW"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6A5F25F9-9A54-48E8-8D74-0AA13706DE1F}" type="slidenum">
              <a:rPr lang="en-US" altLang="zh-TW"/>
              <a:pPr/>
              <a:t>9</a:t>
            </a:fld>
            <a:endParaRPr lang="en-US" altLang="zh-TW"/>
          </a:p>
        </p:txBody>
      </p:sp>
      <p:sp>
        <p:nvSpPr>
          <p:cNvPr id="48131" name="Rectangle 2"/>
          <p:cNvSpPr>
            <a:spLocks noRot="1" noChangeArrowheads="1" noTextEdit="1"/>
          </p:cNvSpPr>
          <p:nvPr>
            <p:ph type="sldImg"/>
          </p:nvPr>
        </p:nvSpPr>
        <p:spPr>
          <a:xfrm>
            <a:off x="1001713" y="774700"/>
            <a:ext cx="5097462" cy="3822700"/>
          </a:xfrm>
          <a:ln w="12700" cap="flat">
            <a:solidFill>
              <a:schemeClr val="tx1"/>
            </a:solidFill>
          </a:ln>
        </p:spPr>
      </p:sp>
      <p:sp>
        <p:nvSpPr>
          <p:cNvPr id="48132" name="Rectangle 3"/>
          <p:cNvSpPr>
            <a:spLocks noGrp="1" noChangeArrowheads="1"/>
          </p:cNvSpPr>
          <p:nvPr>
            <p:ph type="body" idx="1"/>
          </p:nvPr>
        </p:nvSpPr>
        <p:spPr>
          <a:xfrm>
            <a:off x="946150" y="4860925"/>
            <a:ext cx="5207000" cy="4606925"/>
          </a:xfrm>
          <a:noFill/>
          <a:ln/>
        </p:spPr>
        <p:txBody>
          <a:bodyPr lIns="97852" tIns="48926" rIns="97852" bIns="48926"/>
          <a:lstStyle/>
          <a:p>
            <a:endParaRPr lang="zh-TW" altLang="zh-TW"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37394AC3-6F63-48F4-8A07-CE28A045343B}" type="slidenum">
              <a:rPr lang="en-US" altLang="zh-TW"/>
              <a:pPr/>
              <a:t>10</a:t>
            </a:fld>
            <a:endParaRPr lang="en-US" altLang="zh-TW"/>
          </a:p>
        </p:txBody>
      </p:sp>
      <p:sp>
        <p:nvSpPr>
          <p:cNvPr id="49155" name="Rectangle 2"/>
          <p:cNvSpPr>
            <a:spLocks noRot="1" noChangeArrowheads="1" noTextEdit="1"/>
          </p:cNvSpPr>
          <p:nvPr>
            <p:ph type="sldImg"/>
          </p:nvPr>
        </p:nvSpPr>
        <p:spPr>
          <a:xfrm>
            <a:off x="1001713" y="774700"/>
            <a:ext cx="5097462" cy="3822700"/>
          </a:xfrm>
          <a:ln w="12700" cap="flat">
            <a:solidFill>
              <a:schemeClr val="tx1"/>
            </a:solidFill>
          </a:ln>
        </p:spPr>
      </p:sp>
      <p:sp>
        <p:nvSpPr>
          <p:cNvPr id="49156" name="Rectangle 3"/>
          <p:cNvSpPr>
            <a:spLocks noGrp="1" noChangeArrowheads="1"/>
          </p:cNvSpPr>
          <p:nvPr>
            <p:ph type="body" idx="1"/>
          </p:nvPr>
        </p:nvSpPr>
        <p:spPr>
          <a:xfrm>
            <a:off x="946150" y="4860925"/>
            <a:ext cx="5207000" cy="4606925"/>
          </a:xfrm>
          <a:noFill/>
          <a:ln/>
        </p:spPr>
        <p:txBody>
          <a:bodyPr lIns="97852" tIns="48926" rIns="97852" bIns="48926"/>
          <a:lstStyle/>
          <a:p>
            <a:endParaRPr lang="zh-TW" altLang="zh-TW"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F80BEAAB-218C-413D-BF88-E98848E05089}" type="slidenum">
              <a:rPr lang="en-US" altLang="zh-TW"/>
              <a:pPr/>
              <a:t>11</a:t>
            </a:fld>
            <a:endParaRPr lang="en-US" altLang="zh-TW"/>
          </a:p>
        </p:txBody>
      </p:sp>
      <p:sp>
        <p:nvSpPr>
          <p:cNvPr id="50179" name="Rectangle 2"/>
          <p:cNvSpPr>
            <a:spLocks noRot="1" noChangeArrowheads="1" noTextEdit="1"/>
          </p:cNvSpPr>
          <p:nvPr>
            <p:ph type="sldImg"/>
          </p:nvPr>
        </p:nvSpPr>
        <p:spPr>
          <a:xfrm>
            <a:off x="1001713" y="774700"/>
            <a:ext cx="5097462" cy="3822700"/>
          </a:xfrm>
          <a:ln w="12700" cap="flat">
            <a:solidFill>
              <a:schemeClr val="tx1"/>
            </a:solidFill>
          </a:ln>
        </p:spPr>
      </p:sp>
      <p:sp>
        <p:nvSpPr>
          <p:cNvPr id="50180" name="Rectangle 3"/>
          <p:cNvSpPr>
            <a:spLocks noGrp="1" noChangeArrowheads="1"/>
          </p:cNvSpPr>
          <p:nvPr>
            <p:ph type="body" idx="1"/>
          </p:nvPr>
        </p:nvSpPr>
        <p:spPr>
          <a:xfrm>
            <a:off x="946150" y="4860925"/>
            <a:ext cx="5207000" cy="4606925"/>
          </a:xfrm>
          <a:noFill/>
          <a:ln/>
        </p:spPr>
        <p:txBody>
          <a:bodyPr lIns="97852" tIns="48926" rIns="97852" bIns="48926"/>
          <a:lstStyle/>
          <a:p>
            <a:endParaRPr lang="zh-TW" altLang="zh-TW"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aphicFrame>
        <p:nvGraphicFramePr>
          <p:cNvPr id="4" name="Rectangle 6"/>
          <p:cNvGraphicFramePr>
            <a:graphicFrameLocks/>
          </p:cNvGraphicFramePr>
          <p:nvPr/>
        </p:nvGraphicFramePr>
        <p:xfrm>
          <a:off x="1524000" y="1397000"/>
          <a:ext cx="6096000" cy="4064000"/>
        </p:xfrm>
        <a:graphic>
          <a:graphicData uri="http://schemas.openxmlformats.org/presentationml/2006/ole">
            <p:oleObj spid="_x0000_s65538" name="Clip" r:id="rId3" imgW="0" imgH="0" progId="MS_ClipArt_Gallery.2">
              <p:embed/>
            </p:oleObj>
          </a:graphicData>
        </a:graphic>
      </p:graphicFrame>
      <p:pic>
        <p:nvPicPr>
          <p:cNvPr id="5" name="Picture 8" descr="BD21332_"/>
          <p:cNvPicPr>
            <a:picLocks noChangeAspect="1" noChangeArrowheads="1"/>
          </p:cNvPicPr>
          <p:nvPr/>
        </p:nvPicPr>
        <p:blipFill>
          <a:blip r:embed="rId4"/>
          <a:srcRect/>
          <a:stretch>
            <a:fillRect/>
          </a:stretch>
        </p:blipFill>
        <p:spPr bwMode="auto">
          <a:xfrm>
            <a:off x="1539875" y="3603625"/>
            <a:ext cx="6035675" cy="342900"/>
          </a:xfrm>
          <a:prstGeom prst="rect">
            <a:avLst/>
          </a:prstGeom>
          <a:noFill/>
          <a:ln w="9525">
            <a:noFill/>
            <a:miter lim="800000"/>
            <a:headEnd/>
            <a:tailEnd/>
          </a:ln>
        </p:spPr>
      </p:pic>
      <p:sp>
        <p:nvSpPr>
          <p:cNvPr id="225282" name="Rectangle 2"/>
          <p:cNvSpPr>
            <a:spLocks noGrp="1" noChangeArrowheads="1"/>
          </p:cNvSpPr>
          <p:nvPr>
            <p:ph type="ctrTitle"/>
          </p:nvPr>
        </p:nvSpPr>
        <p:spPr>
          <a:xfrm>
            <a:off x="685800" y="2286000"/>
            <a:ext cx="7772400" cy="1143000"/>
          </a:xfrm>
        </p:spPr>
        <p:txBody>
          <a:bodyPr/>
          <a:lstStyle>
            <a:lvl1pPr>
              <a:defRPr>
                <a:solidFill>
                  <a:schemeClr val="tx1"/>
                </a:solidFill>
                <a:effectLst/>
                <a:latin typeface="Calibri" pitchFamily="34" charset="0"/>
              </a:defRPr>
            </a:lvl1pPr>
          </a:lstStyle>
          <a:p>
            <a:r>
              <a:rPr lang="en-US" altLang="zh-TW" dirty="0"/>
              <a:t>Click to edit Master title style</a:t>
            </a:r>
          </a:p>
        </p:txBody>
      </p:sp>
      <p:sp>
        <p:nvSpPr>
          <p:cNvPr id="225283" name="Rectangle 3"/>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r>
              <a:rPr lang="en-US" altLang="zh-TW"/>
              <a:t>Click to edit Master subtitle style</a:t>
            </a:r>
          </a:p>
        </p:txBody>
      </p:sp>
      <p:sp>
        <p:nvSpPr>
          <p:cNvPr id="6" name="Rectangle 4"/>
          <p:cNvSpPr>
            <a:spLocks noGrp="1" noChangeArrowheads="1"/>
          </p:cNvSpPr>
          <p:nvPr>
            <p:ph type="dt" sz="half" idx="10"/>
          </p:nvPr>
        </p:nvSpPr>
        <p:spPr bwMode="auto">
          <a:xfrm>
            <a:off x="6858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spcBef>
                <a:spcPct val="50000"/>
              </a:spcBef>
              <a:defRPr sz="1400">
                <a:solidFill>
                  <a:srgbClr val="578963"/>
                </a:solidFill>
                <a:latin typeface="Times New Roman" pitchFamily="18" charset="0"/>
                <a:ea typeface="新細明體" charset="-120"/>
              </a:defRPr>
            </a:lvl1pPr>
          </a:lstStyle>
          <a:p>
            <a:endParaRPr lang="en-US" altLang="zh-TW"/>
          </a:p>
        </p:txBody>
      </p:sp>
      <p:sp>
        <p:nvSpPr>
          <p:cNvPr id="7" name="Rectangle 5"/>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spcBef>
                <a:spcPct val="50000"/>
              </a:spcBef>
              <a:defRPr sz="1400">
                <a:solidFill>
                  <a:srgbClr val="578963"/>
                </a:solidFill>
                <a:latin typeface="Times New Roman" pitchFamily="18" charset="0"/>
                <a:ea typeface="新細明體" charset="-120"/>
              </a:defRPr>
            </a:lvl1pPr>
          </a:lstStyle>
          <a:p>
            <a:endParaRPr lang="en-US" altLang="zh-T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tx1"/>
                </a:solidFill>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27088" y="1282700"/>
            <a:ext cx="3598862" cy="4483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578350" y="1282700"/>
            <a:ext cx="3600450" cy="4483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43700" y="228600"/>
            <a:ext cx="2019300" cy="55372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85800" y="228600"/>
            <a:ext cx="5905500" cy="55372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685800" y="228600"/>
            <a:ext cx="8077200" cy="6096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827088" y="1282700"/>
            <a:ext cx="3598862" cy="44831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578350" y="1282700"/>
            <a:ext cx="3600450" cy="44831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標題，1 個大物件與 2 個小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quarter" idx="2"/>
          </p:nvPr>
        </p:nvSpPr>
        <p:spPr>
          <a:xfrm>
            <a:off x="4648200" y="1600200"/>
            <a:ext cx="4038600" cy="21859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內容版面配置區 4"/>
          <p:cNvSpPr>
            <a:spLocks noGrp="1"/>
          </p:cNvSpPr>
          <p:nvPr>
            <p:ph sz="quarter" idx="3"/>
          </p:nvPr>
        </p:nvSpPr>
        <p:spPr>
          <a:xfrm>
            <a:off x="4648200" y="3938588"/>
            <a:ext cx="4038600" cy="21875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日期版面配置區 5"/>
          <p:cNvSpPr>
            <a:spLocks noGrp="1"/>
          </p:cNvSpPr>
          <p:nvPr>
            <p:ph type="dt" sz="half" idx="10"/>
          </p:nvPr>
        </p:nvSpPr>
        <p:spPr>
          <a:xfrm>
            <a:off x="457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ea typeface="新細明體" charset="-120"/>
              </a:defRPr>
            </a:lvl1pPr>
          </a:lstStyle>
          <a:p>
            <a:endParaRPr lang="en-US" altLang="zh-TW"/>
          </a:p>
        </p:txBody>
      </p:sp>
      <p:sp>
        <p:nvSpPr>
          <p:cNvPr id="7" name="頁尾版面配置區 6"/>
          <p:cNvSpPr>
            <a:spLocks noGrp="1"/>
          </p:cNvSpPr>
          <p:nvPr>
            <p:ph type="ftr" sz="quarter" idx="11"/>
          </p:nvPr>
        </p:nvSpPr>
        <p:spPr>
          <a:xfrm>
            <a:off x="3124200" y="6245225"/>
            <a:ext cx="2895600" cy="476250"/>
          </a:xfrm>
          <a:prstGeom prst="rect">
            <a:avLst/>
          </a:prstGeom>
        </p:spPr>
        <p:txBody>
          <a:bodyPr vert="horz" wrap="square" lIns="91440" tIns="45720" rIns="91440" bIns="45720" numCol="1" anchor="t" anchorCtr="0" compatLnSpc="1">
            <a:prstTxWarp prst="textNoShape">
              <a:avLst/>
            </a:prstTxWarp>
          </a:bodyPr>
          <a:lstStyle>
            <a:lvl1pPr>
              <a:defRPr>
                <a:ea typeface="新細明體" charset="-120"/>
              </a:defRPr>
            </a:lvl1pPr>
          </a:lstStyle>
          <a:p>
            <a:endParaRPr lang="en-US" altLang="zh-TW"/>
          </a:p>
        </p:txBody>
      </p:sp>
      <p:sp>
        <p:nvSpPr>
          <p:cNvPr id="8" name="投影片編號版面配置區 7"/>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ea typeface="新細明體" charset="-120"/>
              </a:defRPr>
            </a:lvl1pPr>
          </a:lstStyle>
          <a:p>
            <a:fld id="{0A209886-9FDE-422B-8084-29758E562294}" type="slidenum">
              <a:rPr lang="en-US" altLang="zh-TW"/>
              <a:pPr/>
              <a:t>‹#›</a:t>
            </a:fld>
            <a:endParaRPr lang="en-US" altLang="zh-TW"/>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600200"/>
            <a:ext cx="8229600" cy="4525963"/>
          </a:xfrm>
        </p:spPr>
        <p:txBody>
          <a:bodyPr/>
          <a:lstStyle/>
          <a:p>
            <a:pPr lvl="0"/>
            <a:endParaRPr lang="zh-TW" altLang="en-US" noProof="0"/>
          </a:p>
        </p:txBody>
      </p:sp>
      <p:sp>
        <p:nvSpPr>
          <p:cNvPr id="4" name="日期版面配置區 3"/>
          <p:cNvSpPr>
            <a:spLocks noGrp="1"/>
          </p:cNvSpPr>
          <p:nvPr>
            <p:ph type="dt" sz="half" idx="10"/>
          </p:nvPr>
        </p:nvSpPr>
        <p:spPr>
          <a:xfrm>
            <a:off x="457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ea typeface="新細明體" charset="-120"/>
              </a:defRPr>
            </a:lvl1pPr>
          </a:lstStyle>
          <a:p>
            <a:endParaRPr lang="en-US" altLang="zh-TW"/>
          </a:p>
        </p:txBody>
      </p:sp>
      <p:sp>
        <p:nvSpPr>
          <p:cNvPr id="5" name="頁尾版面配置區 4"/>
          <p:cNvSpPr>
            <a:spLocks noGrp="1"/>
          </p:cNvSpPr>
          <p:nvPr>
            <p:ph type="ftr" sz="quarter" idx="11"/>
          </p:nvPr>
        </p:nvSpPr>
        <p:spPr>
          <a:xfrm>
            <a:off x="3124200" y="6245225"/>
            <a:ext cx="2895600" cy="476250"/>
          </a:xfrm>
          <a:prstGeom prst="rect">
            <a:avLst/>
          </a:prstGeom>
        </p:spPr>
        <p:txBody>
          <a:bodyPr vert="horz" wrap="square" lIns="91440" tIns="45720" rIns="91440" bIns="45720" numCol="1" anchor="t" anchorCtr="0" compatLnSpc="1">
            <a:prstTxWarp prst="textNoShape">
              <a:avLst/>
            </a:prstTxWarp>
          </a:bodyPr>
          <a:lstStyle>
            <a:lvl1pPr>
              <a:defRPr>
                <a:ea typeface="新細明體" charset="-120"/>
              </a:defRPr>
            </a:lvl1pPr>
          </a:lstStyle>
          <a:p>
            <a:endParaRPr lang="en-US" altLang="zh-TW"/>
          </a:p>
        </p:txBody>
      </p:sp>
      <p:sp>
        <p:nvSpPr>
          <p:cNvPr id="6" name="投影片編號版面配置區 5"/>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ea typeface="新細明體" charset="-120"/>
              </a:defRPr>
            </a:lvl1pPr>
          </a:lstStyle>
          <a:p>
            <a:fld id="{5A1315A6-7910-4FF6-AD41-94BDD670677C}" type="slidenum">
              <a:rPr lang="en-US" altLang="zh-TW"/>
              <a:pPr/>
              <a:t>‹#›</a:t>
            </a:fld>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bwMode="auto">
          <a:xfrm>
            <a:off x="827088" y="1282700"/>
            <a:ext cx="7351712" cy="44831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TW" smtClean="0"/>
              <a:t>Click to edit Master text styles</a:t>
            </a:r>
          </a:p>
          <a:p>
            <a:pPr lvl="1"/>
            <a:r>
              <a:rPr lang="en-US" altLang="zh-TW" smtClean="0"/>
              <a:t>Second level</a:t>
            </a:r>
          </a:p>
          <a:p>
            <a:pPr lvl="2"/>
            <a:r>
              <a:rPr lang="en-US" altLang="zh-TW" smtClean="0"/>
              <a:t>Third level</a:t>
            </a:r>
          </a:p>
          <a:p>
            <a:pPr lvl="3"/>
            <a:r>
              <a:rPr lang="en-US" altLang="zh-TW" smtClean="0"/>
              <a:t>Fourth level</a:t>
            </a:r>
          </a:p>
          <a:p>
            <a:pPr lvl="4"/>
            <a:r>
              <a:rPr lang="en-US" altLang="zh-TW" smtClean="0"/>
              <a:t>Fifth level</a:t>
            </a:r>
          </a:p>
        </p:txBody>
      </p:sp>
      <p:sp>
        <p:nvSpPr>
          <p:cNvPr id="224259" name="Text Box 3"/>
          <p:cNvSpPr txBox="1">
            <a:spLocks noChangeArrowheads="1"/>
          </p:cNvSpPr>
          <p:nvPr/>
        </p:nvSpPr>
        <p:spPr bwMode="auto">
          <a:xfrm>
            <a:off x="4267200" y="6613525"/>
            <a:ext cx="444500" cy="244475"/>
          </a:xfrm>
          <a:prstGeom prst="rect">
            <a:avLst/>
          </a:prstGeom>
          <a:noFill/>
          <a:ln w="9525">
            <a:noFill/>
            <a:miter lim="800000"/>
            <a:headEnd/>
            <a:tailEnd/>
          </a:ln>
          <a:effectLst/>
        </p:spPr>
        <p:txBody>
          <a:bodyPr wrap="none">
            <a:spAutoFit/>
          </a:bodyPr>
          <a:lstStyle/>
          <a:p>
            <a:pPr algn="ctr">
              <a:spcBef>
                <a:spcPct val="50000"/>
              </a:spcBef>
            </a:pPr>
            <a:r>
              <a:rPr lang="en-US" altLang="zh-TW" sz="1000" b="1">
                <a:solidFill>
                  <a:srgbClr val="993300"/>
                </a:solidFill>
                <a:ea typeface="新細明體" charset="-120"/>
              </a:rPr>
              <a:t>6.</a:t>
            </a:r>
            <a:fld id="{3C9F63E1-AE57-4936-8E58-4636ACEE96DE}" type="slidenum">
              <a:rPr lang="en-US" altLang="zh-TW" sz="1000" b="1">
                <a:solidFill>
                  <a:srgbClr val="993300"/>
                </a:solidFill>
                <a:ea typeface="新細明體" charset="-120"/>
              </a:rPr>
              <a:pPr algn="ctr">
                <a:spcBef>
                  <a:spcPct val="50000"/>
                </a:spcBef>
              </a:pPr>
              <a:t>‹#›</a:t>
            </a:fld>
            <a:endParaRPr lang="en-US" altLang="zh-TW" sz="1000" b="1">
              <a:solidFill>
                <a:srgbClr val="993300"/>
              </a:solidFill>
              <a:ea typeface="新細明體" charset="-120"/>
            </a:endParaRPr>
          </a:p>
        </p:txBody>
      </p:sp>
      <p:sp>
        <p:nvSpPr>
          <p:cNvPr id="3076" name="Rectangle 4"/>
          <p:cNvSpPr>
            <a:spLocks noGrp="1" noChangeArrowheads="1"/>
          </p:cNvSpPr>
          <p:nvPr>
            <p:ph type="title"/>
          </p:nvPr>
        </p:nvSpPr>
        <p:spPr bwMode="auto">
          <a:xfrm>
            <a:off x="685800" y="228600"/>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ltLang="zh-TW" smtClean="0"/>
              <a:t>Click to edit Master title style</a:t>
            </a:r>
          </a:p>
        </p:txBody>
      </p:sp>
      <p:sp>
        <p:nvSpPr>
          <p:cNvPr id="224261" name="Freeform 5"/>
          <p:cNvSpPr>
            <a:spLocks/>
          </p:cNvSpPr>
          <p:nvPr/>
        </p:nvSpPr>
        <p:spPr bwMode="auto">
          <a:xfrm rot="8361210" flipV="1">
            <a:off x="1609725" y="4962525"/>
            <a:ext cx="9525" cy="1588"/>
          </a:xfrm>
          <a:custGeom>
            <a:avLst/>
            <a:gdLst/>
            <a:ahLst/>
            <a:cxnLst>
              <a:cxn ang="0">
                <a:pos x="20" y="4"/>
              </a:cxn>
              <a:cxn ang="0">
                <a:pos x="0" y="0"/>
              </a:cxn>
              <a:cxn ang="0">
                <a:pos x="16" y="0"/>
              </a:cxn>
              <a:cxn ang="0">
                <a:pos x="20" y="4"/>
              </a:cxn>
            </a:cxnLst>
            <a:rect l="0" t="0" r="r" b="b"/>
            <a:pathLst>
              <a:path w="20" h="4">
                <a:moveTo>
                  <a:pt x="20" y="4"/>
                </a:moveTo>
                <a:lnTo>
                  <a:pt x="0" y="0"/>
                </a:lnTo>
                <a:lnTo>
                  <a:pt x="16" y="0"/>
                </a:lnTo>
                <a:lnTo>
                  <a:pt x="20" y="4"/>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62" name="Freeform 6"/>
          <p:cNvSpPr>
            <a:spLocks/>
          </p:cNvSpPr>
          <p:nvPr/>
        </p:nvSpPr>
        <p:spPr bwMode="auto">
          <a:xfrm rot="10665470" flipV="1">
            <a:off x="1189038" y="4205288"/>
            <a:ext cx="4762" cy="1587"/>
          </a:xfrm>
          <a:custGeom>
            <a:avLst/>
            <a:gdLst/>
            <a:ahLst/>
            <a:cxnLst>
              <a:cxn ang="0">
                <a:pos x="12" y="4"/>
              </a:cxn>
              <a:cxn ang="0">
                <a:pos x="0" y="0"/>
              </a:cxn>
              <a:cxn ang="0">
                <a:pos x="12" y="0"/>
              </a:cxn>
              <a:cxn ang="0">
                <a:pos x="12" y="4"/>
              </a:cxn>
            </a:cxnLst>
            <a:rect l="0" t="0" r="r" b="b"/>
            <a:pathLst>
              <a:path w="12" h="4">
                <a:moveTo>
                  <a:pt x="12" y="4"/>
                </a:moveTo>
                <a:lnTo>
                  <a:pt x="0" y="0"/>
                </a:lnTo>
                <a:lnTo>
                  <a:pt x="12" y="0"/>
                </a:lnTo>
                <a:lnTo>
                  <a:pt x="12" y="4"/>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63" name="Freeform 7"/>
          <p:cNvSpPr>
            <a:spLocks/>
          </p:cNvSpPr>
          <p:nvPr/>
        </p:nvSpPr>
        <p:spPr bwMode="auto">
          <a:xfrm>
            <a:off x="5164138" y="4206875"/>
            <a:ext cx="7937" cy="9525"/>
          </a:xfrm>
          <a:custGeom>
            <a:avLst/>
            <a:gdLst/>
            <a:ahLst/>
            <a:cxnLst>
              <a:cxn ang="0">
                <a:pos x="7" y="12"/>
              </a:cxn>
              <a:cxn ang="0">
                <a:pos x="0" y="10"/>
              </a:cxn>
              <a:cxn ang="0">
                <a:pos x="12" y="0"/>
              </a:cxn>
              <a:cxn ang="0">
                <a:pos x="7" y="12"/>
              </a:cxn>
            </a:cxnLst>
            <a:rect l="0" t="0" r="r" b="b"/>
            <a:pathLst>
              <a:path w="12" h="12">
                <a:moveTo>
                  <a:pt x="7" y="12"/>
                </a:moveTo>
                <a:lnTo>
                  <a:pt x="0" y="10"/>
                </a:lnTo>
                <a:lnTo>
                  <a:pt x="12" y="0"/>
                </a:lnTo>
                <a:lnTo>
                  <a:pt x="7" y="12"/>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64" name="Text Box 8"/>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p>
            <a:pPr algn="ctr">
              <a:spcBef>
                <a:spcPct val="50000"/>
              </a:spcBef>
              <a:defRPr/>
            </a:pPr>
            <a:r>
              <a:rPr lang="en-US" altLang="zh-TW" sz="1000" b="1">
                <a:solidFill>
                  <a:srgbClr val="993300"/>
                </a:solidFill>
                <a:ea typeface="新細明體" charset="-120"/>
              </a:rPr>
              <a:t>Silberschatz, Galvin and Gagne ©2005</a:t>
            </a:r>
          </a:p>
        </p:txBody>
      </p:sp>
      <p:sp>
        <p:nvSpPr>
          <p:cNvPr id="224265" name="Text Box 9"/>
          <p:cNvSpPr txBox="1">
            <a:spLocks noChangeArrowheads="1"/>
          </p:cNvSpPr>
          <p:nvPr/>
        </p:nvSpPr>
        <p:spPr bwMode="auto">
          <a:xfrm>
            <a:off x="0" y="6613525"/>
            <a:ext cx="1901825" cy="244475"/>
          </a:xfrm>
          <a:prstGeom prst="rect">
            <a:avLst/>
          </a:prstGeom>
          <a:noFill/>
          <a:ln w="9525">
            <a:noFill/>
            <a:miter lim="800000"/>
            <a:headEnd/>
            <a:tailEnd/>
          </a:ln>
          <a:effectLst/>
        </p:spPr>
        <p:txBody>
          <a:bodyPr wrap="none">
            <a:spAutoFit/>
          </a:bodyPr>
          <a:lstStyle/>
          <a:p>
            <a:pPr>
              <a:spcBef>
                <a:spcPct val="50000"/>
              </a:spcBef>
              <a:defRPr/>
            </a:pPr>
            <a:r>
              <a:rPr lang="en-US" altLang="zh-TW" sz="1000" b="1">
                <a:solidFill>
                  <a:srgbClr val="993300"/>
                </a:solidFill>
                <a:ea typeface="新細明體" charset="-120"/>
              </a:rPr>
              <a:t>Operating System Principles</a:t>
            </a:r>
          </a:p>
        </p:txBody>
      </p:sp>
      <p:sp>
        <p:nvSpPr>
          <p:cNvPr id="224266" name="Freeform 10"/>
          <p:cNvSpPr>
            <a:spLocks/>
          </p:cNvSpPr>
          <p:nvPr/>
        </p:nvSpPr>
        <p:spPr bwMode="auto">
          <a:xfrm>
            <a:off x="-1658938" y="1109663"/>
            <a:ext cx="4763" cy="1587"/>
          </a:xfrm>
          <a:custGeom>
            <a:avLst/>
            <a:gdLst/>
            <a:ahLst/>
            <a:cxnLst>
              <a:cxn ang="0">
                <a:pos x="13" y="0"/>
              </a:cxn>
              <a:cxn ang="0">
                <a:pos x="0" y="0"/>
              </a:cxn>
              <a:cxn ang="0">
                <a:pos x="7" y="0"/>
              </a:cxn>
              <a:cxn ang="0">
                <a:pos x="13" y="0"/>
              </a:cxn>
            </a:cxnLst>
            <a:rect l="0" t="0" r="r" b="b"/>
            <a:pathLst>
              <a:path w="13">
                <a:moveTo>
                  <a:pt x="13" y="0"/>
                </a:moveTo>
                <a:lnTo>
                  <a:pt x="0" y="0"/>
                </a:lnTo>
                <a:lnTo>
                  <a:pt x="7" y="0"/>
                </a:lnTo>
                <a:lnTo>
                  <a:pt x="13" y="0"/>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67" name="Freeform 11"/>
          <p:cNvSpPr>
            <a:spLocks/>
          </p:cNvSpPr>
          <p:nvPr/>
        </p:nvSpPr>
        <p:spPr bwMode="auto">
          <a:xfrm>
            <a:off x="-898525" y="1169988"/>
            <a:ext cx="3175" cy="1587"/>
          </a:xfrm>
          <a:custGeom>
            <a:avLst/>
            <a:gdLst/>
            <a:ahLst/>
            <a:cxnLst>
              <a:cxn ang="0">
                <a:pos x="0" y="0"/>
              </a:cxn>
              <a:cxn ang="0">
                <a:pos x="10" y="0"/>
              </a:cxn>
              <a:cxn ang="0">
                <a:pos x="6" y="0"/>
              </a:cxn>
              <a:cxn ang="0">
                <a:pos x="0" y="0"/>
              </a:cxn>
            </a:cxnLst>
            <a:rect l="0" t="0" r="r" b="b"/>
            <a:pathLst>
              <a:path w="10">
                <a:moveTo>
                  <a:pt x="0" y="0"/>
                </a:moveTo>
                <a:lnTo>
                  <a:pt x="10" y="0"/>
                </a:lnTo>
                <a:lnTo>
                  <a:pt x="6" y="0"/>
                </a:lnTo>
                <a:lnTo>
                  <a:pt x="0" y="0"/>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68" name="Rectangle 12"/>
          <p:cNvSpPr>
            <a:spLocks noChangeArrowheads="1"/>
          </p:cNvSpPr>
          <p:nvPr/>
        </p:nvSpPr>
        <p:spPr bwMode="auto">
          <a:xfrm>
            <a:off x="-1479550" y="423863"/>
            <a:ext cx="1587" cy="1587"/>
          </a:xfrm>
          <a:prstGeom prst="rect">
            <a:avLst/>
          </a:prstGeom>
          <a:solidFill>
            <a:srgbClr val="FFFFFF"/>
          </a:solidFill>
          <a:ln w="9525">
            <a:noFill/>
            <a:miter lim="800000"/>
            <a:headEnd/>
            <a:tailEnd/>
          </a:ln>
        </p:spPr>
        <p:txBody>
          <a:bodyPr/>
          <a:lstStyle/>
          <a:p>
            <a:endParaRPr lang="zh-TW" altLang="en-US">
              <a:ea typeface="新細明體" charset="-120"/>
            </a:endParaRPr>
          </a:p>
        </p:txBody>
      </p:sp>
      <p:sp>
        <p:nvSpPr>
          <p:cNvPr id="224269" name="Freeform 13"/>
          <p:cNvSpPr>
            <a:spLocks/>
          </p:cNvSpPr>
          <p:nvPr/>
        </p:nvSpPr>
        <p:spPr bwMode="auto">
          <a:xfrm>
            <a:off x="-1466850" y="889000"/>
            <a:ext cx="6350" cy="1588"/>
          </a:xfrm>
          <a:custGeom>
            <a:avLst/>
            <a:gdLst/>
            <a:ahLst/>
            <a:cxnLst>
              <a:cxn ang="0">
                <a:pos x="0" y="7"/>
              </a:cxn>
              <a:cxn ang="0">
                <a:pos x="12" y="0"/>
              </a:cxn>
              <a:cxn ang="0">
                <a:pos x="18" y="0"/>
              </a:cxn>
              <a:cxn ang="0">
                <a:pos x="0" y="7"/>
              </a:cxn>
            </a:cxnLst>
            <a:rect l="0" t="0" r="r" b="b"/>
            <a:pathLst>
              <a:path w="18" h="7">
                <a:moveTo>
                  <a:pt x="0" y="7"/>
                </a:moveTo>
                <a:lnTo>
                  <a:pt x="12" y="0"/>
                </a:lnTo>
                <a:lnTo>
                  <a:pt x="18" y="0"/>
                </a:lnTo>
                <a:lnTo>
                  <a:pt x="0" y="7"/>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70" name="Freeform 14"/>
          <p:cNvSpPr>
            <a:spLocks/>
          </p:cNvSpPr>
          <p:nvPr/>
        </p:nvSpPr>
        <p:spPr bwMode="auto">
          <a:xfrm>
            <a:off x="-1639888" y="1144588"/>
            <a:ext cx="1588" cy="6350"/>
          </a:xfrm>
          <a:custGeom>
            <a:avLst/>
            <a:gdLst/>
            <a:ahLst/>
            <a:cxnLst>
              <a:cxn ang="0">
                <a:pos x="0" y="16"/>
              </a:cxn>
              <a:cxn ang="0">
                <a:pos x="6" y="0"/>
              </a:cxn>
              <a:cxn ang="0">
                <a:pos x="3" y="13"/>
              </a:cxn>
              <a:cxn ang="0">
                <a:pos x="0" y="16"/>
              </a:cxn>
            </a:cxnLst>
            <a:rect l="0" t="0" r="r" b="b"/>
            <a:pathLst>
              <a:path w="6" h="16">
                <a:moveTo>
                  <a:pt x="0" y="16"/>
                </a:moveTo>
                <a:lnTo>
                  <a:pt x="6" y="0"/>
                </a:lnTo>
                <a:lnTo>
                  <a:pt x="3" y="13"/>
                </a:lnTo>
                <a:lnTo>
                  <a:pt x="0" y="16"/>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71" name="Freeform 15"/>
          <p:cNvSpPr>
            <a:spLocks/>
          </p:cNvSpPr>
          <p:nvPr/>
        </p:nvSpPr>
        <p:spPr bwMode="auto">
          <a:xfrm>
            <a:off x="-1247775" y="1146175"/>
            <a:ext cx="4762" cy="7938"/>
          </a:xfrm>
          <a:custGeom>
            <a:avLst/>
            <a:gdLst/>
            <a:ahLst/>
            <a:cxnLst>
              <a:cxn ang="0">
                <a:pos x="8" y="20"/>
              </a:cxn>
              <a:cxn ang="0">
                <a:pos x="0" y="0"/>
              </a:cxn>
              <a:cxn ang="0">
                <a:pos x="11" y="16"/>
              </a:cxn>
              <a:cxn ang="0">
                <a:pos x="8" y="20"/>
              </a:cxn>
            </a:cxnLst>
            <a:rect l="0" t="0" r="r" b="b"/>
            <a:pathLst>
              <a:path w="11" h="20">
                <a:moveTo>
                  <a:pt x="8" y="20"/>
                </a:moveTo>
                <a:lnTo>
                  <a:pt x="0" y="0"/>
                </a:lnTo>
                <a:lnTo>
                  <a:pt x="11" y="16"/>
                </a:lnTo>
                <a:lnTo>
                  <a:pt x="8" y="20"/>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72" name="Freeform 16"/>
          <p:cNvSpPr>
            <a:spLocks/>
          </p:cNvSpPr>
          <p:nvPr/>
        </p:nvSpPr>
        <p:spPr bwMode="auto">
          <a:xfrm>
            <a:off x="-1101725" y="1228725"/>
            <a:ext cx="1587" cy="6350"/>
          </a:xfrm>
          <a:custGeom>
            <a:avLst/>
            <a:gdLst/>
            <a:ahLst/>
            <a:cxnLst>
              <a:cxn ang="0">
                <a:pos x="0" y="14"/>
              </a:cxn>
              <a:cxn ang="0">
                <a:pos x="7" y="0"/>
              </a:cxn>
              <a:cxn ang="0">
                <a:pos x="7" y="7"/>
              </a:cxn>
              <a:cxn ang="0">
                <a:pos x="0" y="14"/>
              </a:cxn>
            </a:cxnLst>
            <a:rect l="0" t="0" r="r" b="b"/>
            <a:pathLst>
              <a:path w="7" h="14">
                <a:moveTo>
                  <a:pt x="0" y="14"/>
                </a:moveTo>
                <a:lnTo>
                  <a:pt x="7" y="0"/>
                </a:lnTo>
                <a:lnTo>
                  <a:pt x="7" y="7"/>
                </a:lnTo>
                <a:lnTo>
                  <a:pt x="0" y="14"/>
                </a:lnTo>
                <a:close/>
              </a:path>
            </a:pathLst>
          </a:custGeom>
          <a:solidFill>
            <a:srgbClr val="000000"/>
          </a:solidFill>
          <a:ln w="9525">
            <a:noFill/>
            <a:round/>
            <a:headEnd/>
            <a:tailEnd/>
          </a:ln>
        </p:spPr>
        <p:txBody>
          <a:bodyPr/>
          <a:lstStyle/>
          <a:p>
            <a:endParaRPr lang="zh-TW" altLang="en-US">
              <a:ea typeface="新細明體" charset="-120"/>
            </a:endParaRPr>
          </a:p>
        </p:txBody>
      </p:sp>
      <p:sp>
        <p:nvSpPr>
          <p:cNvPr id="224273" name="Freeform 17"/>
          <p:cNvSpPr>
            <a:spLocks/>
          </p:cNvSpPr>
          <p:nvPr/>
        </p:nvSpPr>
        <p:spPr bwMode="auto">
          <a:xfrm>
            <a:off x="-1303338" y="1270000"/>
            <a:ext cx="12700" cy="1588"/>
          </a:xfrm>
          <a:custGeom>
            <a:avLst/>
            <a:gdLst/>
            <a:ahLst/>
            <a:cxnLst>
              <a:cxn ang="0">
                <a:pos x="0" y="3"/>
              </a:cxn>
              <a:cxn ang="0">
                <a:pos x="15" y="0"/>
              </a:cxn>
              <a:cxn ang="0">
                <a:pos x="30" y="0"/>
              </a:cxn>
              <a:cxn ang="0">
                <a:pos x="0" y="3"/>
              </a:cxn>
            </a:cxnLst>
            <a:rect l="0" t="0" r="r" b="b"/>
            <a:pathLst>
              <a:path w="30" h="3">
                <a:moveTo>
                  <a:pt x="0" y="3"/>
                </a:moveTo>
                <a:lnTo>
                  <a:pt x="15" y="0"/>
                </a:lnTo>
                <a:lnTo>
                  <a:pt x="30" y="0"/>
                </a:lnTo>
                <a:lnTo>
                  <a:pt x="0" y="3"/>
                </a:lnTo>
                <a:close/>
              </a:path>
            </a:pathLst>
          </a:custGeom>
          <a:solidFill>
            <a:srgbClr val="FFFFFF"/>
          </a:solidFill>
          <a:ln w="9525">
            <a:noFill/>
            <a:round/>
            <a:headEnd/>
            <a:tailEnd/>
          </a:ln>
        </p:spPr>
        <p:txBody>
          <a:bodyPr/>
          <a:lstStyle/>
          <a:p>
            <a:endParaRPr lang="zh-TW" altLang="en-US">
              <a:ea typeface="新細明體" charset="-120"/>
            </a:endParaRPr>
          </a:p>
        </p:txBody>
      </p:sp>
      <p:sp>
        <p:nvSpPr>
          <p:cNvPr id="224274" name="Freeform 18"/>
          <p:cNvSpPr>
            <a:spLocks/>
          </p:cNvSpPr>
          <p:nvPr/>
        </p:nvSpPr>
        <p:spPr bwMode="auto">
          <a:xfrm>
            <a:off x="1176338" y="885825"/>
            <a:ext cx="4762" cy="9525"/>
          </a:xfrm>
          <a:custGeom>
            <a:avLst/>
            <a:gdLst/>
            <a:ahLst/>
            <a:cxnLst>
              <a:cxn ang="0">
                <a:pos x="0" y="24"/>
              </a:cxn>
              <a:cxn ang="0">
                <a:pos x="9" y="0"/>
              </a:cxn>
              <a:cxn ang="0">
                <a:pos x="6" y="17"/>
              </a:cxn>
              <a:cxn ang="0">
                <a:pos x="0" y="24"/>
              </a:cxn>
            </a:cxnLst>
            <a:rect l="0" t="0" r="r" b="b"/>
            <a:pathLst>
              <a:path w="9" h="24">
                <a:moveTo>
                  <a:pt x="0" y="24"/>
                </a:moveTo>
                <a:lnTo>
                  <a:pt x="9" y="0"/>
                </a:lnTo>
                <a:lnTo>
                  <a:pt x="6" y="17"/>
                </a:lnTo>
                <a:lnTo>
                  <a:pt x="0" y="24"/>
                </a:lnTo>
                <a:close/>
              </a:path>
            </a:pathLst>
          </a:custGeom>
          <a:solidFill>
            <a:srgbClr val="000000"/>
          </a:solidFill>
          <a:ln w="9525">
            <a:noFill/>
            <a:round/>
            <a:headEnd/>
            <a:tailEnd/>
          </a:ln>
        </p:spPr>
        <p:txBody>
          <a:bodyPr/>
          <a:lstStyle/>
          <a:p>
            <a:endParaRPr lang="zh-TW" altLang="en-US">
              <a:ea typeface="新細明體" charset="-120"/>
            </a:endParaRPr>
          </a:p>
        </p:txBody>
      </p:sp>
    </p:spTree>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5" r:id="rId13"/>
    <p:sldLayoutId id="2147483946" r:id="rId14"/>
  </p:sldLayoutIdLst>
  <p:txStyles>
    <p:titleStyle>
      <a:lvl1pPr algn="ctr" rtl="0" eaLnBrk="0" fontAlgn="base" hangingPunct="0">
        <a:spcBef>
          <a:spcPct val="0"/>
        </a:spcBef>
        <a:spcAft>
          <a:spcPct val="0"/>
        </a:spcAft>
        <a:defRPr kumimoji="1" sz="3200" b="1">
          <a:solidFill>
            <a:schemeClr val="tx1"/>
          </a:solidFill>
          <a:latin typeface="Calibri" pitchFamily="34" charset="0"/>
          <a:ea typeface="+mj-ea"/>
          <a:cs typeface="+mj-cs"/>
        </a:defRPr>
      </a:lvl1pPr>
      <a:lvl2pPr algn="ctr" rtl="0" eaLnBrk="0" fontAlgn="base" hangingPunct="0">
        <a:spcBef>
          <a:spcPct val="0"/>
        </a:spcBef>
        <a:spcAft>
          <a:spcPct val="0"/>
        </a:spcAft>
        <a:defRPr kumimoji="1" sz="3200" b="1">
          <a:solidFill>
            <a:schemeClr val="tx1"/>
          </a:solidFill>
          <a:effectLst>
            <a:outerShdw blurRad="38100" dist="38100" dir="2700000" algn="tl">
              <a:srgbClr val="000000"/>
            </a:outerShdw>
          </a:effectLst>
          <a:latin typeface="Calibri" pitchFamily="34" charset="0"/>
        </a:defRPr>
      </a:lvl2pPr>
      <a:lvl3pPr algn="ctr" rtl="0" eaLnBrk="0" fontAlgn="base" hangingPunct="0">
        <a:spcBef>
          <a:spcPct val="0"/>
        </a:spcBef>
        <a:spcAft>
          <a:spcPct val="0"/>
        </a:spcAft>
        <a:defRPr kumimoji="1" sz="3200" b="1">
          <a:solidFill>
            <a:schemeClr val="tx1"/>
          </a:solidFill>
          <a:effectLst>
            <a:outerShdw blurRad="38100" dist="38100" dir="2700000" algn="tl">
              <a:srgbClr val="000000"/>
            </a:outerShdw>
          </a:effectLst>
          <a:latin typeface="Calibri" pitchFamily="34" charset="0"/>
        </a:defRPr>
      </a:lvl3pPr>
      <a:lvl4pPr algn="ctr" rtl="0" eaLnBrk="0" fontAlgn="base" hangingPunct="0">
        <a:spcBef>
          <a:spcPct val="0"/>
        </a:spcBef>
        <a:spcAft>
          <a:spcPct val="0"/>
        </a:spcAft>
        <a:defRPr kumimoji="1" sz="3200" b="1">
          <a:solidFill>
            <a:schemeClr val="tx1"/>
          </a:solidFill>
          <a:effectLst>
            <a:outerShdw blurRad="38100" dist="38100" dir="2700000" algn="tl">
              <a:srgbClr val="000000"/>
            </a:outerShdw>
          </a:effectLst>
          <a:latin typeface="Calibri" pitchFamily="34" charset="0"/>
        </a:defRPr>
      </a:lvl4pPr>
      <a:lvl5pPr algn="ctr" rtl="0" eaLnBrk="0" fontAlgn="base" hangingPunct="0">
        <a:spcBef>
          <a:spcPct val="0"/>
        </a:spcBef>
        <a:spcAft>
          <a:spcPct val="0"/>
        </a:spcAft>
        <a:defRPr kumimoji="1" sz="3200" b="1">
          <a:solidFill>
            <a:schemeClr val="tx1"/>
          </a:solidFill>
          <a:effectLst>
            <a:outerShdw blurRad="38100" dist="38100" dir="2700000" algn="tl">
              <a:srgbClr val="000000"/>
            </a:outerShdw>
          </a:effectLst>
          <a:latin typeface="Calibri" pitchFamily="34" charset="0"/>
        </a:defRPr>
      </a:lvl5pPr>
      <a:lvl6pPr marL="457200" algn="ctr" rtl="0" eaLnBrk="0" fontAlgn="base" hangingPunct="0">
        <a:spcBef>
          <a:spcPct val="0"/>
        </a:spcBef>
        <a:spcAft>
          <a:spcPct val="0"/>
        </a:spcAft>
        <a:defRPr kumimoji="1" sz="3200" b="1">
          <a:solidFill>
            <a:srgbClr val="993300"/>
          </a:solidFill>
          <a:effectLst>
            <a:outerShdw blurRad="38100" dist="38100" dir="2700000" algn="tl">
              <a:srgbClr val="000000"/>
            </a:outerShdw>
          </a:effectLst>
          <a:latin typeface="Helvetica" pitchFamily="34" charset="0"/>
        </a:defRPr>
      </a:lvl6pPr>
      <a:lvl7pPr marL="914400" algn="ctr" rtl="0" eaLnBrk="0" fontAlgn="base" hangingPunct="0">
        <a:spcBef>
          <a:spcPct val="0"/>
        </a:spcBef>
        <a:spcAft>
          <a:spcPct val="0"/>
        </a:spcAft>
        <a:defRPr kumimoji="1" sz="3200" b="1">
          <a:solidFill>
            <a:srgbClr val="993300"/>
          </a:solidFill>
          <a:effectLst>
            <a:outerShdw blurRad="38100" dist="38100" dir="2700000" algn="tl">
              <a:srgbClr val="000000"/>
            </a:outerShdw>
          </a:effectLst>
          <a:latin typeface="Helvetica" pitchFamily="34" charset="0"/>
        </a:defRPr>
      </a:lvl7pPr>
      <a:lvl8pPr marL="1371600" algn="ctr" rtl="0" eaLnBrk="0" fontAlgn="base" hangingPunct="0">
        <a:spcBef>
          <a:spcPct val="0"/>
        </a:spcBef>
        <a:spcAft>
          <a:spcPct val="0"/>
        </a:spcAft>
        <a:defRPr kumimoji="1" sz="3200" b="1">
          <a:solidFill>
            <a:srgbClr val="993300"/>
          </a:solidFill>
          <a:effectLst>
            <a:outerShdw blurRad="38100" dist="38100" dir="2700000" algn="tl">
              <a:srgbClr val="000000"/>
            </a:outerShdw>
          </a:effectLst>
          <a:latin typeface="Helvetica" pitchFamily="34" charset="0"/>
        </a:defRPr>
      </a:lvl8pPr>
      <a:lvl9pPr marL="1828800" algn="ctr" rtl="0" eaLnBrk="0" fontAlgn="base" hangingPunct="0">
        <a:spcBef>
          <a:spcPct val="0"/>
        </a:spcBef>
        <a:spcAft>
          <a:spcPct val="0"/>
        </a:spcAft>
        <a:defRPr kumimoji="1" sz="3200" b="1">
          <a:solidFill>
            <a:srgbClr val="993300"/>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sz="2400">
          <a:solidFill>
            <a:schemeClr val="tx1"/>
          </a:solidFill>
          <a:latin typeface="Calibri" pitchFamily="34" charset="0"/>
          <a:ea typeface="+mn-ea"/>
          <a:cs typeface="+mn-cs"/>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sz="2400">
          <a:solidFill>
            <a:schemeClr val="tx1"/>
          </a:solidFill>
          <a:latin typeface="Calibri" pitchFamily="34" charset="0"/>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sz="2400">
          <a:solidFill>
            <a:schemeClr val="tx1"/>
          </a:solidFill>
          <a:latin typeface="Calibri" pitchFamily="34" charset="0"/>
        </a:defRPr>
      </a:lvl3pPr>
      <a:lvl4pPr marL="1428750" indent="-228600" algn="l" rtl="0" eaLnBrk="0" fontAlgn="base" hangingPunct="0">
        <a:spcBef>
          <a:spcPct val="35000"/>
        </a:spcBef>
        <a:spcAft>
          <a:spcPct val="0"/>
        </a:spcAft>
        <a:buClr>
          <a:schemeClr val="hlink"/>
        </a:buClr>
        <a:buSzPct val="75000"/>
        <a:buChar char="–"/>
        <a:defRPr kumimoji="1" sz="2400">
          <a:solidFill>
            <a:schemeClr val="tx1"/>
          </a:solidFill>
          <a:latin typeface="Calibri" pitchFamily="34" charset="0"/>
        </a:defRPr>
      </a:lvl4pPr>
      <a:lvl5pPr marL="1771650" indent="-228600" algn="l" rtl="0" eaLnBrk="0" fontAlgn="base" hangingPunct="0">
        <a:spcBef>
          <a:spcPct val="35000"/>
        </a:spcBef>
        <a:spcAft>
          <a:spcPct val="0"/>
        </a:spcAft>
        <a:buClr>
          <a:srgbClr val="FF0066"/>
        </a:buClr>
        <a:buSzPct val="75000"/>
        <a:buChar char="»"/>
        <a:defRPr kumimoji="1" sz="2400">
          <a:solidFill>
            <a:schemeClr val="tx1"/>
          </a:solidFill>
          <a:latin typeface="Calibri"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p:txBody>
          <a:bodyPr/>
          <a:lstStyle/>
          <a:p>
            <a:r>
              <a:rPr lang="en-US" altLang="zh-TW" smtClean="0">
                <a:ea typeface="新細明體" charset="-120"/>
              </a:rPr>
              <a:t>Chapter 7:  Deadlock</a:t>
            </a:r>
          </a:p>
        </p:txBody>
      </p:sp>
      <p:sp>
        <p:nvSpPr>
          <p:cNvPr id="17411" name="副標題 4"/>
          <p:cNvSpPr>
            <a:spLocks noGrp="1"/>
          </p:cNvSpPr>
          <p:nvPr>
            <p:ph type="subTitle" idx="1"/>
          </p:nvPr>
        </p:nvSpPr>
        <p:spPr/>
        <p:txBody>
          <a:bodyPr/>
          <a:lstStyle/>
          <a:p>
            <a:r>
              <a:rPr lang="en-US" altLang="zh-TW" smtClean="0">
                <a:ea typeface="新細明體" charset="-120"/>
              </a:rPr>
              <a:t>11.4.2008</a:t>
            </a:r>
            <a:endParaRPr lang="zh-TW" altLang="en-US" smtClean="0">
              <a:ea typeface="新細明體"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zh-TW" smtClean="0">
                <a:ea typeface="新細明體" charset="-120"/>
              </a:rPr>
              <a:t>Course Administration</a:t>
            </a:r>
          </a:p>
        </p:txBody>
      </p:sp>
      <p:sp>
        <p:nvSpPr>
          <p:cNvPr id="18435" name="Rectangle 3"/>
          <p:cNvSpPr>
            <a:spLocks noGrp="1" noChangeArrowheads="1"/>
          </p:cNvSpPr>
          <p:nvPr>
            <p:ph idx="1"/>
          </p:nvPr>
        </p:nvSpPr>
        <p:spPr/>
        <p:txBody>
          <a:bodyPr/>
          <a:lstStyle/>
          <a:p>
            <a:pPr>
              <a:lnSpc>
                <a:spcPct val="80000"/>
              </a:lnSpc>
            </a:pPr>
            <a:r>
              <a:rPr lang="en-US" altLang="zh-TW" smtClean="0">
                <a:ea typeface="新細明體" charset="-120"/>
              </a:rPr>
              <a:t>Midterm exam next week in class</a:t>
            </a:r>
          </a:p>
          <a:p>
            <a:pPr lvl="1">
              <a:lnSpc>
                <a:spcPct val="80000"/>
              </a:lnSpc>
            </a:pPr>
            <a:r>
              <a:rPr lang="en-US" altLang="zh-TW" sz="2000" smtClean="0">
                <a:ea typeface="新細明體" charset="-120"/>
              </a:rPr>
              <a:t>Closed book</a:t>
            </a:r>
          </a:p>
          <a:p>
            <a:pPr>
              <a:lnSpc>
                <a:spcPct val="80000"/>
              </a:lnSpc>
            </a:pPr>
            <a:r>
              <a:rPr lang="en-US" altLang="zh-TW" smtClean="0">
                <a:ea typeface="新細明體" charset="-120"/>
              </a:rPr>
              <a:t>Final exam time changed to 1.13.2009 during class time.</a:t>
            </a:r>
          </a:p>
          <a:p>
            <a:pPr lvl="1">
              <a:lnSpc>
                <a:spcPct val="80000"/>
              </a:lnSpc>
            </a:pPr>
            <a:r>
              <a:rPr lang="en-US" altLang="zh-TW" sz="2000" smtClean="0">
                <a:ea typeface="新細明體" charset="-120"/>
              </a:rPr>
              <a:t>Avoid conflict with other courses.</a:t>
            </a:r>
          </a:p>
          <a:p>
            <a:pPr>
              <a:lnSpc>
                <a:spcPct val="80000"/>
              </a:lnSpc>
            </a:pPr>
            <a:endParaRPr lang="en-US" altLang="zh-TW" smtClean="0">
              <a:ea typeface="新細明體" charset="-120"/>
            </a:endParaRPr>
          </a:p>
        </p:txBody>
      </p:sp>
      <p:sp>
        <p:nvSpPr>
          <p:cNvPr id="18436" name="Rectangle 5"/>
          <p:cNvSpPr>
            <a:spLocks noChangeArrowheads="1"/>
          </p:cNvSpPr>
          <p:nvPr/>
        </p:nvSpPr>
        <p:spPr bwMode="auto">
          <a:xfrm>
            <a:off x="2286000" y="5116513"/>
            <a:ext cx="4078288" cy="915987"/>
          </a:xfrm>
          <a:prstGeom prst="rect">
            <a:avLst/>
          </a:prstGeom>
          <a:noFill/>
          <a:ln w="9525">
            <a:noFill/>
            <a:miter lim="800000"/>
            <a:headEnd/>
            <a:tailEnd/>
          </a:ln>
        </p:spPr>
        <p:txBody>
          <a:bodyPr>
            <a:spAutoFit/>
          </a:bodyPr>
          <a:lstStyle/>
          <a:p>
            <a:endParaRPr kumimoji="1" lang="en-US" altLang="zh-TW">
              <a:ea typeface="新細明體" charset="-120"/>
            </a:endParaRPr>
          </a:p>
          <a:p>
            <a:endParaRPr kumimoji="1" lang="en-US" altLang="zh-TW">
              <a:ea typeface="新細明體" charset="-120"/>
            </a:endParaRPr>
          </a:p>
          <a:p>
            <a:endParaRPr kumimoji="1" lang="en-US" altLang="zh-TW">
              <a:ea typeface="新細明體" charset="-12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TW" smtClean="0">
                <a:ea typeface="新細明體" charset="-120"/>
              </a:rPr>
              <a:t>Outline</a:t>
            </a:r>
          </a:p>
        </p:txBody>
      </p:sp>
      <p:sp>
        <p:nvSpPr>
          <p:cNvPr id="19459" name="Rectangle 3"/>
          <p:cNvSpPr>
            <a:spLocks noGrp="1" noChangeArrowheads="1"/>
          </p:cNvSpPr>
          <p:nvPr>
            <p:ph idx="1"/>
          </p:nvPr>
        </p:nvSpPr>
        <p:spPr/>
        <p:txBody>
          <a:bodyPr/>
          <a:lstStyle/>
          <a:p>
            <a:pPr>
              <a:lnSpc>
                <a:spcPct val="80000"/>
              </a:lnSpc>
            </a:pPr>
            <a:r>
              <a:rPr lang="en-US" altLang="zh-TW" smtClean="0">
                <a:ea typeface="新細明體" charset="-120"/>
              </a:rPr>
              <a:t>What is a deadlock?</a:t>
            </a:r>
          </a:p>
          <a:p>
            <a:pPr>
              <a:lnSpc>
                <a:spcPct val="80000"/>
              </a:lnSpc>
            </a:pPr>
            <a:r>
              <a:rPr lang="en-US" altLang="zh-TW" smtClean="0">
                <a:ea typeface="新細明體" charset="-120"/>
              </a:rPr>
              <a:t>How to deal with a deadlock?</a:t>
            </a:r>
          </a:p>
          <a:p>
            <a:pPr>
              <a:lnSpc>
                <a:spcPct val="80000"/>
              </a:lnSpc>
            </a:pPr>
            <a:r>
              <a:rPr lang="en-US" altLang="zh-TW" smtClean="0">
                <a:ea typeface="新細明體" charset="-120"/>
              </a:rPr>
              <a:t>Deadlock detection</a:t>
            </a:r>
          </a:p>
          <a:p>
            <a:pPr>
              <a:lnSpc>
                <a:spcPct val="80000"/>
              </a:lnSpc>
            </a:pPr>
            <a:r>
              <a:rPr lang="en-US" altLang="zh-TW" smtClean="0">
                <a:ea typeface="新細明體" charset="-120"/>
              </a:rPr>
              <a:t>Deadlock prevention</a:t>
            </a:r>
          </a:p>
          <a:p>
            <a:pPr>
              <a:lnSpc>
                <a:spcPct val="80000"/>
              </a:lnSpc>
            </a:pPr>
            <a:r>
              <a:rPr lang="en-US" altLang="zh-TW" smtClean="0">
                <a:ea typeface="新細明體" charset="-120"/>
              </a:rPr>
              <a:t>Single-instance: wait-for graph</a:t>
            </a:r>
          </a:p>
          <a:p>
            <a:pPr>
              <a:lnSpc>
                <a:spcPct val="80000"/>
              </a:lnSpc>
            </a:pPr>
            <a:r>
              <a:rPr lang="en-US" altLang="zh-TW" smtClean="0">
                <a:ea typeface="新細明體" charset="-120"/>
              </a:rPr>
              <a:t>Multi-instance: banker’s algorithm</a:t>
            </a:r>
          </a:p>
          <a:p>
            <a:pPr>
              <a:lnSpc>
                <a:spcPct val="80000"/>
              </a:lnSpc>
            </a:pPr>
            <a:endParaRPr lang="en-US" altLang="zh-TW" smtClean="0">
              <a:ea typeface="新細明體" charset="-120"/>
            </a:endParaRPr>
          </a:p>
        </p:txBody>
      </p:sp>
      <p:sp>
        <p:nvSpPr>
          <p:cNvPr id="19460" name="Rectangle 5"/>
          <p:cNvSpPr>
            <a:spLocks noChangeArrowheads="1"/>
          </p:cNvSpPr>
          <p:nvPr/>
        </p:nvSpPr>
        <p:spPr bwMode="auto">
          <a:xfrm>
            <a:off x="2286000" y="5116513"/>
            <a:ext cx="4078288" cy="915987"/>
          </a:xfrm>
          <a:prstGeom prst="rect">
            <a:avLst/>
          </a:prstGeom>
          <a:noFill/>
          <a:ln w="9525">
            <a:noFill/>
            <a:miter lim="800000"/>
            <a:headEnd/>
            <a:tailEnd/>
          </a:ln>
        </p:spPr>
        <p:txBody>
          <a:bodyPr>
            <a:spAutoFit/>
          </a:bodyPr>
          <a:lstStyle/>
          <a:p>
            <a:endParaRPr kumimoji="1" lang="en-US" altLang="zh-TW">
              <a:ea typeface="新細明體" charset="-120"/>
            </a:endParaRPr>
          </a:p>
          <a:p>
            <a:endParaRPr kumimoji="1" lang="en-US" altLang="zh-TW">
              <a:ea typeface="新細明體" charset="-120"/>
            </a:endParaRPr>
          </a:p>
          <a:p>
            <a:endParaRPr kumimoji="1" lang="en-US" altLang="zh-TW">
              <a:ea typeface="新細明體"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投影片編號版面配置區 6"/>
          <p:cNvSpPr>
            <a:spLocks noGrp="1"/>
          </p:cNvSpPr>
          <p:nvPr>
            <p:ph type="sldNum" sz="quarter" idx="4294967295"/>
          </p:nvPr>
        </p:nvSpPr>
        <p:spPr bwMode="auto">
          <a:xfrm>
            <a:off x="6553200" y="6245225"/>
            <a:ext cx="2133600" cy="476250"/>
          </a:xfrm>
          <a:prstGeom prst="rect">
            <a:avLst/>
          </a:prstGeom>
          <a:noFill/>
          <a:ln>
            <a:miter lim="800000"/>
            <a:headEnd/>
            <a:tailEnd/>
          </a:ln>
        </p:spPr>
        <p:txBody>
          <a:bodyPr/>
          <a:lstStyle/>
          <a:p>
            <a:fld id="{5EE99969-D8A5-42AE-91E8-573A635A61E3}" type="slidenum">
              <a:rPr lang="en-US" altLang="zh-TW">
                <a:ea typeface="新細明體" charset="-120"/>
              </a:rPr>
              <a:pPr/>
              <a:t>4</a:t>
            </a:fld>
            <a:endParaRPr lang="en-US" altLang="zh-TW">
              <a:ea typeface="新細明體" charset="-120"/>
            </a:endParaRPr>
          </a:p>
        </p:txBody>
      </p:sp>
      <p:sp>
        <p:nvSpPr>
          <p:cNvPr id="20483" name="Rectangle 2"/>
          <p:cNvSpPr>
            <a:spLocks noGrp="1" noChangeArrowheads="1"/>
          </p:cNvSpPr>
          <p:nvPr>
            <p:ph type="title"/>
          </p:nvPr>
        </p:nvSpPr>
        <p:spPr/>
        <p:txBody>
          <a:bodyPr/>
          <a:lstStyle/>
          <a:p>
            <a:r>
              <a:rPr lang="en-US" altLang="zh-TW" smtClean="0">
                <a:ea typeface="新細明體" charset="-120"/>
              </a:rPr>
              <a:t>Deadlocks</a:t>
            </a:r>
          </a:p>
        </p:txBody>
      </p:sp>
      <p:sp>
        <p:nvSpPr>
          <p:cNvPr id="20484" name="Rectangle 3"/>
          <p:cNvSpPr>
            <a:spLocks noGrp="1" noChangeArrowheads="1"/>
          </p:cNvSpPr>
          <p:nvPr>
            <p:ph type="body" sz="half" idx="1"/>
          </p:nvPr>
        </p:nvSpPr>
        <p:spPr>
          <a:xfrm>
            <a:off x="457200" y="1600200"/>
            <a:ext cx="4608513" cy="4525963"/>
          </a:xfrm>
        </p:spPr>
        <p:txBody>
          <a:bodyPr/>
          <a:lstStyle/>
          <a:p>
            <a:r>
              <a:rPr lang="en-US" altLang="zh-TW" smtClean="0">
                <a:ea typeface="新細明體" charset="-120"/>
              </a:rPr>
              <a:t>X(A) = request exclusive lock A</a:t>
            </a:r>
          </a:p>
          <a:p>
            <a:pPr lvl="1"/>
            <a:r>
              <a:rPr lang="en-US" altLang="zh-TW" sz="2000" smtClean="0">
                <a:ea typeface="新細明體" charset="-120"/>
              </a:rPr>
              <a:t>Wait on mutex semaphore A</a:t>
            </a:r>
            <a:endParaRPr lang="en-US" altLang="zh-TW" smtClean="0">
              <a:ea typeface="新細明體" charset="-120"/>
            </a:endParaRPr>
          </a:p>
          <a:p>
            <a:r>
              <a:rPr lang="en-US" altLang="zh-TW" smtClean="0">
                <a:ea typeface="新細明體" charset="-120"/>
              </a:rPr>
              <a:t>T1 and T2 will make no further progress.</a:t>
            </a:r>
          </a:p>
          <a:p>
            <a:r>
              <a:rPr lang="en-US" altLang="zh-TW" smtClean="0">
                <a:ea typeface="新細明體" charset="-120"/>
              </a:rPr>
              <a:t>When can deadlock occur?</a:t>
            </a:r>
          </a:p>
          <a:p>
            <a:r>
              <a:rPr lang="en-US" altLang="zh-TW" smtClean="0">
                <a:ea typeface="新細明體" charset="-120"/>
              </a:rPr>
              <a:t>How to handle deadlock?</a:t>
            </a:r>
          </a:p>
          <a:p>
            <a:pPr lvl="1"/>
            <a:r>
              <a:rPr lang="en-US" altLang="zh-TW" sz="2000" smtClean="0">
                <a:solidFill>
                  <a:srgbClr val="C00000"/>
                </a:solidFill>
                <a:ea typeface="新細明體" charset="-120"/>
              </a:rPr>
              <a:t>Prevent</a:t>
            </a:r>
            <a:r>
              <a:rPr lang="en-US" altLang="zh-TW" sz="2000" smtClean="0">
                <a:ea typeface="新細明體" charset="-120"/>
              </a:rPr>
              <a:t> deadlocks from occurring. </a:t>
            </a:r>
          </a:p>
          <a:p>
            <a:pPr lvl="1"/>
            <a:r>
              <a:rPr lang="en-US" altLang="zh-TW" sz="2000" smtClean="0">
                <a:solidFill>
                  <a:srgbClr val="C00000"/>
                </a:solidFill>
                <a:ea typeface="新細明體" charset="-120"/>
              </a:rPr>
              <a:t>Detection</a:t>
            </a:r>
            <a:r>
              <a:rPr lang="en-US" altLang="zh-TW" sz="2000" smtClean="0">
                <a:ea typeface="新細明體" charset="-120"/>
              </a:rPr>
              <a:t> deadlocks and</a:t>
            </a:r>
            <a:r>
              <a:rPr lang="en-US" altLang="zh-TW" sz="2000" smtClean="0">
                <a:solidFill>
                  <a:srgbClr val="C00000"/>
                </a:solidFill>
                <a:ea typeface="新細明體" charset="-120"/>
              </a:rPr>
              <a:t> resolve </a:t>
            </a:r>
            <a:r>
              <a:rPr lang="en-US" altLang="zh-TW" sz="2000" smtClean="0">
                <a:ea typeface="新細明體" charset="-120"/>
              </a:rPr>
              <a:t>them.</a:t>
            </a:r>
          </a:p>
          <a:p>
            <a:r>
              <a:rPr lang="en-US" altLang="zh-TW" smtClean="0">
                <a:ea typeface="新細明體" charset="-120"/>
              </a:rPr>
              <a:t>How to do deadlock prevention and detection?</a:t>
            </a:r>
          </a:p>
        </p:txBody>
      </p:sp>
      <p:graphicFrame>
        <p:nvGraphicFramePr>
          <p:cNvPr id="409604" name="Group 4"/>
          <p:cNvGraphicFramePr>
            <a:graphicFrameLocks noGrp="1"/>
          </p:cNvGraphicFramePr>
          <p:nvPr>
            <p:ph sz="half" idx="2"/>
          </p:nvPr>
        </p:nvGraphicFramePr>
        <p:xfrm>
          <a:off x="5224463" y="1600200"/>
          <a:ext cx="3462337" cy="4315968"/>
        </p:xfrm>
        <a:graphic>
          <a:graphicData uri="http://schemas.openxmlformats.org/drawingml/2006/table">
            <a:tbl>
              <a:tblPr/>
              <a:tblGrid>
                <a:gridCol w="1763712"/>
                <a:gridCol w="1698625"/>
              </a:tblGrid>
              <a:tr h="317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X(A)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X(B)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Request X(B)</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Blocked!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Request X(A)</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Blocked too!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90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175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TW" smtClean="0">
                <a:ea typeface="新細明體" charset="-120"/>
              </a:rPr>
              <a:t>Deadlock Characterization</a:t>
            </a:r>
          </a:p>
        </p:txBody>
      </p:sp>
      <p:sp>
        <p:nvSpPr>
          <p:cNvPr id="21507" name="Rectangle 3"/>
          <p:cNvSpPr>
            <a:spLocks noGrp="1" noChangeArrowheads="1"/>
          </p:cNvSpPr>
          <p:nvPr>
            <p:ph idx="1"/>
          </p:nvPr>
        </p:nvSpPr>
        <p:spPr/>
        <p:txBody>
          <a:bodyPr/>
          <a:lstStyle/>
          <a:p>
            <a:pPr>
              <a:lnSpc>
                <a:spcPct val="90000"/>
              </a:lnSpc>
            </a:pPr>
            <a:r>
              <a:rPr lang="en-US" altLang="zh-TW" b="1" smtClean="0">
                <a:ea typeface="新細明體" charset="-120"/>
              </a:rPr>
              <a:t>Mutual exclusion:</a:t>
            </a:r>
            <a:r>
              <a:rPr lang="en-US" altLang="zh-TW" smtClean="0">
                <a:ea typeface="新細明體" charset="-120"/>
              </a:rPr>
              <a:t>  only one process at a time can use a resource.</a:t>
            </a:r>
          </a:p>
          <a:p>
            <a:pPr>
              <a:lnSpc>
                <a:spcPct val="90000"/>
              </a:lnSpc>
            </a:pPr>
            <a:r>
              <a:rPr lang="en-US" altLang="zh-TW" b="1" smtClean="0">
                <a:ea typeface="新細明體" charset="-120"/>
              </a:rPr>
              <a:t>Hold and wait:</a:t>
            </a:r>
            <a:r>
              <a:rPr lang="en-US" altLang="zh-TW" smtClean="0">
                <a:ea typeface="新細明體" charset="-120"/>
              </a:rPr>
              <a:t>  a process holding at least one resource is waiting to acquire additional resources held by other processes.</a:t>
            </a:r>
          </a:p>
          <a:p>
            <a:pPr>
              <a:lnSpc>
                <a:spcPct val="90000"/>
              </a:lnSpc>
            </a:pPr>
            <a:r>
              <a:rPr lang="en-US" altLang="zh-TW" b="1" smtClean="0">
                <a:ea typeface="新細明體" charset="-120"/>
              </a:rPr>
              <a:t>No preemption:</a:t>
            </a:r>
            <a:r>
              <a:rPr lang="en-US" altLang="zh-TW" smtClean="0">
                <a:ea typeface="新細明體" charset="-120"/>
              </a:rPr>
              <a:t>  a resource can be released only voluntarily by the process holding it, after that process has completed its task.</a:t>
            </a:r>
          </a:p>
          <a:p>
            <a:pPr>
              <a:lnSpc>
                <a:spcPct val="90000"/>
              </a:lnSpc>
            </a:pPr>
            <a:r>
              <a:rPr lang="en-US" altLang="zh-TW" b="1" smtClean="0">
                <a:ea typeface="新細明體" charset="-120"/>
              </a:rPr>
              <a:t>Circular wait:</a:t>
            </a:r>
            <a:r>
              <a:rPr lang="en-US" altLang="zh-TW" smtClean="0">
                <a:ea typeface="新細明體" charset="-120"/>
              </a:rPr>
              <a:t>  there exists a set {</a:t>
            </a:r>
            <a:r>
              <a:rPr lang="en-US" altLang="zh-TW" i="1" smtClean="0">
                <a:ea typeface="新細明體" charset="-120"/>
              </a:rPr>
              <a:t>P</a:t>
            </a:r>
            <a:r>
              <a:rPr lang="en-US" altLang="zh-TW" baseline="-25000" smtClean="0">
                <a:ea typeface="新細明體" charset="-120"/>
              </a:rPr>
              <a:t>0</a:t>
            </a:r>
            <a:r>
              <a:rPr lang="en-US" altLang="zh-TW" smtClean="0">
                <a:ea typeface="新細明體" charset="-120"/>
              </a:rPr>
              <a:t>, </a:t>
            </a:r>
            <a:r>
              <a:rPr lang="en-US" altLang="zh-TW" i="1" smtClean="0">
                <a:ea typeface="新細明體" charset="-120"/>
              </a:rPr>
              <a:t>P</a:t>
            </a:r>
            <a:r>
              <a:rPr lang="en-US" altLang="zh-TW" baseline="-25000" smtClean="0">
                <a:ea typeface="新細明體" charset="-120"/>
              </a:rPr>
              <a:t>1</a:t>
            </a:r>
            <a:r>
              <a:rPr lang="en-US" altLang="zh-TW" smtClean="0">
                <a:ea typeface="新細明體" charset="-120"/>
              </a:rPr>
              <a:t>, …, </a:t>
            </a:r>
            <a:r>
              <a:rPr lang="en-US" altLang="zh-TW" i="1" smtClean="0">
                <a:ea typeface="新細明體" charset="-120"/>
              </a:rPr>
              <a:t>P</a:t>
            </a:r>
            <a:r>
              <a:rPr lang="en-US" altLang="zh-TW" baseline="-25000" smtClean="0">
                <a:ea typeface="新細明體" charset="-120"/>
              </a:rPr>
              <a:t>0</a:t>
            </a:r>
            <a:r>
              <a:rPr lang="en-US" altLang="zh-TW" smtClean="0">
                <a:ea typeface="新細明體" charset="-120"/>
              </a:rPr>
              <a:t>} of waiting processes such that </a:t>
            </a:r>
            <a:r>
              <a:rPr lang="en-US" altLang="zh-TW" i="1" smtClean="0">
                <a:ea typeface="新細明體" charset="-120"/>
              </a:rPr>
              <a:t>P</a:t>
            </a:r>
            <a:r>
              <a:rPr lang="en-US" altLang="zh-TW" baseline="-25000" smtClean="0">
                <a:ea typeface="新細明體" charset="-120"/>
              </a:rPr>
              <a:t>0 </a:t>
            </a:r>
            <a:r>
              <a:rPr lang="en-US" altLang="zh-TW" smtClean="0">
                <a:ea typeface="新細明體" charset="-120"/>
              </a:rPr>
              <a:t>is waiting for a resource that is held by </a:t>
            </a:r>
            <a:r>
              <a:rPr lang="en-US" altLang="zh-TW" i="1" smtClean="0">
                <a:ea typeface="新細明體" charset="-120"/>
              </a:rPr>
              <a:t>P</a:t>
            </a:r>
            <a:r>
              <a:rPr lang="en-US" altLang="zh-TW" baseline="-25000" smtClean="0">
                <a:ea typeface="新細明體" charset="-120"/>
              </a:rPr>
              <a:t>1</a:t>
            </a:r>
            <a:r>
              <a:rPr lang="en-US" altLang="zh-TW" smtClean="0">
                <a:ea typeface="新細明體" charset="-120"/>
              </a:rPr>
              <a:t>, </a:t>
            </a:r>
            <a:r>
              <a:rPr lang="en-US" altLang="zh-TW" i="1" smtClean="0">
                <a:ea typeface="新細明體" charset="-120"/>
              </a:rPr>
              <a:t>P</a:t>
            </a:r>
            <a:r>
              <a:rPr lang="en-US" altLang="zh-TW" baseline="-25000" smtClean="0">
                <a:ea typeface="新細明體" charset="-120"/>
              </a:rPr>
              <a:t>1</a:t>
            </a:r>
            <a:r>
              <a:rPr lang="en-US" altLang="zh-TW" smtClean="0">
                <a:ea typeface="新細明體" charset="-120"/>
              </a:rPr>
              <a:t> is waiting for a resource that is held by </a:t>
            </a:r>
            <a:r>
              <a:rPr lang="en-US" altLang="zh-TW" i="1" smtClean="0">
                <a:ea typeface="新細明體" charset="-120"/>
              </a:rPr>
              <a:t>P</a:t>
            </a:r>
            <a:r>
              <a:rPr lang="en-US" altLang="zh-TW" baseline="-25000" smtClean="0">
                <a:ea typeface="新細明體" charset="-120"/>
              </a:rPr>
              <a:t>2</a:t>
            </a:r>
            <a:r>
              <a:rPr lang="en-US" altLang="zh-TW" smtClean="0">
                <a:ea typeface="新細明體" charset="-120"/>
              </a:rPr>
              <a:t>, …, </a:t>
            </a:r>
            <a:r>
              <a:rPr lang="en-US" altLang="zh-TW" i="1" smtClean="0">
                <a:ea typeface="新細明體" charset="-120"/>
              </a:rPr>
              <a:t>P</a:t>
            </a:r>
            <a:r>
              <a:rPr lang="en-US" altLang="zh-TW" i="1" baseline="-25000" smtClean="0">
                <a:ea typeface="新細明體" charset="-120"/>
              </a:rPr>
              <a:t>n</a:t>
            </a:r>
            <a:r>
              <a:rPr lang="en-US" altLang="zh-TW" baseline="-25000" smtClean="0">
                <a:ea typeface="新細明體" charset="-120"/>
              </a:rPr>
              <a:t>–1</a:t>
            </a:r>
            <a:r>
              <a:rPr lang="en-US" altLang="zh-TW" smtClean="0">
                <a:ea typeface="新細明體" charset="-120"/>
              </a:rPr>
              <a:t> is waiting for a resource that is held by </a:t>
            </a:r>
            <a:r>
              <a:rPr lang="en-US" altLang="zh-TW" i="1" smtClean="0">
                <a:ea typeface="新細明體" charset="-120"/>
              </a:rPr>
              <a:t>P</a:t>
            </a:r>
            <a:r>
              <a:rPr lang="en-US" altLang="zh-TW" baseline="-25000" smtClean="0">
                <a:ea typeface="新細明體" charset="-120"/>
              </a:rPr>
              <a:t>n</a:t>
            </a:r>
            <a:r>
              <a:rPr lang="en-US" altLang="zh-TW" smtClean="0">
                <a:ea typeface="新細明體" charset="-120"/>
              </a:rPr>
              <a:t>, and </a:t>
            </a:r>
            <a:r>
              <a:rPr lang="en-US" altLang="zh-TW" i="1" smtClean="0">
                <a:ea typeface="新細明體" charset="-120"/>
              </a:rPr>
              <a:t>P</a:t>
            </a:r>
            <a:r>
              <a:rPr lang="en-US" altLang="zh-TW" baseline="-25000" smtClean="0">
                <a:ea typeface="新細明體" charset="-120"/>
              </a:rPr>
              <a:t>0</a:t>
            </a:r>
            <a:r>
              <a:rPr lang="en-US" altLang="zh-TW" smtClean="0">
                <a:ea typeface="新細明體" charset="-120"/>
              </a:rPr>
              <a:t> is waiting for a resource that is held by </a:t>
            </a:r>
            <a:r>
              <a:rPr lang="en-US" altLang="zh-TW" i="1" smtClean="0">
                <a:ea typeface="新細明體" charset="-120"/>
              </a:rPr>
              <a:t>P</a:t>
            </a:r>
            <a:r>
              <a:rPr lang="en-US" altLang="zh-TW" baseline="-25000" smtClean="0">
                <a:ea typeface="新細明體" charset="-120"/>
              </a:rPr>
              <a:t>0</a:t>
            </a:r>
            <a:r>
              <a:rPr lang="en-US" altLang="zh-TW" smtClean="0">
                <a:ea typeface="新細明體" charset="-120"/>
              </a:rPr>
              <a:t>.</a:t>
            </a:r>
          </a:p>
          <a:p>
            <a:pPr>
              <a:lnSpc>
                <a:spcPct val="90000"/>
              </a:lnSpc>
            </a:pPr>
            <a:endParaRPr lang="en-US" altLang="zh-TW" smtClean="0">
              <a:ea typeface="新細明體" charset="-120"/>
            </a:endParaRPr>
          </a:p>
        </p:txBody>
      </p:sp>
      <p:sp>
        <p:nvSpPr>
          <p:cNvPr id="21508" name="Text Box 5"/>
          <p:cNvSpPr txBox="1">
            <a:spLocks noChangeArrowheads="1"/>
          </p:cNvSpPr>
          <p:nvPr/>
        </p:nvSpPr>
        <p:spPr bwMode="auto">
          <a:xfrm>
            <a:off x="985838" y="911225"/>
            <a:ext cx="6634162" cy="396875"/>
          </a:xfrm>
          <a:prstGeom prst="rect">
            <a:avLst/>
          </a:prstGeom>
          <a:noFill/>
          <a:ln w="9525">
            <a:noFill/>
            <a:miter lim="800000"/>
            <a:headEnd/>
            <a:tailEnd/>
          </a:ln>
        </p:spPr>
        <p:txBody>
          <a:bodyPr wrap="none" anchor="ctr">
            <a:spAutoFit/>
          </a:bodyPr>
          <a:lstStyle/>
          <a:p>
            <a:pPr algn="ctr">
              <a:spcBef>
                <a:spcPct val="50000"/>
              </a:spcBef>
            </a:pPr>
            <a:r>
              <a:rPr lang="en-US" altLang="zh-TW" sz="2000">
                <a:ea typeface="新細明體" charset="-120"/>
              </a:rPr>
              <a:t>Deadlock can arise if four conditions hold simultaneously.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投影片編號版面配置區 6"/>
          <p:cNvSpPr>
            <a:spLocks noGrp="1"/>
          </p:cNvSpPr>
          <p:nvPr>
            <p:ph type="sldNum" sz="quarter" idx="4294967295"/>
          </p:nvPr>
        </p:nvSpPr>
        <p:spPr bwMode="auto">
          <a:xfrm>
            <a:off x="6553200" y="6245225"/>
            <a:ext cx="2133600" cy="476250"/>
          </a:xfrm>
          <a:prstGeom prst="rect">
            <a:avLst/>
          </a:prstGeom>
          <a:noFill/>
          <a:ln>
            <a:miter lim="800000"/>
            <a:headEnd/>
            <a:tailEnd/>
          </a:ln>
        </p:spPr>
        <p:txBody>
          <a:bodyPr/>
          <a:lstStyle/>
          <a:p>
            <a:fld id="{BA6F56F2-CC7E-4935-87F7-C44A2F8692B5}" type="slidenum">
              <a:rPr lang="en-US" altLang="zh-TW">
                <a:ea typeface="新細明體" charset="-120"/>
              </a:rPr>
              <a:pPr/>
              <a:t>6</a:t>
            </a:fld>
            <a:endParaRPr lang="en-US" altLang="zh-TW">
              <a:ea typeface="新細明體" charset="-120"/>
            </a:endParaRPr>
          </a:p>
        </p:txBody>
      </p:sp>
      <p:sp>
        <p:nvSpPr>
          <p:cNvPr id="22531" name="Rectangle 2"/>
          <p:cNvSpPr>
            <a:spLocks noGrp="1" noChangeArrowheads="1"/>
          </p:cNvSpPr>
          <p:nvPr>
            <p:ph type="title"/>
          </p:nvPr>
        </p:nvSpPr>
        <p:spPr>
          <a:noFill/>
        </p:spPr>
        <p:txBody>
          <a:bodyPr lIns="90488" tIns="44450" rIns="90488" bIns="44450"/>
          <a:lstStyle/>
          <a:p>
            <a:r>
              <a:rPr lang="en-US" altLang="zh-TW" smtClean="0">
                <a:ea typeface="新細明體" charset="-120"/>
              </a:rPr>
              <a:t>Single-instance Deadlock Detection</a:t>
            </a:r>
          </a:p>
        </p:txBody>
      </p:sp>
      <p:sp>
        <p:nvSpPr>
          <p:cNvPr id="22532" name="Rectangle 3"/>
          <p:cNvSpPr>
            <a:spLocks noGrp="1" noChangeArrowheads="1"/>
          </p:cNvSpPr>
          <p:nvPr>
            <p:ph type="body" sz="half" idx="1"/>
          </p:nvPr>
        </p:nvSpPr>
        <p:spPr>
          <a:xfrm>
            <a:off x="457200" y="1600200"/>
            <a:ext cx="4579938" cy="4525963"/>
          </a:xfrm>
          <a:noFill/>
        </p:spPr>
        <p:txBody>
          <a:bodyPr lIns="90488" tIns="44450" rIns="90488" bIns="44450"/>
          <a:lstStyle/>
          <a:p>
            <a:pPr>
              <a:lnSpc>
                <a:spcPct val="90000"/>
              </a:lnSpc>
            </a:pPr>
            <a:r>
              <a:rPr lang="en-US" altLang="zh-TW" smtClean="0">
                <a:ea typeface="新細明體" charset="-120"/>
              </a:rPr>
              <a:t>Resource type:</a:t>
            </a:r>
          </a:p>
          <a:p>
            <a:pPr lvl="1">
              <a:lnSpc>
                <a:spcPct val="90000"/>
              </a:lnSpc>
            </a:pPr>
            <a:r>
              <a:rPr lang="en-US" altLang="zh-TW" sz="2000" smtClean="0">
                <a:ea typeface="新細明體" charset="-120"/>
              </a:rPr>
              <a:t>Single-Instance: mutex</a:t>
            </a:r>
          </a:p>
          <a:p>
            <a:pPr lvl="1">
              <a:lnSpc>
                <a:spcPct val="90000"/>
              </a:lnSpc>
            </a:pPr>
            <a:r>
              <a:rPr lang="en-US" altLang="zh-TW" sz="2000" smtClean="0">
                <a:ea typeface="新細明體" charset="-120"/>
              </a:rPr>
              <a:t>Multi-Instance: CPUs</a:t>
            </a:r>
          </a:p>
          <a:p>
            <a:pPr>
              <a:lnSpc>
                <a:spcPct val="90000"/>
              </a:lnSpc>
            </a:pPr>
            <a:r>
              <a:rPr lang="en-US" altLang="zh-TW" smtClean="0">
                <a:ea typeface="新細明體" charset="-120"/>
              </a:rPr>
              <a:t>Create a </a:t>
            </a:r>
            <a:r>
              <a:rPr lang="en-US" altLang="zh-TW" smtClean="0">
                <a:solidFill>
                  <a:srgbClr val="C00000"/>
                </a:solidFill>
                <a:ea typeface="新細明體" charset="-120"/>
              </a:rPr>
              <a:t>waits-for graph</a:t>
            </a:r>
            <a:r>
              <a:rPr lang="en-US" altLang="zh-TW" smtClean="0">
                <a:ea typeface="新細明體" charset="-120"/>
              </a:rPr>
              <a:t>:</a:t>
            </a:r>
          </a:p>
          <a:p>
            <a:pPr lvl="1">
              <a:lnSpc>
                <a:spcPct val="90000"/>
              </a:lnSpc>
              <a:buSzPct val="75000"/>
            </a:pPr>
            <a:r>
              <a:rPr lang="en-US" altLang="zh-TW" sz="2000" smtClean="0">
                <a:ea typeface="新細明體" charset="-120"/>
              </a:rPr>
              <a:t>Nodes are processes/transactions</a:t>
            </a:r>
          </a:p>
          <a:p>
            <a:pPr lvl="1">
              <a:lnSpc>
                <a:spcPct val="90000"/>
              </a:lnSpc>
              <a:buSzPct val="75000"/>
            </a:pPr>
            <a:r>
              <a:rPr lang="en-US" altLang="zh-TW" sz="2000" smtClean="0">
                <a:ea typeface="新細明體" charset="-120"/>
              </a:rPr>
              <a:t>There is an edge from Ti to Tj if Ti is waiting for Tj to release a lock</a:t>
            </a:r>
          </a:p>
          <a:p>
            <a:pPr>
              <a:lnSpc>
                <a:spcPct val="90000"/>
              </a:lnSpc>
            </a:pPr>
            <a:r>
              <a:rPr lang="en-US" altLang="zh-TW" smtClean="0">
                <a:ea typeface="新細明體" charset="-120"/>
              </a:rPr>
              <a:t>Periodically check for cycles in the waits-for graph, </a:t>
            </a:r>
          </a:p>
          <a:p>
            <a:pPr lvl="1">
              <a:lnSpc>
                <a:spcPct val="90000"/>
              </a:lnSpc>
            </a:pPr>
            <a:r>
              <a:rPr lang="en-US" altLang="zh-TW" sz="1800" smtClean="0">
                <a:ea typeface="新細明體" charset="-120"/>
              </a:rPr>
              <a:t>cycle = Deadlock</a:t>
            </a:r>
          </a:p>
          <a:p>
            <a:pPr lvl="1">
              <a:lnSpc>
                <a:spcPct val="90000"/>
              </a:lnSpc>
            </a:pPr>
            <a:r>
              <a:rPr lang="en-US" altLang="zh-TW" sz="1800" smtClean="0">
                <a:ea typeface="新細明體" charset="-120"/>
              </a:rPr>
              <a:t>Resolve a deadlock by aborting a process a cycle.</a:t>
            </a:r>
          </a:p>
        </p:txBody>
      </p:sp>
      <p:graphicFrame>
        <p:nvGraphicFramePr>
          <p:cNvPr id="382002" name="Group 50"/>
          <p:cNvGraphicFramePr>
            <a:graphicFrameLocks noGrp="1"/>
          </p:cNvGraphicFramePr>
          <p:nvPr>
            <p:ph sz="half" idx="2"/>
          </p:nvPr>
        </p:nvGraphicFramePr>
        <p:xfrm>
          <a:off x="6019800" y="2209800"/>
          <a:ext cx="2895600" cy="2346960"/>
        </p:xfrm>
        <a:graphic>
          <a:graphicData uri="http://schemas.openxmlformats.org/drawingml/2006/table">
            <a:tbl>
              <a:tblPr/>
              <a:tblGrid>
                <a:gridCol w="1447800"/>
                <a:gridCol w="1447800"/>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S(A)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S(B)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R(B)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X(B): W(B)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5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X(A): W(A)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2556" name="Line 35"/>
          <p:cNvSpPr>
            <a:spLocks noChangeShapeType="1"/>
          </p:cNvSpPr>
          <p:nvPr/>
        </p:nvSpPr>
        <p:spPr bwMode="auto">
          <a:xfrm>
            <a:off x="5791200" y="3733800"/>
            <a:ext cx="3352800" cy="0"/>
          </a:xfrm>
          <a:prstGeom prst="line">
            <a:avLst/>
          </a:prstGeom>
          <a:noFill/>
          <a:ln w="76200">
            <a:solidFill>
              <a:schemeClr val="accent2"/>
            </a:solidFill>
            <a:round/>
            <a:headEnd/>
            <a:tailEnd/>
          </a:ln>
        </p:spPr>
        <p:txBody>
          <a:bodyPr/>
          <a:lstStyle/>
          <a:p>
            <a:endParaRPr lang="en-IN"/>
          </a:p>
        </p:txBody>
      </p:sp>
    </p:spTree>
  </p:cSld>
  <p:clrMapOvr>
    <a:masterClrMapping/>
  </p:clrMapOvr>
  <p:transition spd="slow">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p:spPr>
        <p:txBody>
          <a:bodyPr lIns="90488" tIns="44450" rIns="90488" bIns="44450"/>
          <a:lstStyle/>
          <a:p>
            <a:r>
              <a:rPr lang="en-US" altLang="zh-TW" smtClean="0">
                <a:ea typeface="新細明體" charset="-120"/>
              </a:rPr>
              <a:t>Single-Instance Wait-For-Graph</a:t>
            </a:r>
          </a:p>
        </p:txBody>
      </p:sp>
      <p:sp>
        <p:nvSpPr>
          <p:cNvPr id="23555" name="投影片編號版面配置區 5"/>
          <p:cNvSpPr>
            <a:spLocks noGrp="1"/>
          </p:cNvSpPr>
          <p:nvPr>
            <p:ph type="sldNum" sz="quarter" idx="4294967295"/>
          </p:nvPr>
        </p:nvSpPr>
        <p:spPr bwMode="auto">
          <a:xfrm>
            <a:off x="7010400" y="6245225"/>
            <a:ext cx="2133600" cy="476250"/>
          </a:xfrm>
          <a:prstGeom prst="rect">
            <a:avLst/>
          </a:prstGeom>
          <a:noFill/>
          <a:ln>
            <a:miter lim="800000"/>
            <a:headEnd/>
            <a:tailEnd/>
          </a:ln>
        </p:spPr>
        <p:txBody>
          <a:bodyPr/>
          <a:lstStyle/>
          <a:p>
            <a:fld id="{E23F32F0-8EBA-4FE5-8E31-7252B34D031B}" type="slidenum">
              <a:rPr lang="en-US" altLang="zh-TW">
                <a:ea typeface="新細明體" charset="-120"/>
              </a:rPr>
              <a:pPr/>
              <a:t>7</a:t>
            </a:fld>
            <a:endParaRPr lang="en-US" altLang="zh-TW">
              <a:ea typeface="新細明體" charset="-120"/>
            </a:endParaRPr>
          </a:p>
        </p:txBody>
      </p:sp>
      <p:sp>
        <p:nvSpPr>
          <p:cNvPr id="23556" name="Oval 3"/>
          <p:cNvSpPr>
            <a:spLocks noChangeArrowheads="1"/>
          </p:cNvSpPr>
          <p:nvPr/>
        </p:nvSpPr>
        <p:spPr bwMode="auto">
          <a:xfrm>
            <a:off x="5715000" y="15240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T1</a:t>
            </a:r>
            <a:endParaRPr lang="zh-TW" altLang="en-US" sz="2400">
              <a:latin typeface="Calibri" pitchFamily="34" charset="0"/>
              <a:ea typeface="新細明體" charset="-120"/>
            </a:endParaRPr>
          </a:p>
        </p:txBody>
      </p:sp>
      <p:sp>
        <p:nvSpPr>
          <p:cNvPr id="23557" name="Oval 4"/>
          <p:cNvSpPr>
            <a:spLocks noChangeArrowheads="1"/>
          </p:cNvSpPr>
          <p:nvPr/>
        </p:nvSpPr>
        <p:spPr bwMode="auto">
          <a:xfrm>
            <a:off x="7848600" y="15240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T2</a:t>
            </a:r>
            <a:endParaRPr lang="zh-TW" altLang="en-US" sz="2400">
              <a:latin typeface="Calibri" pitchFamily="34" charset="0"/>
              <a:ea typeface="新細明體" charset="-120"/>
            </a:endParaRPr>
          </a:p>
        </p:txBody>
      </p:sp>
      <p:sp>
        <p:nvSpPr>
          <p:cNvPr id="23558" name="Oval 5"/>
          <p:cNvSpPr>
            <a:spLocks noChangeArrowheads="1"/>
          </p:cNvSpPr>
          <p:nvPr/>
        </p:nvSpPr>
        <p:spPr bwMode="auto">
          <a:xfrm>
            <a:off x="5715000" y="28956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T4</a:t>
            </a:r>
            <a:endParaRPr lang="zh-TW" altLang="en-US" sz="2400">
              <a:latin typeface="Calibri" pitchFamily="34" charset="0"/>
              <a:ea typeface="新細明體" charset="-120"/>
            </a:endParaRPr>
          </a:p>
        </p:txBody>
      </p:sp>
      <p:sp>
        <p:nvSpPr>
          <p:cNvPr id="23559" name="Oval 6"/>
          <p:cNvSpPr>
            <a:spLocks noChangeArrowheads="1"/>
          </p:cNvSpPr>
          <p:nvPr/>
        </p:nvSpPr>
        <p:spPr bwMode="auto">
          <a:xfrm>
            <a:off x="7772400" y="28956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T3</a:t>
            </a:r>
            <a:endParaRPr lang="zh-TW" altLang="en-US" sz="2400">
              <a:latin typeface="Calibri" pitchFamily="34" charset="0"/>
              <a:ea typeface="新細明體" charset="-120"/>
            </a:endParaRPr>
          </a:p>
        </p:txBody>
      </p:sp>
      <p:sp>
        <p:nvSpPr>
          <p:cNvPr id="23560" name="Line 11"/>
          <p:cNvSpPr>
            <a:spLocks noChangeShapeType="1"/>
          </p:cNvSpPr>
          <p:nvPr/>
        </p:nvSpPr>
        <p:spPr bwMode="auto">
          <a:xfrm>
            <a:off x="6400800" y="1828800"/>
            <a:ext cx="1447800" cy="0"/>
          </a:xfrm>
          <a:prstGeom prst="line">
            <a:avLst/>
          </a:prstGeom>
          <a:noFill/>
          <a:ln w="38100">
            <a:solidFill>
              <a:schemeClr val="tx2"/>
            </a:solidFill>
            <a:round/>
            <a:headEnd type="none" w="sm" len="sm"/>
            <a:tailEnd type="stealth" w="med" len="med"/>
          </a:ln>
        </p:spPr>
        <p:txBody>
          <a:bodyPr/>
          <a:lstStyle/>
          <a:p>
            <a:endParaRPr lang="en-IN"/>
          </a:p>
        </p:txBody>
      </p:sp>
      <p:sp>
        <p:nvSpPr>
          <p:cNvPr id="23561" name="Line 12"/>
          <p:cNvSpPr>
            <a:spLocks noChangeShapeType="1"/>
          </p:cNvSpPr>
          <p:nvPr/>
        </p:nvSpPr>
        <p:spPr bwMode="auto">
          <a:xfrm>
            <a:off x="8153400" y="2209800"/>
            <a:ext cx="0" cy="685800"/>
          </a:xfrm>
          <a:prstGeom prst="line">
            <a:avLst/>
          </a:prstGeom>
          <a:noFill/>
          <a:ln w="38100">
            <a:solidFill>
              <a:schemeClr val="tx2"/>
            </a:solidFill>
            <a:round/>
            <a:headEnd type="none" w="sm" len="sm"/>
            <a:tailEnd type="stealth" w="med" len="med"/>
          </a:ln>
        </p:spPr>
        <p:txBody>
          <a:bodyPr/>
          <a:lstStyle/>
          <a:p>
            <a:endParaRPr lang="en-IN"/>
          </a:p>
        </p:txBody>
      </p:sp>
      <p:sp>
        <p:nvSpPr>
          <p:cNvPr id="23562" name="Line 13"/>
          <p:cNvSpPr>
            <a:spLocks noChangeShapeType="1"/>
          </p:cNvSpPr>
          <p:nvPr/>
        </p:nvSpPr>
        <p:spPr bwMode="auto">
          <a:xfrm flipV="1">
            <a:off x="6324600" y="1981200"/>
            <a:ext cx="1600200" cy="990600"/>
          </a:xfrm>
          <a:prstGeom prst="line">
            <a:avLst/>
          </a:prstGeom>
          <a:noFill/>
          <a:ln w="38100">
            <a:solidFill>
              <a:schemeClr val="tx2"/>
            </a:solidFill>
            <a:round/>
            <a:headEnd type="none" w="sm" len="sm"/>
            <a:tailEnd type="stealth" w="med" len="med"/>
          </a:ln>
        </p:spPr>
        <p:txBody>
          <a:bodyPr/>
          <a:lstStyle/>
          <a:p>
            <a:endParaRPr lang="en-IN"/>
          </a:p>
        </p:txBody>
      </p:sp>
      <p:sp>
        <p:nvSpPr>
          <p:cNvPr id="23563" name="Oval 14"/>
          <p:cNvSpPr>
            <a:spLocks noChangeArrowheads="1"/>
          </p:cNvSpPr>
          <p:nvPr/>
        </p:nvSpPr>
        <p:spPr bwMode="auto">
          <a:xfrm>
            <a:off x="5715000" y="41910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T1</a:t>
            </a:r>
            <a:endParaRPr lang="zh-TW" altLang="en-US" sz="2400">
              <a:latin typeface="Calibri" pitchFamily="34" charset="0"/>
              <a:ea typeface="新細明體" charset="-120"/>
            </a:endParaRPr>
          </a:p>
        </p:txBody>
      </p:sp>
      <p:sp>
        <p:nvSpPr>
          <p:cNvPr id="23564" name="Oval 15"/>
          <p:cNvSpPr>
            <a:spLocks noChangeArrowheads="1"/>
          </p:cNvSpPr>
          <p:nvPr/>
        </p:nvSpPr>
        <p:spPr bwMode="auto">
          <a:xfrm>
            <a:off x="7848600" y="41910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T2</a:t>
            </a:r>
            <a:endParaRPr lang="zh-TW" altLang="en-US" sz="2400">
              <a:latin typeface="Calibri" pitchFamily="34" charset="0"/>
              <a:ea typeface="新細明體" charset="-120"/>
            </a:endParaRPr>
          </a:p>
        </p:txBody>
      </p:sp>
      <p:sp>
        <p:nvSpPr>
          <p:cNvPr id="23565" name="Oval 16"/>
          <p:cNvSpPr>
            <a:spLocks noChangeArrowheads="1"/>
          </p:cNvSpPr>
          <p:nvPr/>
        </p:nvSpPr>
        <p:spPr bwMode="auto">
          <a:xfrm>
            <a:off x="5715000" y="55626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T4</a:t>
            </a:r>
            <a:endParaRPr lang="zh-TW" altLang="en-US" sz="2400">
              <a:latin typeface="Calibri" pitchFamily="34" charset="0"/>
              <a:ea typeface="新細明體" charset="-120"/>
            </a:endParaRPr>
          </a:p>
        </p:txBody>
      </p:sp>
      <p:sp>
        <p:nvSpPr>
          <p:cNvPr id="23566" name="Oval 17"/>
          <p:cNvSpPr>
            <a:spLocks noChangeArrowheads="1"/>
          </p:cNvSpPr>
          <p:nvPr/>
        </p:nvSpPr>
        <p:spPr bwMode="auto">
          <a:xfrm>
            <a:off x="7772400" y="5562600"/>
            <a:ext cx="673100" cy="673100"/>
          </a:xfrm>
          <a:prstGeom prst="ellipse">
            <a:avLst/>
          </a:prstGeom>
          <a:noFill/>
          <a:ln w="12700">
            <a:solidFill>
              <a:schemeClr val="tx1"/>
            </a:solidFill>
            <a:round/>
            <a:headEnd/>
            <a:tailEnd/>
          </a:ln>
        </p:spPr>
        <p:txBody>
          <a:bodyPr wrap="none" anchor="ctr"/>
          <a:lstStyle/>
          <a:p>
            <a:r>
              <a:rPr lang="en-US" altLang="zh-TW" sz="2400">
                <a:latin typeface="Calibri" pitchFamily="34" charset="0"/>
                <a:ea typeface="新細明體" charset="-120"/>
              </a:rPr>
              <a:t>T3</a:t>
            </a:r>
            <a:endParaRPr lang="zh-TW" altLang="en-US" sz="2400">
              <a:latin typeface="Calibri" pitchFamily="34" charset="0"/>
              <a:ea typeface="新細明體" charset="-120"/>
            </a:endParaRPr>
          </a:p>
        </p:txBody>
      </p:sp>
      <p:sp>
        <p:nvSpPr>
          <p:cNvPr id="23567" name="Line 22"/>
          <p:cNvSpPr>
            <a:spLocks noChangeShapeType="1"/>
          </p:cNvSpPr>
          <p:nvPr/>
        </p:nvSpPr>
        <p:spPr bwMode="auto">
          <a:xfrm>
            <a:off x="6400800" y="4495800"/>
            <a:ext cx="1447800" cy="0"/>
          </a:xfrm>
          <a:prstGeom prst="line">
            <a:avLst/>
          </a:prstGeom>
          <a:noFill/>
          <a:ln w="12700">
            <a:solidFill>
              <a:schemeClr val="tx1"/>
            </a:solidFill>
            <a:round/>
            <a:headEnd type="none" w="sm" len="sm"/>
            <a:tailEnd type="stealth" w="med" len="med"/>
          </a:ln>
        </p:spPr>
        <p:txBody>
          <a:bodyPr/>
          <a:lstStyle/>
          <a:p>
            <a:endParaRPr lang="en-IN"/>
          </a:p>
        </p:txBody>
      </p:sp>
      <p:sp>
        <p:nvSpPr>
          <p:cNvPr id="23568" name="Line 23"/>
          <p:cNvSpPr>
            <a:spLocks noChangeShapeType="1"/>
          </p:cNvSpPr>
          <p:nvPr/>
        </p:nvSpPr>
        <p:spPr bwMode="auto">
          <a:xfrm>
            <a:off x="8153400" y="4876800"/>
            <a:ext cx="0" cy="685800"/>
          </a:xfrm>
          <a:prstGeom prst="line">
            <a:avLst/>
          </a:prstGeom>
          <a:noFill/>
          <a:ln w="12700">
            <a:solidFill>
              <a:schemeClr val="tx1"/>
            </a:solidFill>
            <a:round/>
            <a:headEnd type="none" w="sm" len="sm"/>
            <a:tailEnd type="stealth" w="med" len="med"/>
          </a:ln>
        </p:spPr>
        <p:txBody>
          <a:bodyPr/>
          <a:lstStyle/>
          <a:p>
            <a:endParaRPr lang="en-IN"/>
          </a:p>
        </p:txBody>
      </p:sp>
      <p:sp>
        <p:nvSpPr>
          <p:cNvPr id="23569" name="Line 24"/>
          <p:cNvSpPr>
            <a:spLocks noChangeShapeType="1"/>
          </p:cNvSpPr>
          <p:nvPr/>
        </p:nvSpPr>
        <p:spPr bwMode="auto">
          <a:xfrm flipH="1" flipV="1">
            <a:off x="6324600" y="4800600"/>
            <a:ext cx="1524000" cy="914400"/>
          </a:xfrm>
          <a:prstGeom prst="line">
            <a:avLst/>
          </a:prstGeom>
          <a:noFill/>
          <a:ln w="50800">
            <a:solidFill>
              <a:srgbClr val="0070C0"/>
            </a:solidFill>
            <a:round/>
            <a:headEnd type="none" w="sm" len="sm"/>
            <a:tailEnd type="stealth" w="med" len="med"/>
          </a:ln>
        </p:spPr>
        <p:txBody>
          <a:bodyPr/>
          <a:lstStyle/>
          <a:p>
            <a:endParaRPr lang="en-IN"/>
          </a:p>
        </p:txBody>
      </p:sp>
      <p:sp>
        <p:nvSpPr>
          <p:cNvPr id="23570" name="Line 25"/>
          <p:cNvSpPr>
            <a:spLocks noChangeShapeType="1"/>
          </p:cNvSpPr>
          <p:nvPr/>
        </p:nvSpPr>
        <p:spPr bwMode="auto">
          <a:xfrm flipV="1">
            <a:off x="6324600" y="4648200"/>
            <a:ext cx="1600200" cy="990600"/>
          </a:xfrm>
          <a:prstGeom prst="line">
            <a:avLst/>
          </a:prstGeom>
          <a:noFill/>
          <a:ln w="12700">
            <a:solidFill>
              <a:schemeClr val="tx1"/>
            </a:solidFill>
            <a:round/>
            <a:headEnd type="none" w="sm" len="sm"/>
            <a:tailEnd type="stealth" w="med" len="med"/>
          </a:ln>
        </p:spPr>
        <p:txBody>
          <a:bodyPr/>
          <a:lstStyle/>
          <a:p>
            <a:endParaRPr lang="en-IN"/>
          </a:p>
        </p:txBody>
      </p:sp>
      <p:graphicFrame>
        <p:nvGraphicFramePr>
          <p:cNvPr id="45" name="Group 175"/>
          <p:cNvGraphicFramePr>
            <a:graphicFrameLocks noGrp="1"/>
          </p:cNvGraphicFramePr>
          <p:nvPr/>
        </p:nvGraphicFramePr>
        <p:xfrm>
          <a:off x="457200" y="1600200"/>
          <a:ext cx="4800600" cy="4358640"/>
        </p:xfrm>
        <a:graphic>
          <a:graphicData uri="http://schemas.openxmlformats.org/drawingml/2006/table">
            <a:tbl>
              <a:tblPr/>
              <a:tblGrid>
                <a:gridCol w="1200150"/>
                <a:gridCol w="1200150"/>
                <a:gridCol w="1200150"/>
                <a:gridCol w="1200150"/>
              </a:tblGrid>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4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S(A)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X(B)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W(B)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rgbClr val="C00000"/>
                          </a:solidFill>
                          <a:effectLst/>
                          <a:latin typeface="Calibri" pitchFamily="34" charset="0"/>
                          <a:ea typeface="新細明體" charset="-120"/>
                        </a:rPr>
                        <a:t>S(B)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R(C)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rgbClr val="C00000"/>
                          </a:solidFill>
                          <a:effectLst/>
                          <a:latin typeface="Calibri" pitchFamily="34" charset="0"/>
                          <a:ea typeface="新細明體" charset="-120"/>
                        </a:rPr>
                        <a:t>X(C)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rgbClr val="C00000"/>
                          </a:solidFill>
                          <a:effectLst/>
                          <a:latin typeface="Calibri" pitchFamily="34" charset="0"/>
                          <a:ea typeface="新細明體" charset="-120"/>
                        </a:rPr>
                        <a:t>X(B)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rgbClr val="0070C0"/>
                          </a:solidFill>
                          <a:effectLst/>
                          <a:latin typeface="Calibri" pitchFamily="34" charset="0"/>
                          <a:ea typeface="新細明體" charset="-120"/>
                        </a:rPr>
                        <a:t>X(A)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20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633" name="Line 98"/>
          <p:cNvSpPr>
            <a:spLocks noChangeShapeType="1"/>
          </p:cNvSpPr>
          <p:nvPr/>
        </p:nvSpPr>
        <p:spPr bwMode="auto">
          <a:xfrm>
            <a:off x="304800" y="5562600"/>
            <a:ext cx="5105400" cy="0"/>
          </a:xfrm>
          <a:prstGeom prst="line">
            <a:avLst/>
          </a:prstGeom>
          <a:noFill/>
          <a:ln w="76200">
            <a:solidFill>
              <a:schemeClr val="accent2"/>
            </a:solidFill>
            <a:round/>
            <a:headEnd/>
            <a:tailEnd/>
          </a:ln>
        </p:spPr>
        <p:txBody>
          <a:bodyPr/>
          <a:lstStyle/>
          <a:p>
            <a:endParaRPr lang="en-IN"/>
          </a:p>
        </p:txBody>
      </p:sp>
    </p:spTree>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投影片編號版面配置區 5"/>
          <p:cNvSpPr>
            <a:spLocks noGrp="1"/>
          </p:cNvSpPr>
          <p:nvPr>
            <p:ph type="sldNum" sz="quarter" idx="4294967295"/>
          </p:nvPr>
        </p:nvSpPr>
        <p:spPr bwMode="auto">
          <a:xfrm>
            <a:off x="6553200" y="6245225"/>
            <a:ext cx="2133600" cy="476250"/>
          </a:xfrm>
          <a:prstGeom prst="rect">
            <a:avLst/>
          </a:prstGeom>
          <a:noFill/>
          <a:ln>
            <a:miter lim="800000"/>
            <a:headEnd/>
            <a:tailEnd/>
          </a:ln>
        </p:spPr>
        <p:txBody>
          <a:bodyPr/>
          <a:lstStyle/>
          <a:p>
            <a:fld id="{A6055E81-8248-4EC7-9B62-BBB06FF2B944}" type="slidenum">
              <a:rPr lang="en-US" altLang="zh-TW">
                <a:ea typeface="新細明體" charset="-120"/>
              </a:rPr>
              <a:pPr/>
              <a:t>8</a:t>
            </a:fld>
            <a:endParaRPr lang="en-US" altLang="zh-TW">
              <a:ea typeface="新細明體" charset="-120"/>
            </a:endParaRPr>
          </a:p>
        </p:txBody>
      </p:sp>
      <p:sp>
        <p:nvSpPr>
          <p:cNvPr id="24579" name="Rectangle 2"/>
          <p:cNvSpPr>
            <a:spLocks noGrp="1" noChangeArrowheads="1"/>
          </p:cNvSpPr>
          <p:nvPr>
            <p:ph type="title"/>
          </p:nvPr>
        </p:nvSpPr>
        <p:spPr>
          <a:noFill/>
        </p:spPr>
        <p:txBody>
          <a:bodyPr lIns="90488" tIns="44450" rIns="90488" bIns="44450"/>
          <a:lstStyle/>
          <a:p>
            <a:r>
              <a:rPr lang="en-US" altLang="zh-TW" smtClean="0">
                <a:ea typeface="新細明體" charset="-120"/>
              </a:rPr>
              <a:t>Single-instance Deadlock Prevention</a:t>
            </a:r>
          </a:p>
        </p:txBody>
      </p:sp>
      <p:sp>
        <p:nvSpPr>
          <p:cNvPr id="386051" name="Rectangle 3"/>
          <p:cNvSpPr>
            <a:spLocks noGrp="1" noChangeArrowheads="1"/>
          </p:cNvSpPr>
          <p:nvPr>
            <p:ph type="body" idx="1"/>
          </p:nvPr>
        </p:nvSpPr>
        <p:spPr>
          <a:noFill/>
        </p:spPr>
        <p:txBody>
          <a:bodyPr lIns="90488" tIns="44450" rIns="90488" bIns="44450"/>
          <a:lstStyle/>
          <a:p>
            <a:r>
              <a:rPr lang="en-US" altLang="zh-TW" smtClean="0">
                <a:ea typeface="新細明體" charset="-120"/>
              </a:rPr>
              <a:t>Make sure that deadlock will not occur.</a:t>
            </a:r>
          </a:p>
          <a:p>
            <a:r>
              <a:rPr lang="en-US" altLang="zh-TW" smtClean="0">
                <a:ea typeface="新細明體" charset="-120"/>
              </a:rPr>
              <a:t>How to do it?</a:t>
            </a:r>
          </a:p>
          <a:p>
            <a:pPr lvl="1"/>
            <a:r>
              <a:rPr lang="en-US" altLang="zh-TW" sz="2000" smtClean="0">
                <a:ea typeface="新細明體" charset="-120"/>
              </a:rPr>
              <a:t>Assign </a:t>
            </a:r>
            <a:r>
              <a:rPr lang="en-US" altLang="zh-TW" sz="2000" smtClean="0">
                <a:solidFill>
                  <a:srgbClr val="C00000"/>
                </a:solidFill>
                <a:ea typeface="新細明體" charset="-120"/>
              </a:rPr>
              <a:t>priorities</a:t>
            </a:r>
            <a:r>
              <a:rPr lang="en-US" altLang="zh-TW" sz="2000" smtClean="0">
                <a:ea typeface="新細明體" charset="-120"/>
              </a:rPr>
              <a:t> to transactions based on timestamps when they start up.  (lower timestamps = higher priority)</a:t>
            </a:r>
          </a:p>
          <a:p>
            <a:pPr lvl="1"/>
            <a:r>
              <a:rPr lang="en-US" altLang="zh-TW" sz="2000" smtClean="0">
                <a:ea typeface="新細明體" charset="-120"/>
              </a:rPr>
              <a:t>Lower priorities cannot wait for higher-priority transactions.</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6051">
                                            <p:txEl>
                                              <p:pRg st="2" end="2"/>
                                            </p:txEl>
                                          </p:spTgt>
                                        </p:tgtEl>
                                        <p:attrNameLst>
                                          <p:attrName>style.visibility</p:attrName>
                                        </p:attrNameLst>
                                      </p:cBhvr>
                                      <p:to>
                                        <p:strVal val="visible"/>
                                      </p:to>
                                    </p:set>
                                    <p:animEffect transition="in" filter="dissolve">
                                      <p:cBhvr>
                                        <p:cTn id="7" dur="500"/>
                                        <p:tgtEl>
                                          <p:spTgt spid="386051">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86051">
                                            <p:txEl>
                                              <p:pRg st="3" end="3"/>
                                            </p:txEl>
                                          </p:spTgt>
                                        </p:tgtEl>
                                        <p:attrNameLst>
                                          <p:attrName>style.visibility</p:attrName>
                                        </p:attrNameLst>
                                      </p:cBhvr>
                                      <p:to>
                                        <p:strVal val="visible"/>
                                      </p:to>
                                    </p:set>
                                    <p:animEffect transition="in" filter="dissolve">
                                      <p:cBhvr>
                                        <p:cTn id="10" dur="500"/>
                                        <p:tgtEl>
                                          <p:spTgt spid="3860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投影片編號版面配置區 5"/>
          <p:cNvSpPr>
            <a:spLocks noGrp="1"/>
          </p:cNvSpPr>
          <p:nvPr>
            <p:ph type="sldNum" sz="quarter" idx="4294967295"/>
          </p:nvPr>
        </p:nvSpPr>
        <p:spPr bwMode="auto">
          <a:xfrm>
            <a:off x="6553200" y="6245225"/>
            <a:ext cx="2133600" cy="476250"/>
          </a:xfrm>
          <a:prstGeom prst="rect">
            <a:avLst/>
          </a:prstGeom>
          <a:noFill/>
          <a:ln>
            <a:miter lim="800000"/>
            <a:headEnd/>
            <a:tailEnd/>
          </a:ln>
        </p:spPr>
        <p:txBody>
          <a:bodyPr/>
          <a:lstStyle/>
          <a:p>
            <a:fld id="{ED9DACAD-7C45-4F8B-B5C8-9CB671ED2635}" type="slidenum">
              <a:rPr lang="en-US" altLang="zh-TW">
                <a:ea typeface="新細明體" charset="-120"/>
              </a:rPr>
              <a:pPr/>
              <a:t>9</a:t>
            </a:fld>
            <a:endParaRPr lang="en-US" altLang="zh-TW">
              <a:ea typeface="新細明體" charset="-120"/>
            </a:endParaRPr>
          </a:p>
        </p:txBody>
      </p:sp>
      <p:sp>
        <p:nvSpPr>
          <p:cNvPr id="25603" name="Rectangle 2"/>
          <p:cNvSpPr>
            <a:spLocks noGrp="1" noChangeArrowheads="1"/>
          </p:cNvSpPr>
          <p:nvPr>
            <p:ph type="title"/>
          </p:nvPr>
        </p:nvSpPr>
        <p:spPr>
          <a:noFill/>
        </p:spPr>
        <p:txBody>
          <a:bodyPr lIns="90488" tIns="44450" rIns="90488" bIns="44450"/>
          <a:lstStyle/>
          <a:p>
            <a:r>
              <a:rPr lang="en-US" altLang="zh-TW" smtClean="0">
                <a:ea typeface="新細明體" charset="-120"/>
              </a:rPr>
              <a:t>Single-instance Deadlock Prevention</a:t>
            </a:r>
          </a:p>
        </p:txBody>
      </p:sp>
      <p:sp>
        <p:nvSpPr>
          <p:cNvPr id="425987" name="Rectangle 3"/>
          <p:cNvSpPr>
            <a:spLocks noGrp="1" noChangeArrowheads="1"/>
          </p:cNvSpPr>
          <p:nvPr>
            <p:ph type="body" idx="1"/>
          </p:nvPr>
        </p:nvSpPr>
        <p:spPr>
          <a:noFill/>
        </p:spPr>
        <p:txBody>
          <a:bodyPr lIns="90488" tIns="44450" rIns="90488" bIns="44450"/>
          <a:lstStyle/>
          <a:p>
            <a:r>
              <a:rPr lang="en-US" altLang="zh-TW" smtClean="0">
                <a:ea typeface="新細明體" charset="-120"/>
              </a:rPr>
              <a:t>Say Ti wants a lock that Tj holds. What would a deadlock prevention policy do?</a:t>
            </a:r>
          </a:p>
          <a:p>
            <a:pPr lvl="1">
              <a:buSzPct val="75000"/>
            </a:pPr>
            <a:r>
              <a:rPr lang="en-US" altLang="zh-TW" sz="2000" smtClean="0">
                <a:solidFill>
                  <a:srgbClr val="C00000"/>
                </a:solidFill>
                <a:ea typeface="新細明體" charset="-120"/>
              </a:rPr>
              <a:t>Wait-Die: </a:t>
            </a:r>
            <a:r>
              <a:rPr lang="en-US" altLang="zh-TW" sz="2000" smtClean="0">
                <a:ea typeface="新細明體" charset="-120"/>
              </a:rPr>
              <a:t>If Ti has higher priority, Ti waits for Tj; otherwise Ti aborts  (lower-priority T never waits for higher-priority T)</a:t>
            </a:r>
          </a:p>
          <a:p>
            <a:pPr lvl="1">
              <a:buSzPct val="75000"/>
            </a:pPr>
            <a:r>
              <a:rPr lang="en-US" altLang="zh-TW" sz="2000" smtClean="0">
                <a:solidFill>
                  <a:srgbClr val="C00000"/>
                </a:solidFill>
                <a:ea typeface="新細明體" charset="-120"/>
              </a:rPr>
              <a:t>Wound-wait: </a:t>
            </a:r>
            <a:r>
              <a:rPr lang="en-US" altLang="zh-TW" sz="2000" smtClean="0">
                <a:ea typeface="新細明體" charset="-120"/>
              </a:rPr>
              <a:t>If Ti has higher priority, Tj aborts; otherwise Ti waits.  (higher-priority T never waits for lower-priority T)</a:t>
            </a:r>
            <a:endParaRPr lang="en-US" altLang="zh-TW" sz="1800" smtClean="0">
              <a:ea typeface="新細明體" charset="-120"/>
            </a:endParaRPr>
          </a:p>
          <a:p>
            <a:r>
              <a:rPr lang="en-US" altLang="zh-TW" smtClean="0">
                <a:ea typeface="新細明體" charset="-120"/>
              </a:rPr>
              <a:t>Why these two policies prevent deadlocks?</a:t>
            </a:r>
          </a:p>
          <a:p>
            <a:pPr lvl="1"/>
            <a:r>
              <a:rPr lang="en-US" altLang="zh-TW" sz="2000" smtClean="0">
                <a:ea typeface="新細明體" charset="-120"/>
              </a:rPr>
              <a:t>The oldest transaction (highest priority one) will eventually get all the locks it requires!</a:t>
            </a: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5987">
                                            <p:txEl>
                                              <p:pRg st="1" end="1"/>
                                            </p:txEl>
                                          </p:spTgt>
                                        </p:tgtEl>
                                        <p:attrNameLst>
                                          <p:attrName>style.visibility</p:attrName>
                                        </p:attrNameLst>
                                      </p:cBhvr>
                                      <p:to>
                                        <p:strVal val="visible"/>
                                      </p:to>
                                    </p:set>
                                    <p:animEffect transition="in" filter="dissolve">
                                      <p:cBhvr>
                                        <p:cTn id="7" dur="500"/>
                                        <p:tgtEl>
                                          <p:spTgt spid="4259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25987">
                                            <p:txEl>
                                              <p:pRg st="2" end="2"/>
                                            </p:txEl>
                                          </p:spTgt>
                                        </p:tgtEl>
                                        <p:attrNameLst>
                                          <p:attrName>style.visibility</p:attrName>
                                        </p:attrNameLst>
                                      </p:cBhvr>
                                      <p:to>
                                        <p:strVal val="visible"/>
                                      </p:to>
                                    </p:set>
                                    <p:animEffect transition="in" filter="dissolve">
                                      <p:cBhvr>
                                        <p:cTn id="12" dur="500"/>
                                        <p:tgtEl>
                                          <p:spTgt spid="4259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25987">
                                            <p:txEl>
                                              <p:pRg st="4" end="4"/>
                                            </p:txEl>
                                          </p:spTgt>
                                        </p:tgtEl>
                                        <p:attrNameLst>
                                          <p:attrName>style.visibility</p:attrName>
                                        </p:attrNameLst>
                                      </p:cBhvr>
                                      <p:to>
                                        <p:strVal val="visible"/>
                                      </p:to>
                                    </p:set>
                                    <p:animEffect transition="in" filter="dissolve">
                                      <p:cBhvr>
                                        <p:cTn id="17" dur="500"/>
                                        <p:tgtEl>
                                          <p:spTgt spid="4259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投影片編號版面配置區 5"/>
          <p:cNvSpPr>
            <a:spLocks noGrp="1"/>
          </p:cNvSpPr>
          <p:nvPr>
            <p:ph type="sldNum" sz="quarter" idx="4294967295"/>
          </p:nvPr>
        </p:nvSpPr>
        <p:spPr bwMode="auto">
          <a:xfrm>
            <a:off x="6553200" y="6245225"/>
            <a:ext cx="2133600" cy="476250"/>
          </a:xfrm>
          <a:prstGeom prst="rect">
            <a:avLst/>
          </a:prstGeom>
          <a:noFill/>
          <a:ln>
            <a:miter lim="800000"/>
            <a:headEnd/>
            <a:tailEnd/>
          </a:ln>
        </p:spPr>
        <p:txBody>
          <a:bodyPr/>
          <a:lstStyle/>
          <a:p>
            <a:fld id="{085A9DEC-A8F6-45D7-9859-C65F5A9C5EC3}" type="slidenum">
              <a:rPr lang="en-US" altLang="zh-TW">
                <a:ea typeface="新細明體" charset="-120"/>
              </a:rPr>
              <a:pPr/>
              <a:t>10</a:t>
            </a:fld>
            <a:endParaRPr lang="en-US" altLang="zh-TW">
              <a:ea typeface="新細明體" charset="-120"/>
            </a:endParaRPr>
          </a:p>
        </p:txBody>
      </p:sp>
      <p:sp>
        <p:nvSpPr>
          <p:cNvPr id="26627" name="Rectangle 2"/>
          <p:cNvSpPr>
            <a:spLocks noGrp="1" noChangeArrowheads="1"/>
          </p:cNvSpPr>
          <p:nvPr>
            <p:ph type="title"/>
          </p:nvPr>
        </p:nvSpPr>
        <p:spPr>
          <a:noFill/>
        </p:spPr>
        <p:txBody>
          <a:bodyPr lIns="90488" tIns="44450" rIns="90488" bIns="44450"/>
          <a:lstStyle/>
          <a:p>
            <a:r>
              <a:rPr lang="en-US" altLang="zh-TW" smtClean="0">
                <a:ea typeface="新細明體" charset="-120"/>
              </a:rPr>
              <a:t>Wait-Die Policy</a:t>
            </a:r>
          </a:p>
        </p:txBody>
      </p:sp>
      <p:sp>
        <p:nvSpPr>
          <p:cNvPr id="26628" name="Rectangle 3"/>
          <p:cNvSpPr>
            <a:spLocks noGrp="1" noChangeArrowheads="1"/>
          </p:cNvSpPr>
          <p:nvPr>
            <p:ph type="body" idx="1"/>
          </p:nvPr>
        </p:nvSpPr>
        <p:spPr>
          <a:xfrm>
            <a:off x="457200" y="1600200"/>
            <a:ext cx="3519488" cy="4525963"/>
          </a:xfrm>
          <a:noFill/>
        </p:spPr>
        <p:txBody>
          <a:bodyPr lIns="90488" tIns="44450" rIns="90488" bIns="44450"/>
          <a:lstStyle/>
          <a:p>
            <a:r>
              <a:rPr lang="en-US" altLang="zh-TW" smtClean="0">
                <a:ea typeface="新細明體" charset="-120"/>
              </a:rPr>
              <a:t>Lower-priority process never waits for higher-priority process</a:t>
            </a:r>
          </a:p>
          <a:p>
            <a:r>
              <a:rPr lang="en-US" altLang="zh-TW" smtClean="0">
                <a:ea typeface="新細明體" charset="-120"/>
              </a:rPr>
              <a:t>If Ti has higher priority, Ti waits for Tj; </a:t>
            </a:r>
          </a:p>
          <a:p>
            <a:r>
              <a:rPr lang="en-US" altLang="zh-TW" smtClean="0">
                <a:ea typeface="新細明體" charset="-120"/>
              </a:rPr>
              <a:t>Otherwise Ti aborts  </a:t>
            </a:r>
          </a:p>
          <a:p>
            <a:endParaRPr lang="en-US" altLang="zh-TW" sz="2000" smtClean="0">
              <a:ea typeface="新細明體" charset="-120"/>
            </a:endParaRPr>
          </a:p>
        </p:txBody>
      </p:sp>
      <p:graphicFrame>
        <p:nvGraphicFramePr>
          <p:cNvPr id="388258" name="Group 162"/>
          <p:cNvGraphicFramePr>
            <a:graphicFrameLocks noGrp="1"/>
          </p:cNvGraphicFramePr>
          <p:nvPr/>
        </p:nvGraphicFramePr>
        <p:xfrm>
          <a:off x="4092575" y="1828800"/>
          <a:ext cx="4746625" cy="4389438"/>
        </p:xfrm>
        <a:graphic>
          <a:graphicData uri="http://schemas.openxmlformats.org/drawingml/2006/table">
            <a:tbl>
              <a:tblPr/>
              <a:tblGrid>
                <a:gridCol w="808038"/>
                <a:gridCol w="863600"/>
                <a:gridCol w="1357312"/>
                <a:gridCol w="1717675"/>
              </a:tblGrid>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1" i="0" u="none" strike="noStrike" cap="none" normalizeH="0" baseline="0" smtClean="0">
                          <a:ln>
                            <a:noFill/>
                          </a:ln>
                          <a:solidFill>
                            <a:schemeClr val="tx1"/>
                          </a:solidFill>
                          <a:effectLst/>
                          <a:latin typeface="Calibri" pitchFamily="34" charset="0"/>
                          <a:ea typeface="新細明體" charset="-120"/>
                        </a:rPr>
                        <a:t>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1" i="0" u="none" strike="noStrike" cap="none" normalizeH="0" baseline="0" smtClean="0">
                          <a:ln>
                            <a:noFill/>
                          </a:ln>
                          <a:solidFill>
                            <a:schemeClr val="tx1"/>
                          </a:solidFill>
                          <a:effectLst/>
                          <a:latin typeface="Calibri" pitchFamily="34" charset="0"/>
                          <a:ea typeface="新細明體" charset="-120"/>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1" i="0" u="none" strike="noStrike" cap="none" normalizeH="0" baseline="0" smtClean="0">
                          <a:ln>
                            <a:noFill/>
                          </a:ln>
                          <a:solidFill>
                            <a:schemeClr val="tx1"/>
                          </a:solidFill>
                          <a:effectLst/>
                          <a:latin typeface="Calibri" pitchFamily="34" charset="0"/>
                          <a:ea typeface="新細明體" charset="-120"/>
                        </a:rPr>
                        <a:t>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1" i="0" u="none" strike="noStrike" cap="none" normalizeH="0" baseline="0" smtClean="0">
                          <a:ln>
                            <a:noFill/>
                          </a:ln>
                          <a:solidFill>
                            <a:schemeClr val="tx1"/>
                          </a:solidFill>
                          <a:effectLst/>
                          <a:latin typeface="Calibri" pitchFamily="34" charset="0"/>
                          <a:ea typeface="新細明體" charset="-120"/>
                        </a:rPr>
                        <a:t>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4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S(A)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X(B)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W(B)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S(B)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R(C)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1"/>
                          </a:solidFill>
                          <a:effectLst/>
                          <a:latin typeface="Calibri" pitchFamily="34" charset="0"/>
                          <a:ea typeface="新細明體" charset="-120"/>
                        </a:rPr>
                        <a:t>X(C)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2"/>
                          </a:solidFill>
                          <a:effectLst/>
                          <a:latin typeface="Calibri" pitchFamily="34" charset="0"/>
                          <a:ea typeface="新細明體" charset="-120"/>
                        </a:rPr>
                        <a:t>X(B) // abort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1" i="0" u="none" strike="noStrike" cap="none" normalizeH="0" baseline="0" smtClean="0">
                          <a:ln>
                            <a:noFill/>
                          </a:ln>
                          <a:solidFill>
                            <a:schemeClr val="tx2"/>
                          </a:solidFill>
                          <a:effectLst/>
                          <a:latin typeface="Calibri" pitchFamily="34" charset="0"/>
                          <a:ea typeface="新細明體" charset="-120"/>
                        </a:rPr>
                        <a:t>X(A) // abort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編號版面配置區 5"/>
          <p:cNvSpPr>
            <a:spLocks noGrp="1"/>
          </p:cNvSpPr>
          <p:nvPr>
            <p:ph type="sldNum" sz="quarter" idx="4294967295"/>
          </p:nvPr>
        </p:nvSpPr>
        <p:spPr bwMode="auto">
          <a:xfrm>
            <a:off x="6553200" y="6245225"/>
            <a:ext cx="2133600" cy="476250"/>
          </a:xfrm>
          <a:prstGeom prst="rect">
            <a:avLst/>
          </a:prstGeom>
          <a:noFill/>
          <a:ln>
            <a:miter lim="800000"/>
            <a:headEnd/>
            <a:tailEnd/>
          </a:ln>
        </p:spPr>
        <p:txBody>
          <a:bodyPr/>
          <a:lstStyle/>
          <a:p>
            <a:fld id="{56644BE1-3168-46B0-A6B7-8F8C612B1DC2}" type="slidenum">
              <a:rPr lang="en-US" altLang="zh-TW">
                <a:ea typeface="新細明體" charset="-120"/>
              </a:rPr>
              <a:pPr/>
              <a:t>11</a:t>
            </a:fld>
            <a:endParaRPr lang="en-US" altLang="zh-TW">
              <a:ea typeface="新細明體" charset="-120"/>
            </a:endParaRPr>
          </a:p>
        </p:txBody>
      </p:sp>
      <p:sp>
        <p:nvSpPr>
          <p:cNvPr id="27651" name="Rectangle 2"/>
          <p:cNvSpPr>
            <a:spLocks noGrp="1" noChangeArrowheads="1"/>
          </p:cNvSpPr>
          <p:nvPr>
            <p:ph type="title"/>
          </p:nvPr>
        </p:nvSpPr>
        <p:spPr>
          <a:noFill/>
        </p:spPr>
        <p:txBody>
          <a:bodyPr lIns="90488" tIns="44450" rIns="90488" bIns="44450"/>
          <a:lstStyle/>
          <a:p>
            <a:r>
              <a:rPr lang="en-US" altLang="zh-TW" smtClean="0">
                <a:ea typeface="新細明體" charset="-120"/>
              </a:rPr>
              <a:t>Wound-Wait Policy</a:t>
            </a:r>
          </a:p>
        </p:txBody>
      </p:sp>
      <p:sp>
        <p:nvSpPr>
          <p:cNvPr id="27652" name="Rectangle 3"/>
          <p:cNvSpPr>
            <a:spLocks noGrp="1" noChangeArrowheads="1"/>
          </p:cNvSpPr>
          <p:nvPr>
            <p:ph type="body" idx="1"/>
          </p:nvPr>
        </p:nvSpPr>
        <p:spPr>
          <a:xfrm>
            <a:off x="457200" y="1600200"/>
            <a:ext cx="3360738" cy="4525963"/>
          </a:xfrm>
          <a:noFill/>
        </p:spPr>
        <p:txBody>
          <a:bodyPr lIns="90488" tIns="44450" rIns="90488" bIns="44450"/>
          <a:lstStyle/>
          <a:p>
            <a:pPr>
              <a:buSzPct val="75000"/>
            </a:pPr>
            <a:r>
              <a:rPr lang="en-US" altLang="zh-TW" smtClean="0">
                <a:ea typeface="新細明體" charset="-120"/>
              </a:rPr>
              <a:t>Higher-priority process  never waits for lower-priority T</a:t>
            </a:r>
          </a:p>
          <a:p>
            <a:pPr>
              <a:buSzPct val="75000"/>
            </a:pPr>
            <a:r>
              <a:rPr lang="en-US" altLang="zh-TW" smtClean="0">
                <a:ea typeface="新細明體" charset="-120"/>
              </a:rPr>
              <a:t>If Ti has higher priority, Tj aborts; </a:t>
            </a:r>
          </a:p>
          <a:p>
            <a:pPr>
              <a:buSzPct val="75000"/>
            </a:pPr>
            <a:r>
              <a:rPr lang="en-US" altLang="zh-TW" smtClean="0">
                <a:ea typeface="新細明體" charset="-120"/>
              </a:rPr>
              <a:t>Otherwise Ti waits.  </a:t>
            </a:r>
          </a:p>
        </p:txBody>
      </p:sp>
      <p:graphicFrame>
        <p:nvGraphicFramePr>
          <p:cNvPr id="390297" name="Group 153"/>
          <p:cNvGraphicFramePr>
            <a:graphicFrameLocks noGrp="1"/>
          </p:cNvGraphicFramePr>
          <p:nvPr/>
        </p:nvGraphicFramePr>
        <p:xfrm>
          <a:off x="4035425" y="1828800"/>
          <a:ext cx="4651375" cy="4122738"/>
        </p:xfrm>
        <a:graphic>
          <a:graphicData uri="http://schemas.openxmlformats.org/drawingml/2006/table">
            <a:tbl>
              <a:tblPr/>
              <a:tblGrid>
                <a:gridCol w="1911350"/>
                <a:gridCol w="755650"/>
                <a:gridCol w="744538"/>
                <a:gridCol w="1239837"/>
              </a:tblGrid>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Calibri" pitchFamily="34" charset="0"/>
                          <a:ea typeface="新細明體" charset="-120"/>
                        </a:rPr>
                        <a:t>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4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S(A)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R(A)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X(B)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1"/>
                          </a:solidFill>
                          <a:effectLst/>
                          <a:latin typeface="Calibri" pitchFamily="34" charset="0"/>
                          <a:ea typeface="新細明體" charset="-120"/>
                        </a:rPr>
                        <a:t>W(B)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2"/>
                          </a:solidFill>
                          <a:effectLst/>
                          <a:latin typeface="Calibri" pitchFamily="34" charset="0"/>
                          <a:ea typeface="新細明體" charset="-120"/>
                        </a:rPr>
                        <a:t>S(B)  // Abort 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1800" b="0" i="0" u="none" strike="noStrike" cap="none" normalizeH="0" baseline="0" smtClean="0">
                          <a:ln>
                            <a:noFill/>
                          </a:ln>
                          <a:solidFill>
                            <a:schemeClr val="tx2"/>
                          </a:solidFill>
                          <a:effectLst/>
                          <a:latin typeface="Calibri" pitchFamily="34" charset="0"/>
                          <a:ea typeface="新細明體" charset="-120"/>
                        </a:rPr>
                        <a:t>Abort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0"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1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800" b="1" i="0" u="none" strike="noStrike" cap="none" normalizeH="0" baseline="0" smtClean="0">
                        <a:ln>
                          <a:noFill/>
                        </a:ln>
                        <a:solidFill>
                          <a:schemeClr val="tx1"/>
                        </a:solidFill>
                        <a:effectLst/>
                        <a:latin typeface="Calibri" pitchFamily="34" charset="0"/>
                        <a:ea typeface="新細明體"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投影片編號版面配置區 5"/>
          <p:cNvSpPr>
            <a:spLocks noGrp="1"/>
          </p:cNvSpPr>
          <p:nvPr>
            <p:ph type="sldNum" sz="quarter" idx="4294967295"/>
          </p:nvPr>
        </p:nvSpPr>
        <p:spPr bwMode="auto">
          <a:xfrm>
            <a:off x="6553200" y="6245225"/>
            <a:ext cx="2133600" cy="476250"/>
          </a:xfrm>
          <a:prstGeom prst="rect">
            <a:avLst/>
          </a:prstGeom>
          <a:noFill/>
          <a:ln>
            <a:miter lim="800000"/>
            <a:headEnd/>
            <a:tailEnd/>
          </a:ln>
        </p:spPr>
        <p:txBody>
          <a:bodyPr/>
          <a:lstStyle/>
          <a:p>
            <a:fld id="{FD7778B3-0A2A-494F-A42D-272C5297AA14}" type="slidenum">
              <a:rPr lang="en-US" altLang="zh-TW">
                <a:ea typeface="新細明體" charset="-120"/>
              </a:rPr>
              <a:pPr/>
              <a:t>12</a:t>
            </a:fld>
            <a:endParaRPr lang="en-US" altLang="zh-TW">
              <a:ea typeface="新細明體" charset="-120"/>
            </a:endParaRPr>
          </a:p>
        </p:txBody>
      </p:sp>
      <p:sp>
        <p:nvSpPr>
          <p:cNvPr id="28675" name="Rectangle 2"/>
          <p:cNvSpPr>
            <a:spLocks noGrp="1" noChangeArrowheads="1"/>
          </p:cNvSpPr>
          <p:nvPr>
            <p:ph type="title"/>
          </p:nvPr>
        </p:nvSpPr>
        <p:spPr/>
        <p:txBody>
          <a:bodyPr/>
          <a:lstStyle/>
          <a:p>
            <a:r>
              <a:rPr lang="en-US" altLang="zh-TW" smtClean="0">
                <a:ea typeface="新細明體" charset="-120"/>
              </a:rPr>
              <a:t>Single-instance Deadlock Prevention (2)</a:t>
            </a:r>
          </a:p>
        </p:txBody>
      </p:sp>
      <p:sp>
        <p:nvSpPr>
          <p:cNvPr id="28676" name="Rectangle 3"/>
          <p:cNvSpPr>
            <a:spLocks noGrp="1" noChangeArrowheads="1"/>
          </p:cNvSpPr>
          <p:nvPr>
            <p:ph type="body" idx="1"/>
          </p:nvPr>
        </p:nvSpPr>
        <p:spPr/>
        <p:txBody>
          <a:bodyPr/>
          <a:lstStyle/>
          <a:p>
            <a:r>
              <a:rPr lang="en-US" altLang="zh-TW" smtClean="0">
                <a:ea typeface="新細明體" charset="-120"/>
              </a:rPr>
              <a:t>If a transaction re-starts, make sure it has its original timestamp.</a:t>
            </a:r>
          </a:p>
          <a:p>
            <a:pPr lvl="1"/>
            <a:r>
              <a:rPr lang="en-US" altLang="zh-TW" sz="2000" smtClean="0">
                <a:ea typeface="新細明體" charset="-120"/>
              </a:rPr>
              <a:t>It will not be forever aborted due to low priority.</a:t>
            </a:r>
          </a:p>
          <a:p>
            <a:endParaRPr lang="en-US" altLang="zh-TW" sz="2000" smtClean="0">
              <a:ea typeface="新細明體" charset="-12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zh-TW" smtClean="0">
                <a:ea typeface="新細明體" charset="-120"/>
              </a:rPr>
              <a:t>Multi-instance Deadlock</a:t>
            </a:r>
          </a:p>
        </p:txBody>
      </p:sp>
      <p:sp>
        <p:nvSpPr>
          <p:cNvPr id="29699" name="Rectangle 3"/>
          <p:cNvSpPr>
            <a:spLocks noGrp="1" noChangeArrowheads="1"/>
          </p:cNvSpPr>
          <p:nvPr>
            <p:ph type="body" idx="1"/>
          </p:nvPr>
        </p:nvSpPr>
        <p:spPr>
          <a:xfrm>
            <a:off x="827088" y="1439863"/>
            <a:ext cx="6659562" cy="4483100"/>
          </a:xfrm>
        </p:spPr>
        <p:txBody>
          <a:bodyPr/>
          <a:lstStyle/>
          <a:p>
            <a:r>
              <a:rPr lang="en-US" altLang="zh-TW" smtClean="0">
                <a:ea typeface="新細明體" charset="-120"/>
              </a:rPr>
              <a:t>Single instance of a resource type.  </a:t>
            </a:r>
          </a:p>
          <a:p>
            <a:pPr lvl="1"/>
            <a:r>
              <a:rPr lang="en-US" altLang="zh-TW" sz="2000" smtClean="0">
                <a:ea typeface="新細明體" charset="-120"/>
              </a:rPr>
              <a:t>Detection: Use a wait-for graph</a:t>
            </a:r>
          </a:p>
          <a:p>
            <a:r>
              <a:rPr lang="en-US" altLang="zh-TW" smtClean="0">
                <a:ea typeface="新細明體" charset="-120"/>
              </a:rPr>
              <a:t>Multiple instances of a resource type – </a:t>
            </a:r>
            <a:r>
              <a:rPr lang="en-US" altLang="zh-TW" smtClean="0">
                <a:solidFill>
                  <a:srgbClr val="C00000"/>
                </a:solidFill>
                <a:ea typeface="新細明體" charset="-120"/>
              </a:rPr>
              <a:t>Banker’s algorithm</a:t>
            </a:r>
          </a:p>
          <a:p>
            <a:pPr lvl="1"/>
            <a:r>
              <a:rPr lang="en-US" altLang="zh-TW" sz="2000" smtClean="0">
                <a:ea typeface="新細明體" charset="-120"/>
              </a:rPr>
              <a:t>Deadlock-free or safe state detection : </a:t>
            </a:r>
            <a:r>
              <a:rPr lang="en-US" altLang="zh-TW" sz="2000" smtClean="0">
                <a:solidFill>
                  <a:schemeClr val="tx2"/>
                </a:solidFill>
                <a:ea typeface="新細明體" charset="-120"/>
              </a:rPr>
              <a:t>safety algorithm</a:t>
            </a:r>
          </a:p>
          <a:p>
            <a:pPr lvl="1"/>
            <a:r>
              <a:rPr lang="en-US" altLang="zh-TW" sz="2000" smtClean="0">
                <a:ea typeface="新細明體" charset="-120"/>
              </a:rPr>
              <a:t>Deadlock prevention: </a:t>
            </a:r>
            <a:r>
              <a:rPr lang="en-US" altLang="zh-TW" sz="2000" smtClean="0">
                <a:solidFill>
                  <a:schemeClr val="tx2"/>
                </a:solidFill>
                <a:ea typeface="新細明體" charset="-120"/>
              </a:rPr>
              <a:t>resource-request algorithm</a:t>
            </a:r>
          </a:p>
          <a:p>
            <a:pPr lvl="1"/>
            <a:r>
              <a:rPr lang="en-US" altLang="zh-TW" sz="2000" smtClean="0">
                <a:ea typeface="新細明體" charset="-120"/>
              </a:rPr>
              <a:t>Deadlock detection: </a:t>
            </a:r>
            <a:r>
              <a:rPr lang="en-US" altLang="zh-TW" sz="2000" smtClean="0">
                <a:solidFill>
                  <a:srgbClr val="C00000"/>
                </a:solidFill>
                <a:ea typeface="新細明體" charset="-120"/>
              </a:rPr>
              <a:t>detection algorithm</a:t>
            </a:r>
          </a:p>
          <a:p>
            <a:pPr lvl="1"/>
            <a:endParaRPr lang="en-US" altLang="zh-TW" sz="2000" smtClean="0">
              <a:ea typeface="新細明體" charset="-120"/>
            </a:endParaRPr>
          </a:p>
          <a:p>
            <a:pPr lvl="1"/>
            <a:r>
              <a:rPr lang="en-US" altLang="zh-TW" sz="2000" smtClean="0">
                <a:ea typeface="新細明體" charset="-120"/>
              </a:rPr>
              <a:t>All three algorithms use similar data structure.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版面配置區 3"/>
          <p:cNvSpPr>
            <a:spLocks noGrp="1"/>
          </p:cNvSpPr>
          <p:nvPr>
            <p:ph type="dt" sz="quarter" idx="4294967295"/>
          </p:nvPr>
        </p:nvSpPr>
        <p:spPr bwMode="auto">
          <a:xfrm>
            <a:off x="758825" y="6508750"/>
            <a:ext cx="2133600" cy="476250"/>
          </a:xfrm>
          <a:prstGeom prst="rect">
            <a:avLst/>
          </a:prstGeom>
          <a:noFill/>
          <a:ln>
            <a:miter lim="800000"/>
            <a:headEnd/>
            <a:tailEnd/>
          </a:ln>
        </p:spPr>
        <p:txBody>
          <a:bodyPr/>
          <a:lstStyle/>
          <a:p>
            <a:fld id="{D63D172A-7D1F-428E-9307-F67C7072974C}" type="datetime10">
              <a:rPr lang="zh-TW" altLang="en-US">
                <a:ea typeface="新細明體" charset="-120"/>
              </a:rPr>
              <a:pPr/>
              <a:t>10:22</a:t>
            </a:fld>
            <a:endParaRPr lang="en-US" altLang="zh-TW">
              <a:ea typeface="新細明體" charset="-120"/>
            </a:endParaRPr>
          </a:p>
        </p:txBody>
      </p:sp>
      <p:sp>
        <p:nvSpPr>
          <p:cNvPr id="30723" name="頁尾版面配置區 4"/>
          <p:cNvSpPr>
            <a:spLocks noGrp="1"/>
          </p:cNvSpPr>
          <p:nvPr>
            <p:ph type="ftr" sz="quarter" idx="4294967295"/>
          </p:nvPr>
        </p:nvSpPr>
        <p:spPr bwMode="auto">
          <a:xfrm>
            <a:off x="6127750" y="6524625"/>
            <a:ext cx="2895600" cy="476250"/>
          </a:xfrm>
          <a:prstGeom prst="rect">
            <a:avLst/>
          </a:prstGeom>
          <a:noFill/>
          <a:ln>
            <a:miter lim="800000"/>
            <a:headEnd/>
            <a:tailEnd/>
          </a:ln>
        </p:spPr>
        <p:txBody>
          <a:bodyPr/>
          <a:lstStyle/>
          <a:p>
            <a:r>
              <a:rPr lang="en-US" altLang="zh-TW">
                <a:ea typeface="新細明體" charset="-120"/>
              </a:rPr>
              <a:t>/43</a:t>
            </a:r>
          </a:p>
        </p:txBody>
      </p:sp>
      <p:sp>
        <p:nvSpPr>
          <p:cNvPr id="30724" name="投影片編號版面配置區 5"/>
          <p:cNvSpPr>
            <a:spLocks noGrp="1"/>
          </p:cNvSpPr>
          <p:nvPr>
            <p:ph type="sldNum" sz="quarter" idx="4294967295"/>
          </p:nvPr>
        </p:nvSpPr>
        <p:spPr bwMode="auto">
          <a:xfrm>
            <a:off x="5389563" y="6524625"/>
            <a:ext cx="2133600" cy="476250"/>
          </a:xfrm>
          <a:prstGeom prst="rect">
            <a:avLst/>
          </a:prstGeom>
          <a:noFill/>
          <a:ln>
            <a:miter lim="800000"/>
            <a:headEnd/>
            <a:tailEnd/>
          </a:ln>
        </p:spPr>
        <p:txBody>
          <a:bodyPr/>
          <a:lstStyle/>
          <a:p>
            <a:fld id="{E6D4BE19-D435-41BD-A23E-F695172BEB04}" type="slidenum">
              <a:rPr lang="en-US" altLang="zh-TW">
                <a:ea typeface="新細明體" charset="-120"/>
              </a:rPr>
              <a:pPr/>
              <a:t>14</a:t>
            </a:fld>
            <a:endParaRPr lang="en-US" altLang="zh-TW">
              <a:ea typeface="新細明體" charset="-120"/>
            </a:endParaRPr>
          </a:p>
        </p:txBody>
      </p:sp>
      <p:sp>
        <p:nvSpPr>
          <p:cNvPr id="30725" name="Rectangle 2"/>
          <p:cNvSpPr>
            <a:spLocks noGrp="1" noChangeArrowheads="1"/>
          </p:cNvSpPr>
          <p:nvPr>
            <p:ph type="title"/>
          </p:nvPr>
        </p:nvSpPr>
        <p:spPr/>
        <p:txBody>
          <a:bodyPr/>
          <a:lstStyle/>
          <a:p>
            <a:r>
              <a:rPr lang="en-US" altLang="zh-TW" smtClean="0">
                <a:ea typeface="新細明體" charset="-120"/>
              </a:rPr>
              <a:t>Multi-instance example</a:t>
            </a:r>
            <a:endParaRPr lang="zh-TW" altLang="en-US" smtClean="0">
              <a:ea typeface="新細明體" charset="-120"/>
            </a:endParaRPr>
          </a:p>
        </p:txBody>
      </p:sp>
      <p:grpSp>
        <p:nvGrpSpPr>
          <p:cNvPr id="30726" name="Group 3"/>
          <p:cNvGrpSpPr>
            <a:grpSpLocks/>
          </p:cNvGrpSpPr>
          <p:nvPr/>
        </p:nvGrpSpPr>
        <p:grpSpPr bwMode="auto">
          <a:xfrm>
            <a:off x="1346200" y="1539875"/>
            <a:ext cx="6192838" cy="4608513"/>
            <a:chOff x="930" y="1162"/>
            <a:chExt cx="3901" cy="2903"/>
          </a:xfrm>
        </p:grpSpPr>
        <p:grpSp>
          <p:nvGrpSpPr>
            <p:cNvPr id="30727" name="Group 4"/>
            <p:cNvGrpSpPr>
              <a:grpSpLocks/>
            </p:cNvGrpSpPr>
            <p:nvPr/>
          </p:nvGrpSpPr>
          <p:grpSpPr bwMode="auto">
            <a:xfrm>
              <a:off x="930" y="1162"/>
              <a:ext cx="3901" cy="801"/>
              <a:chOff x="2700" y="7020"/>
              <a:chExt cx="3420" cy="720"/>
            </a:xfrm>
          </p:grpSpPr>
          <p:sp>
            <p:nvSpPr>
              <p:cNvPr id="30742" name="Oval 5"/>
              <p:cNvSpPr>
                <a:spLocks noChangeArrowheads="1"/>
              </p:cNvSpPr>
              <p:nvPr/>
            </p:nvSpPr>
            <p:spPr bwMode="auto">
              <a:xfrm>
                <a:off x="2700" y="7020"/>
                <a:ext cx="720" cy="720"/>
              </a:xfrm>
              <a:prstGeom prst="ellipse">
                <a:avLst/>
              </a:prstGeom>
              <a:solidFill>
                <a:srgbClr val="FFFFFF"/>
              </a:solidFill>
              <a:ln w="9525">
                <a:solidFill>
                  <a:srgbClr val="000000"/>
                </a:solidFill>
                <a:round/>
                <a:headEnd/>
                <a:tailEnd/>
              </a:ln>
            </p:spPr>
            <p:txBody>
              <a:bodyPr anchor="ctr"/>
              <a:lstStyle/>
              <a:p>
                <a:r>
                  <a:rPr lang="en-US" altLang="zh-TW" sz="3200">
                    <a:latin typeface="Calibri" pitchFamily="34" charset="0"/>
                    <a:ea typeface="新細明體" charset="-120"/>
                  </a:rPr>
                  <a:t>P</a:t>
                </a:r>
                <a:r>
                  <a:rPr lang="en-US" altLang="zh-TW" sz="3200" baseline="-25000">
                    <a:latin typeface="Calibri" pitchFamily="34" charset="0"/>
                    <a:ea typeface="新細明體" charset="-120"/>
                  </a:rPr>
                  <a:t>1</a:t>
                </a:r>
                <a:endParaRPr lang="en-US" altLang="zh-TW" sz="3200">
                  <a:latin typeface="Calibri" pitchFamily="34" charset="0"/>
                  <a:ea typeface="新細明體" charset="-120"/>
                </a:endParaRPr>
              </a:p>
            </p:txBody>
          </p:sp>
          <p:sp>
            <p:nvSpPr>
              <p:cNvPr id="30743" name="Oval 6"/>
              <p:cNvSpPr>
                <a:spLocks noChangeArrowheads="1"/>
              </p:cNvSpPr>
              <p:nvPr/>
            </p:nvSpPr>
            <p:spPr bwMode="auto">
              <a:xfrm>
                <a:off x="4050" y="7020"/>
                <a:ext cx="720" cy="720"/>
              </a:xfrm>
              <a:prstGeom prst="ellipse">
                <a:avLst/>
              </a:prstGeom>
              <a:solidFill>
                <a:srgbClr val="FFFFFF"/>
              </a:solidFill>
              <a:ln w="9525">
                <a:solidFill>
                  <a:srgbClr val="000000"/>
                </a:solidFill>
                <a:round/>
                <a:headEnd/>
                <a:tailEnd/>
              </a:ln>
            </p:spPr>
            <p:txBody>
              <a:bodyPr anchor="ctr"/>
              <a:lstStyle/>
              <a:p>
                <a:r>
                  <a:rPr lang="en-US" altLang="zh-TW" sz="3200">
                    <a:latin typeface="Calibri" pitchFamily="34" charset="0"/>
                    <a:ea typeface="新細明體" charset="-120"/>
                  </a:rPr>
                  <a:t>P</a:t>
                </a:r>
                <a:r>
                  <a:rPr lang="en-US" altLang="zh-TW" sz="3200" baseline="-25000">
                    <a:latin typeface="Calibri" pitchFamily="34" charset="0"/>
                    <a:ea typeface="新細明體" charset="-120"/>
                  </a:rPr>
                  <a:t>2</a:t>
                </a:r>
                <a:endParaRPr lang="en-US" altLang="zh-TW" sz="3200">
                  <a:latin typeface="Calibri" pitchFamily="34" charset="0"/>
                  <a:ea typeface="新細明體" charset="-120"/>
                </a:endParaRPr>
              </a:p>
            </p:txBody>
          </p:sp>
          <p:sp>
            <p:nvSpPr>
              <p:cNvPr id="30744" name="Oval 7"/>
              <p:cNvSpPr>
                <a:spLocks noChangeArrowheads="1"/>
              </p:cNvSpPr>
              <p:nvPr/>
            </p:nvSpPr>
            <p:spPr bwMode="auto">
              <a:xfrm>
                <a:off x="5400" y="7020"/>
                <a:ext cx="720" cy="720"/>
              </a:xfrm>
              <a:prstGeom prst="ellipse">
                <a:avLst/>
              </a:prstGeom>
              <a:solidFill>
                <a:srgbClr val="FFFFFF"/>
              </a:solidFill>
              <a:ln w="9525">
                <a:solidFill>
                  <a:srgbClr val="000000"/>
                </a:solidFill>
                <a:round/>
                <a:headEnd/>
                <a:tailEnd/>
              </a:ln>
            </p:spPr>
            <p:txBody>
              <a:bodyPr anchor="ctr"/>
              <a:lstStyle/>
              <a:p>
                <a:r>
                  <a:rPr lang="en-US" altLang="zh-TW" sz="3200">
                    <a:latin typeface="Calibri" pitchFamily="34" charset="0"/>
                    <a:ea typeface="新細明體" charset="-120"/>
                  </a:rPr>
                  <a:t>P</a:t>
                </a:r>
                <a:r>
                  <a:rPr lang="en-US" altLang="zh-TW" sz="3200" baseline="-25000">
                    <a:latin typeface="Calibri" pitchFamily="34" charset="0"/>
                    <a:ea typeface="新細明體" charset="-120"/>
                  </a:rPr>
                  <a:t>3</a:t>
                </a:r>
                <a:endParaRPr lang="en-US" altLang="zh-TW" sz="3200">
                  <a:latin typeface="Calibri" pitchFamily="34" charset="0"/>
                  <a:ea typeface="新細明體" charset="-120"/>
                </a:endParaRPr>
              </a:p>
            </p:txBody>
          </p:sp>
        </p:grpSp>
        <p:grpSp>
          <p:nvGrpSpPr>
            <p:cNvPr id="30728" name="Group 8"/>
            <p:cNvGrpSpPr>
              <a:grpSpLocks/>
            </p:cNvGrpSpPr>
            <p:nvPr/>
          </p:nvGrpSpPr>
          <p:grpSpPr bwMode="auto">
            <a:xfrm>
              <a:off x="1750" y="2563"/>
              <a:ext cx="2806" cy="1502"/>
              <a:chOff x="3420" y="9000"/>
              <a:chExt cx="2460" cy="1350"/>
            </a:xfrm>
          </p:grpSpPr>
          <p:grpSp>
            <p:nvGrpSpPr>
              <p:cNvPr id="30733" name="Group 9"/>
              <p:cNvGrpSpPr>
                <a:grpSpLocks/>
              </p:cNvGrpSpPr>
              <p:nvPr/>
            </p:nvGrpSpPr>
            <p:grpSpPr bwMode="auto">
              <a:xfrm>
                <a:off x="5040" y="9180"/>
                <a:ext cx="840" cy="990"/>
                <a:chOff x="4050" y="9360"/>
                <a:chExt cx="840" cy="990"/>
              </a:xfrm>
            </p:grpSpPr>
            <p:sp>
              <p:nvSpPr>
                <p:cNvPr id="30739" name="Text Box 10"/>
                <p:cNvSpPr txBox="1">
                  <a:spLocks noChangeArrowheads="1"/>
                </p:cNvSpPr>
                <p:nvPr/>
              </p:nvSpPr>
              <p:spPr bwMode="auto">
                <a:xfrm>
                  <a:off x="4170" y="9900"/>
                  <a:ext cx="720" cy="450"/>
                </a:xfrm>
                <a:prstGeom prst="rect">
                  <a:avLst/>
                </a:prstGeom>
                <a:noFill/>
                <a:ln w="9525">
                  <a:noFill/>
                  <a:miter lim="800000"/>
                  <a:headEnd/>
                  <a:tailEnd/>
                </a:ln>
              </p:spPr>
              <p:txBody>
                <a:bodyPr/>
                <a:lstStyle/>
                <a:p>
                  <a:r>
                    <a:rPr lang="en-US" altLang="zh-TW" sz="3200">
                      <a:latin typeface="Calibri" pitchFamily="34" charset="0"/>
                      <a:ea typeface="新細明體" charset="-120"/>
                    </a:rPr>
                    <a:t>   R</a:t>
                  </a:r>
                  <a:r>
                    <a:rPr lang="en-US" altLang="zh-TW" sz="3200" baseline="-25000">
                      <a:latin typeface="Calibri" pitchFamily="34" charset="0"/>
                      <a:ea typeface="新細明體" charset="-120"/>
                    </a:rPr>
                    <a:t>2</a:t>
                  </a:r>
                  <a:endParaRPr lang="en-US" altLang="zh-TW" sz="3200">
                    <a:latin typeface="Calibri" pitchFamily="34" charset="0"/>
                    <a:ea typeface="新細明體" charset="-120"/>
                  </a:endParaRPr>
                </a:p>
              </p:txBody>
            </p:sp>
            <p:sp>
              <p:nvSpPr>
                <p:cNvPr id="30740" name="Rectangle 11"/>
                <p:cNvSpPr>
                  <a:spLocks noChangeArrowheads="1"/>
                </p:cNvSpPr>
                <p:nvPr/>
              </p:nvSpPr>
              <p:spPr bwMode="auto">
                <a:xfrm>
                  <a:off x="4050" y="9360"/>
                  <a:ext cx="720" cy="540"/>
                </a:xfrm>
                <a:prstGeom prst="rect">
                  <a:avLst/>
                </a:prstGeom>
                <a:solidFill>
                  <a:srgbClr val="FFFFFF"/>
                </a:solidFill>
                <a:ln w="9525">
                  <a:solidFill>
                    <a:srgbClr val="000000"/>
                  </a:solidFill>
                  <a:miter lim="800000"/>
                  <a:headEnd/>
                  <a:tailEnd/>
                </a:ln>
              </p:spPr>
              <p:txBody>
                <a:bodyPr/>
                <a:lstStyle/>
                <a:p>
                  <a:endParaRPr lang="zh-TW" altLang="en-US" sz="2400">
                    <a:latin typeface="Calibri" pitchFamily="34" charset="0"/>
                    <a:ea typeface="新細明體" charset="-120"/>
                  </a:endParaRPr>
                </a:p>
              </p:txBody>
            </p:sp>
            <p:sp>
              <p:nvSpPr>
                <p:cNvPr id="30741" name="Oval 12"/>
                <p:cNvSpPr>
                  <a:spLocks noChangeArrowheads="1"/>
                </p:cNvSpPr>
                <p:nvPr/>
              </p:nvSpPr>
              <p:spPr bwMode="auto">
                <a:xfrm>
                  <a:off x="4335" y="9540"/>
                  <a:ext cx="180" cy="180"/>
                </a:xfrm>
                <a:prstGeom prst="ellipse">
                  <a:avLst/>
                </a:prstGeom>
                <a:solidFill>
                  <a:srgbClr val="000000"/>
                </a:solidFill>
                <a:ln w="9525">
                  <a:solidFill>
                    <a:srgbClr val="000000"/>
                  </a:solidFill>
                  <a:round/>
                  <a:headEnd/>
                  <a:tailEnd/>
                </a:ln>
              </p:spPr>
              <p:txBody>
                <a:bodyPr/>
                <a:lstStyle/>
                <a:p>
                  <a:endParaRPr lang="zh-TW" altLang="en-US" sz="2400">
                    <a:latin typeface="Calibri" pitchFamily="34" charset="0"/>
                    <a:ea typeface="新細明體" charset="-120"/>
                  </a:endParaRPr>
                </a:p>
              </p:txBody>
            </p:sp>
          </p:grpSp>
          <p:grpSp>
            <p:nvGrpSpPr>
              <p:cNvPr id="30734" name="Group 13"/>
              <p:cNvGrpSpPr>
                <a:grpSpLocks/>
              </p:cNvGrpSpPr>
              <p:nvPr/>
            </p:nvGrpSpPr>
            <p:grpSpPr bwMode="auto">
              <a:xfrm>
                <a:off x="3420" y="9000"/>
                <a:ext cx="840" cy="1350"/>
                <a:chOff x="2700" y="9000"/>
                <a:chExt cx="840" cy="1350"/>
              </a:xfrm>
            </p:grpSpPr>
            <p:sp>
              <p:nvSpPr>
                <p:cNvPr id="30735" name="Text Box 14"/>
                <p:cNvSpPr txBox="1">
                  <a:spLocks noChangeArrowheads="1"/>
                </p:cNvSpPr>
                <p:nvPr/>
              </p:nvSpPr>
              <p:spPr bwMode="auto">
                <a:xfrm>
                  <a:off x="2820" y="9847"/>
                  <a:ext cx="720" cy="503"/>
                </a:xfrm>
                <a:prstGeom prst="rect">
                  <a:avLst/>
                </a:prstGeom>
                <a:noFill/>
                <a:ln w="9525">
                  <a:noFill/>
                  <a:miter lim="800000"/>
                  <a:headEnd/>
                  <a:tailEnd/>
                </a:ln>
              </p:spPr>
              <p:txBody>
                <a:bodyPr/>
                <a:lstStyle/>
                <a:p>
                  <a:r>
                    <a:rPr lang="en-US" altLang="zh-TW" sz="3200">
                      <a:latin typeface="Calibri" pitchFamily="34" charset="0"/>
                      <a:ea typeface="新細明體" charset="-120"/>
                    </a:rPr>
                    <a:t>   R</a:t>
                  </a:r>
                  <a:r>
                    <a:rPr lang="en-US" altLang="zh-TW" sz="3200" baseline="-25000">
                      <a:latin typeface="Calibri" pitchFamily="34" charset="0"/>
                      <a:ea typeface="新細明體" charset="-120"/>
                    </a:rPr>
                    <a:t>1</a:t>
                  </a:r>
                  <a:endParaRPr lang="en-US" altLang="zh-TW" sz="3200">
                    <a:latin typeface="Calibri" pitchFamily="34" charset="0"/>
                    <a:ea typeface="新細明體" charset="-120"/>
                  </a:endParaRPr>
                </a:p>
              </p:txBody>
            </p:sp>
            <p:sp>
              <p:nvSpPr>
                <p:cNvPr id="30736" name="Rectangle 15"/>
                <p:cNvSpPr>
                  <a:spLocks noChangeArrowheads="1"/>
                </p:cNvSpPr>
                <p:nvPr/>
              </p:nvSpPr>
              <p:spPr bwMode="auto">
                <a:xfrm>
                  <a:off x="2700" y="9000"/>
                  <a:ext cx="720" cy="847"/>
                </a:xfrm>
                <a:prstGeom prst="rect">
                  <a:avLst/>
                </a:prstGeom>
                <a:solidFill>
                  <a:srgbClr val="FFFFFF"/>
                </a:solidFill>
                <a:ln w="9525">
                  <a:solidFill>
                    <a:srgbClr val="000000"/>
                  </a:solidFill>
                  <a:miter lim="800000"/>
                  <a:headEnd/>
                  <a:tailEnd/>
                </a:ln>
              </p:spPr>
              <p:txBody>
                <a:bodyPr/>
                <a:lstStyle/>
                <a:p>
                  <a:endParaRPr lang="zh-TW" altLang="zh-TW" sz="3200">
                    <a:latin typeface="Calibri" pitchFamily="34" charset="0"/>
                    <a:ea typeface="新細明體" charset="-120"/>
                  </a:endParaRPr>
                </a:p>
              </p:txBody>
            </p:sp>
            <p:sp>
              <p:nvSpPr>
                <p:cNvPr id="30737" name="Oval 16"/>
                <p:cNvSpPr>
                  <a:spLocks noChangeArrowheads="1"/>
                </p:cNvSpPr>
                <p:nvPr/>
              </p:nvSpPr>
              <p:spPr bwMode="auto">
                <a:xfrm>
                  <a:off x="3000" y="9180"/>
                  <a:ext cx="180" cy="180"/>
                </a:xfrm>
                <a:prstGeom prst="ellipse">
                  <a:avLst/>
                </a:prstGeom>
                <a:solidFill>
                  <a:srgbClr val="000000"/>
                </a:solidFill>
                <a:ln w="9525">
                  <a:solidFill>
                    <a:srgbClr val="000000"/>
                  </a:solidFill>
                  <a:round/>
                  <a:headEnd/>
                  <a:tailEnd/>
                </a:ln>
              </p:spPr>
              <p:txBody>
                <a:bodyPr/>
                <a:lstStyle/>
                <a:p>
                  <a:endParaRPr lang="zh-TW" altLang="en-US" sz="2400">
                    <a:latin typeface="Calibri" pitchFamily="34" charset="0"/>
                    <a:ea typeface="新細明體" charset="-120"/>
                  </a:endParaRPr>
                </a:p>
              </p:txBody>
            </p:sp>
            <p:sp>
              <p:nvSpPr>
                <p:cNvPr id="30738" name="Oval 17"/>
                <p:cNvSpPr>
                  <a:spLocks noChangeArrowheads="1"/>
                </p:cNvSpPr>
                <p:nvPr/>
              </p:nvSpPr>
              <p:spPr bwMode="auto">
                <a:xfrm>
                  <a:off x="3000" y="9540"/>
                  <a:ext cx="180" cy="180"/>
                </a:xfrm>
                <a:prstGeom prst="ellipse">
                  <a:avLst/>
                </a:prstGeom>
                <a:solidFill>
                  <a:srgbClr val="000000"/>
                </a:solidFill>
                <a:ln w="9525">
                  <a:solidFill>
                    <a:srgbClr val="000000"/>
                  </a:solidFill>
                  <a:round/>
                  <a:headEnd/>
                  <a:tailEnd/>
                </a:ln>
              </p:spPr>
              <p:txBody>
                <a:bodyPr/>
                <a:lstStyle/>
                <a:p>
                  <a:endParaRPr lang="zh-TW" altLang="en-US" sz="2400">
                    <a:latin typeface="Calibri" pitchFamily="34" charset="0"/>
                    <a:ea typeface="新細明體" charset="-120"/>
                  </a:endParaRPr>
                </a:p>
              </p:txBody>
            </p:sp>
          </p:grpSp>
        </p:grpSp>
        <p:sp>
          <p:nvSpPr>
            <p:cNvPr id="30729" name="Line 18"/>
            <p:cNvSpPr>
              <a:spLocks noChangeShapeType="1"/>
            </p:cNvSpPr>
            <p:nvPr/>
          </p:nvSpPr>
          <p:spPr bwMode="auto">
            <a:xfrm flipH="1" flipV="1">
              <a:off x="1545" y="1963"/>
              <a:ext cx="616" cy="1201"/>
            </a:xfrm>
            <a:prstGeom prst="line">
              <a:avLst/>
            </a:prstGeom>
            <a:noFill/>
            <a:ln w="38100">
              <a:solidFill>
                <a:srgbClr val="000000"/>
              </a:solidFill>
              <a:round/>
              <a:headEnd type="none" w="lg" len="lg"/>
              <a:tailEnd type="triangle" w="lg" len="lg"/>
            </a:ln>
          </p:spPr>
          <p:txBody>
            <a:bodyPr/>
            <a:lstStyle/>
            <a:p>
              <a:endParaRPr lang="en-IN"/>
            </a:p>
          </p:txBody>
        </p:sp>
        <p:sp>
          <p:nvSpPr>
            <p:cNvPr id="30730" name="Line 19"/>
            <p:cNvSpPr>
              <a:spLocks noChangeShapeType="1"/>
            </p:cNvSpPr>
            <p:nvPr/>
          </p:nvSpPr>
          <p:spPr bwMode="auto">
            <a:xfrm flipV="1">
              <a:off x="2212" y="1963"/>
              <a:ext cx="616" cy="801"/>
            </a:xfrm>
            <a:prstGeom prst="line">
              <a:avLst/>
            </a:prstGeom>
            <a:noFill/>
            <a:ln w="38100">
              <a:solidFill>
                <a:srgbClr val="000000"/>
              </a:solidFill>
              <a:round/>
              <a:headEnd type="none" w="lg" len="lg"/>
              <a:tailEnd type="triangle" w="lg" len="lg"/>
            </a:ln>
          </p:spPr>
          <p:txBody>
            <a:bodyPr/>
            <a:lstStyle/>
            <a:p>
              <a:endParaRPr lang="en-IN"/>
            </a:p>
          </p:txBody>
        </p:sp>
        <p:sp>
          <p:nvSpPr>
            <p:cNvPr id="30731" name="Line 20"/>
            <p:cNvSpPr>
              <a:spLocks noChangeShapeType="1"/>
            </p:cNvSpPr>
            <p:nvPr/>
          </p:nvSpPr>
          <p:spPr bwMode="auto">
            <a:xfrm flipV="1">
              <a:off x="4009" y="1963"/>
              <a:ext cx="410" cy="1001"/>
            </a:xfrm>
            <a:prstGeom prst="line">
              <a:avLst/>
            </a:prstGeom>
            <a:noFill/>
            <a:ln w="38100">
              <a:solidFill>
                <a:srgbClr val="000000"/>
              </a:solidFill>
              <a:round/>
              <a:headEnd type="none" w="lg" len="lg"/>
              <a:tailEnd type="triangle" w="lg" len="lg"/>
            </a:ln>
          </p:spPr>
          <p:txBody>
            <a:bodyPr/>
            <a:lstStyle/>
            <a:p>
              <a:endParaRPr lang="en-IN"/>
            </a:p>
          </p:txBody>
        </p:sp>
        <p:sp>
          <p:nvSpPr>
            <p:cNvPr id="30732" name="Line 21"/>
            <p:cNvSpPr>
              <a:spLocks noChangeShapeType="1"/>
            </p:cNvSpPr>
            <p:nvPr/>
          </p:nvSpPr>
          <p:spPr bwMode="auto">
            <a:xfrm>
              <a:off x="2982" y="1963"/>
              <a:ext cx="821" cy="801"/>
            </a:xfrm>
            <a:prstGeom prst="line">
              <a:avLst/>
            </a:prstGeom>
            <a:noFill/>
            <a:ln w="38100">
              <a:solidFill>
                <a:srgbClr val="000000"/>
              </a:solidFill>
              <a:round/>
              <a:headEnd type="none" w="lg" len="lg"/>
              <a:tailEnd type="triangle" w="lg" len="lg"/>
            </a:ln>
          </p:spPr>
          <p:txBody>
            <a:bodyPr/>
            <a:lstStyle/>
            <a:p>
              <a:endParaRPr lang="en-IN"/>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TW" sz="2800" smtClean="0">
                <a:ea typeface="新細明體" charset="-120"/>
              </a:rPr>
              <a:t>Common Data Structure</a:t>
            </a:r>
          </a:p>
        </p:txBody>
      </p:sp>
      <p:sp>
        <p:nvSpPr>
          <p:cNvPr id="31747" name="Rectangle 3"/>
          <p:cNvSpPr>
            <a:spLocks noGrp="1" noChangeArrowheads="1"/>
          </p:cNvSpPr>
          <p:nvPr>
            <p:ph idx="1"/>
          </p:nvPr>
        </p:nvSpPr>
        <p:spPr/>
        <p:txBody>
          <a:bodyPr/>
          <a:lstStyle/>
          <a:p>
            <a:r>
              <a:rPr lang="en-US" altLang="zh-TW" sz="2000" smtClean="0">
                <a:ea typeface="新細明體" charset="-120"/>
              </a:rPr>
              <a:t>Let </a:t>
            </a:r>
            <a:r>
              <a:rPr lang="en-US" altLang="zh-TW" sz="2000" i="1" smtClean="0">
                <a:ea typeface="新細明體" charset="-120"/>
              </a:rPr>
              <a:t>n</a:t>
            </a:r>
            <a:r>
              <a:rPr lang="en-US" altLang="zh-TW" sz="2000" smtClean="0">
                <a:ea typeface="新細明體" charset="-120"/>
              </a:rPr>
              <a:t> = number of processes, and </a:t>
            </a:r>
            <a:r>
              <a:rPr lang="en-US" altLang="zh-TW" sz="2000" i="1" smtClean="0">
                <a:ea typeface="新細明體" charset="-120"/>
              </a:rPr>
              <a:t>m </a:t>
            </a:r>
            <a:r>
              <a:rPr lang="en-US" altLang="zh-TW" sz="2000" smtClean="0">
                <a:ea typeface="新細明體" charset="-120"/>
              </a:rPr>
              <a:t>= number of resources types. </a:t>
            </a:r>
            <a:endParaRPr lang="en-US" altLang="zh-TW" sz="2000" b="1" i="1" smtClean="0">
              <a:solidFill>
                <a:srgbClr val="FF0000"/>
              </a:solidFill>
              <a:ea typeface="新細明體" charset="-120"/>
            </a:endParaRPr>
          </a:p>
          <a:p>
            <a:r>
              <a:rPr lang="en-US" altLang="zh-TW" sz="2000" b="1" smtClean="0">
                <a:solidFill>
                  <a:srgbClr val="C00000"/>
                </a:solidFill>
                <a:ea typeface="新細明體" charset="-120"/>
              </a:rPr>
              <a:t>Available</a:t>
            </a:r>
            <a:r>
              <a:rPr lang="en-US" altLang="zh-TW" sz="2000" i="1" smtClean="0">
                <a:ea typeface="新細明體" charset="-120"/>
              </a:rPr>
              <a:t>:</a:t>
            </a:r>
            <a:r>
              <a:rPr lang="en-US" altLang="zh-TW" sz="2000" smtClean="0">
                <a:ea typeface="新細明體" charset="-120"/>
              </a:rPr>
              <a:t>  Vector of length </a:t>
            </a:r>
            <a:r>
              <a:rPr lang="en-US" altLang="zh-TW" sz="2000" i="1" smtClean="0">
                <a:ea typeface="新細明體" charset="-120"/>
              </a:rPr>
              <a:t>m</a:t>
            </a:r>
            <a:r>
              <a:rPr lang="en-US" altLang="zh-TW" sz="2000" smtClean="0">
                <a:ea typeface="新細明體" charset="-120"/>
              </a:rPr>
              <a:t>. If available [</a:t>
            </a:r>
            <a:r>
              <a:rPr lang="en-US" altLang="zh-TW" sz="2000" i="1" smtClean="0">
                <a:ea typeface="新細明體" charset="-120"/>
              </a:rPr>
              <a:t>j</a:t>
            </a:r>
            <a:r>
              <a:rPr lang="en-US" altLang="zh-TW" sz="2000" smtClean="0">
                <a:ea typeface="新細明體" charset="-120"/>
              </a:rPr>
              <a:t>] = </a:t>
            </a:r>
            <a:r>
              <a:rPr lang="en-US" altLang="zh-TW" sz="2000" i="1" smtClean="0">
                <a:ea typeface="新細明體" charset="-120"/>
              </a:rPr>
              <a:t>k</a:t>
            </a:r>
            <a:r>
              <a:rPr lang="en-US" altLang="zh-TW" sz="2000" smtClean="0">
                <a:ea typeface="新細明體" charset="-120"/>
              </a:rPr>
              <a:t>, there are</a:t>
            </a:r>
            <a:r>
              <a:rPr lang="en-US" altLang="zh-TW" sz="2000" i="1" smtClean="0">
                <a:ea typeface="新細明體" charset="-120"/>
              </a:rPr>
              <a:t> k</a:t>
            </a:r>
            <a:r>
              <a:rPr lang="en-US" altLang="zh-TW" sz="2000" smtClean="0">
                <a:ea typeface="新細明體" charset="-120"/>
              </a:rPr>
              <a:t> instances of resource type </a:t>
            </a:r>
            <a:r>
              <a:rPr lang="en-US" altLang="zh-TW" sz="2000" i="1" smtClean="0">
                <a:ea typeface="新細明體" charset="-120"/>
              </a:rPr>
              <a:t>R</a:t>
            </a:r>
            <a:r>
              <a:rPr lang="en-US" altLang="zh-TW" sz="2000" i="1" baseline="-25000" smtClean="0">
                <a:ea typeface="新細明體" charset="-120"/>
              </a:rPr>
              <a:t>j</a:t>
            </a:r>
            <a:r>
              <a:rPr lang="en-US" altLang="zh-TW" sz="2000" baseline="-25000" smtClean="0">
                <a:ea typeface="新細明體" charset="-120"/>
              </a:rPr>
              <a:t>  </a:t>
            </a:r>
            <a:r>
              <a:rPr lang="en-US" altLang="zh-TW" sz="2000" smtClean="0">
                <a:ea typeface="新細明體" charset="-120"/>
              </a:rPr>
              <a:t>available.</a:t>
            </a:r>
          </a:p>
          <a:p>
            <a:r>
              <a:rPr lang="en-US" altLang="zh-TW" sz="2000" b="1" smtClean="0">
                <a:solidFill>
                  <a:srgbClr val="C00000"/>
                </a:solidFill>
                <a:ea typeface="新細明體" charset="-120"/>
              </a:rPr>
              <a:t>Max</a:t>
            </a:r>
            <a:r>
              <a:rPr lang="en-US" altLang="zh-TW" sz="2000" i="1" smtClean="0">
                <a:ea typeface="新細明體" charset="-120"/>
              </a:rPr>
              <a:t>: n x m</a:t>
            </a:r>
            <a:r>
              <a:rPr lang="en-US" altLang="zh-TW" sz="2000" smtClean="0">
                <a:ea typeface="新細明體" charset="-120"/>
              </a:rPr>
              <a:t> matrix.  If </a:t>
            </a:r>
            <a:r>
              <a:rPr lang="en-US" altLang="zh-TW" sz="2000" i="1" smtClean="0">
                <a:ea typeface="新細明體" charset="-120"/>
              </a:rPr>
              <a:t>Max </a:t>
            </a:r>
            <a:r>
              <a:rPr lang="en-US" altLang="zh-TW" sz="2000" smtClean="0">
                <a:ea typeface="新細明體" charset="-120"/>
              </a:rPr>
              <a:t>[</a:t>
            </a:r>
            <a:r>
              <a:rPr lang="en-US" altLang="zh-TW" sz="2000" i="1" smtClean="0">
                <a:ea typeface="新細明體" charset="-120"/>
              </a:rPr>
              <a:t>i,j</a:t>
            </a:r>
            <a:r>
              <a:rPr lang="en-US" altLang="zh-TW" sz="2000" smtClean="0">
                <a:ea typeface="新細明體" charset="-120"/>
              </a:rPr>
              <a:t>] = </a:t>
            </a:r>
            <a:r>
              <a:rPr lang="en-US" altLang="zh-TW" sz="2000" i="1" smtClean="0">
                <a:ea typeface="新細明體" charset="-120"/>
              </a:rPr>
              <a:t>k</a:t>
            </a:r>
            <a:r>
              <a:rPr lang="en-US" altLang="zh-TW" sz="2000" smtClean="0">
                <a:ea typeface="新細明體" charset="-120"/>
              </a:rPr>
              <a:t>, then process </a:t>
            </a:r>
            <a:r>
              <a:rPr lang="en-US" altLang="zh-TW" sz="2000" i="1" smtClean="0">
                <a:ea typeface="新細明體" charset="-120"/>
              </a:rPr>
              <a:t>P</a:t>
            </a:r>
            <a:r>
              <a:rPr lang="en-US" altLang="zh-TW" sz="2000" i="1" baseline="-25000" smtClean="0">
                <a:ea typeface="新細明體" charset="-120"/>
              </a:rPr>
              <a:t>i</a:t>
            </a:r>
            <a:r>
              <a:rPr lang="en-US" altLang="zh-TW" sz="2000" i="1" smtClean="0">
                <a:ea typeface="新細明體" charset="-120"/>
              </a:rPr>
              <a:t> </a:t>
            </a:r>
            <a:r>
              <a:rPr lang="en-US" altLang="zh-TW" sz="2000" smtClean="0">
                <a:ea typeface="新細明體" charset="-120"/>
              </a:rPr>
              <a:t>may request at most</a:t>
            </a:r>
            <a:r>
              <a:rPr lang="en-US" altLang="zh-TW" sz="2000" i="1" smtClean="0">
                <a:ea typeface="新細明體" charset="-120"/>
              </a:rPr>
              <a:t> k </a:t>
            </a:r>
            <a:r>
              <a:rPr lang="en-US" altLang="zh-TW" sz="2000" smtClean="0">
                <a:ea typeface="新細明體" charset="-120"/>
              </a:rPr>
              <a:t>instances of resource type </a:t>
            </a:r>
            <a:r>
              <a:rPr lang="en-US" altLang="zh-TW" sz="2000" i="1" smtClean="0">
                <a:ea typeface="新細明體" charset="-120"/>
              </a:rPr>
              <a:t>R</a:t>
            </a:r>
            <a:r>
              <a:rPr lang="en-US" altLang="zh-TW" sz="2000" i="1" baseline="-25000" smtClean="0">
                <a:ea typeface="新細明體" charset="-120"/>
              </a:rPr>
              <a:t>j</a:t>
            </a:r>
            <a:r>
              <a:rPr lang="en-US" altLang="zh-TW" sz="2000" smtClean="0">
                <a:ea typeface="新細明體" charset="-120"/>
              </a:rPr>
              <a:t>.</a:t>
            </a:r>
          </a:p>
          <a:p>
            <a:r>
              <a:rPr lang="en-US" altLang="zh-TW" sz="2000" b="1" smtClean="0">
                <a:solidFill>
                  <a:srgbClr val="C00000"/>
                </a:solidFill>
                <a:ea typeface="新細明體" charset="-120"/>
              </a:rPr>
              <a:t>Allocation</a:t>
            </a:r>
            <a:r>
              <a:rPr lang="en-US" altLang="zh-TW" sz="2000" i="1" smtClean="0">
                <a:ea typeface="新細明體" charset="-120"/>
              </a:rPr>
              <a:t>:  n </a:t>
            </a:r>
            <a:r>
              <a:rPr lang="en-US" altLang="zh-TW" sz="2000" smtClean="0">
                <a:ea typeface="新細明體" charset="-120"/>
              </a:rPr>
              <a:t>x</a:t>
            </a:r>
            <a:r>
              <a:rPr lang="en-US" altLang="zh-TW" sz="2000" i="1" smtClean="0">
                <a:ea typeface="新細明體" charset="-120"/>
              </a:rPr>
              <a:t> m</a:t>
            </a:r>
            <a:r>
              <a:rPr lang="en-US" altLang="zh-TW" sz="2000" smtClean="0">
                <a:ea typeface="新細明體" charset="-120"/>
              </a:rPr>
              <a:t> matrix.  If Allocation[</a:t>
            </a:r>
            <a:r>
              <a:rPr lang="en-US" altLang="zh-TW" sz="2000" i="1" smtClean="0">
                <a:ea typeface="新細明體" charset="-120"/>
              </a:rPr>
              <a:t>i,j</a:t>
            </a:r>
            <a:r>
              <a:rPr lang="en-US" altLang="zh-TW" sz="2000" smtClean="0">
                <a:ea typeface="新細明體" charset="-120"/>
              </a:rPr>
              <a:t>] = </a:t>
            </a:r>
            <a:r>
              <a:rPr lang="en-US" altLang="zh-TW" sz="2000" i="1" smtClean="0">
                <a:ea typeface="新細明體" charset="-120"/>
              </a:rPr>
              <a:t>k</a:t>
            </a:r>
            <a:r>
              <a:rPr lang="en-US" altLang="zh-TW" sz="2000" smtClean="0">
                <a:ea typeface="新細明體" charset="-120"/>
              </a:rPr>
              <a:t> then</a:t>
            </a:r>
            <a:r>
              <a:rPr lang="en-US" altLang="zh-TW" sz="2000" i="1" smtClean="0">
                <a:ea typeface="新細明體" charset="-120"/>
              </a:rPr>
              <a:t> P</a:t>
            </a:r>
            <a:r>
              <a:rPr lang="en-US" altLang="zh-TW" sz="2000" i="1" baseline="-25000" smtClean="0">
                <a:ea typeface="新細明體" charset="-120"/>
              </a:rPr>
              <a:t>i</a:t>
            </a:r>
            <a:r>
              <a:rPr lang="en-US" altLang="zh-TW" sz="2000" smtClean="0">
                <a:ea typeface="新細明體" charset="-120"/>
              </a:rPr>
              <a:t> is currently allocated </a:t>
            </a:r>
            <a:r>
              <a:rPr lang="en-US" altLang="zh-TW" sz="2000" i="1" smtClean="0">
                <a:ea typeface="新細明體" charset="-120"/>
              </a:rPr>
              <a:t>k</a:t>
            </a:r>
            <a:r>
              <a:rPr lang="en-US" altLang="zh-TW" sz="2000" smtClean="0">
                <a:ea typeface="新細明體" charset="-120"/>
              </a:rPr>
              <a:t> instances of </a:t>
            </a:r>
            <a:r>
              <a:rPr lang="en-US" altLang="zh-TW" sz="2000" i="1" smtClean="0">
                <a:ea typeface="新細明體" charset="-120"/>
              </a:rPr>
              <a:t>R</a:t>
            </a:r>
            <a:r>
              <a:rPr lang="en-US" altLang="zh-TW" sz="2000" i="1" baseline="-25000" smtClean="0">
                <a:ea typeface="新細明體" charset="-120"/>
              </a:rPr>
              <a:t>j.</a:t>
            </a:r>
            <a:endParaRPr lang="en-US" altLang="zh-TW" sz="2000" baseline="-25000" smtClean="0">
              <a:ea typeface="新細明體" charset="-120"/>
            </a:endParaRPr>
          </a:p>
          <a:p>
            <a:r>
              <a:rPr lang="en-US" altLang="zh-TW" sz="2000" b="1" smtClean="0">
                <a:solidFill>
                  <a:srgbClr val="C00000"/>
                </a:solidFill>
                <a:ea typeface="新細明體" charset="-120"/>
              </a:rPr>
              <a:t>Need</a:t>
            </a:r>
            <a:r>
              <a:rPr lang="en-US" altLang="zh-TW" sz="2000" i="1" smtClean="0">
                <a:ea typeface="新細明體" charset="-120"/>
              </a:rPr>
              <a:t>:  n </a:t>
            </a:r>
            <a:r>
              <a:rPr lang="en-US" altLang="zh-TW" sz="2000" smtClean="0">
                <a:ea typeface="新細明體" charset="-120"/>
              </a:rPr>
              <a:t>x</a:t>
            </a:r>
            <a:r>
              <a:rPr lang="en-US" altLang="zh-TW" sz="2000" i="1" smtClean="0">
                <a:ea typeface="新細明體" charset="-120"/>
              </a:rPr>
              <a:t> m</a:t>
            </a:r>
            <a:r>
              <a:rPr lang="en-US" altLang="zh-TW" sz="2000" smtClean="0">
                <a:ea typeface="新細明體" charset="-120"/>
              </a:rPr>
              <a:t> matrix. If </a:t>
            </a:r>
            <a:r>
              <a:rPr lang="en-US" altLang="zh-TW" sz="2000" i="1" smtClean="0">
                <a:ea typeface="新細明體" charset="-120"/>
              </a:rPr>
              <a:t>Need</a:t>
            </a:r>
            <a:r>
              <a:rPr lang="en-US" altLang="zh-TW" sz="2000" smtClean="0">
                <a:ea typeface="新細明體" charset="-120"/>
              </a:rPr>
              <a:t>[</a:t>
            </a:r>
            <a:r>
              <a:rPr lang="en-US" altLang="zh-TW" sz="2000" i="1" smtClean="0">
                <a:ea typeface="新細明體" charset="-120"/>
              </a:rPr>
              <a:t>i,j</a:t>
            </a:r>
            <a:r>
              <a:rPr lang="en-US" altLang="zh-TW" sz="2000" smtClean="0">
                <a:ea typeface="新細明體" charset="-120"/>
              </a:rPr>
              <a:t>] =</a:t>
            </a:r>
            <a:r>
              <a:rPr lang="en-US" altLang="zh-TW" sz="2000" i="1" smtClean="0">
                <a:ea typeface="新細明體" charset="-120"/>
              </a:rPr>
              <a:t> k</a:t>
            </a:r>
            <a:r>
              <a:rPr lang="en-US" altLang="zh-TW" sz="2000" smtClean="0">
                <a:ea typeface="新細明體" charset="-120"/>
              </a:rPr>
              <a:t>, then</a:t>
            </a:r>
            <a:r>
              <a:rPr lang="en-US" altLang="zh-TW" sz="2000" i="1" smtClean="0">
                <a:ea typeface="新細明體" charset="-120"/>
              </a:rPr>
              <a:t> P</a:t>
            </a:r>
            <a:r>
              <a:rPr lang="en-US" altLang="zh-TW" sz="2000" i="1" baseline="-25000" smtClean="0">
                <a:ea typeface="新細明體" charset="-120"/>
              </a:rPr>
              <a:t>i</a:t>
            </a:r>
            <a:r>
              <a:rPr lang="en-US" altLang="zh-TW" sz="2000" smtClean="0">
                <a:ea typeface="新細明體" charset="-120"/>
              </a:rPr>
              <a:t> may need </a:t>
            </a:r>
            <a:r>
              <a:rPr lang="en-US" altLang="zh-TW" sz="2000" i="1" smtClean="0">
                <a:ea typeface="新細明體" charset="-120"/>
              </a:rPr>
              <a:t>k</a:t>
            </a:r>
            <a:r>
              <a:rPr lang="en-US" altLang="zh-TW" sz="2000" smtClean="0">
                <a:ea typeface="新細明體" charset="-120"/>
              </a:rPr>
              <a:t> more instances of </a:t>
            </a:r>
            <a:r>
              <a:rPr lang="en-US" altLang="zh-TW" sz="2000" i="1" smtClean="0">
                <a:ea typeface="新細明體" charset="-120"/>
              </a:rPr>
              <a:t>R</a:t>
            </a:r>
            <a:r>
              <a:rPr lang="en-US" altLang="zh-TW" sz="2000" i="1" baseline="-25000" smtClean="0">
                <a:ea typeface="新細明體" charset="-120"/>
              </a:rPr>
              <a:t>j</a:t>
            </a:r>
            <a:r>
              <a:rPr lang="en-US" altLang="zh-TW" sz="2000" baseline="-25000" smtClean="0">
                <a:ea typeface="新細明體" charset="-120"/>
              </a:rPr>
              <a:t> </a:t>
            </a:r>
            <a:r>
              <a:rPr lang="en-US" altLang="zh-TW" sz="2000" smtClean="0">
                <a:ea typeface="新細明體" charset="-120"/>
              </a:rPr>
              <a:t>to complete its task.</a:t>
            </a:r>
          </a:p>
          <a:p>
            <a:pPr>
              <a:buFont typeface="Monotype Sorts" pitchFamily="2" charset="2"/>
              <a:buNone/>
            </a:pPr>
            <a:r>
              <a:rPr lang="en-US" altLang="zh-TW" sz="2000" smtClean="0">
                <a:ea typeface="新細明體" charset="-120"/>
              </a:rPr>
              <a:t/>
            </a:r>
            <a:br>
              <a:rPr lang="en-US" altLang="zh-TW" sz="2000" smtClean="0">
                <a:ea typeface="新細明體" charset="-120"/>
              </a:rPr>
            </a:br>
            <a:r>
              <a:rPr lang="en-US" altLang="zh-TW" sz="2000" i="1" smtClean="0">
                <a:ea typeface="新細明體" charset="-120"/>
              </a:rPr>
              <a:t>Need</a:t>
            </a:r>
            <a:r>
              <a:rPr lang="en-US" altLang="zh-TW" sz="2000" smtClean="0">
                <a:ea typeface="新細明體" charset="-120"/>
              </a:rPr>
              <a:t> [</a:t>
            </a:r>
            <a:r>
              <a:rPr lang="en-US" altLang="zh-TW" sz="2000" i="1" smtClean="0">
                <a:ea typeface="新細明體" charset="-120"/>
              </a:rPr>
              <a:t>i,j]</a:t>
            </a:r>
            <a:r>
              <a:rPr lang="en-US" altLang="zh-TW" sz="2000" smtClean="0">
                <a:ea typeface="新細明體" charset="-120"/>
              </a:rPr>
              <a:t> = </a:t>
            </a:r>
            <a:r>
              <a:rPr lang="en-US" altLang="zh-TW" sz="2000" i="1" smtClean="0">
                <a:ea typeface="新細明體" charset="-120"/>
              </a:rPr>
              <a:t>Max</a:t>
            </a:r>
            <a:r>
              <a:rPr lang="en-US" altLang="zh-TW" sz="2000" smtClean="0">
                <a:ea typeface="新細明體" charset="-120"/>
              </a:rPr>
              <a:t>[</a:t>
            </a:r>
            <a:r>
              <a:rPr lang="en-US" altLang="zh-TW" sz="2000" i="1" smtClean="0">
                <a:ea typeface="新細明體" charset="-120"/>
              </a:rPr>
              <a:t>i,j</a:t>
            </a:r>
            <a:r>
              <a:rPr lang="en-US" altLang="zh-TW" sz="2000" smtClean="0">
                <a:ea typeface="新細明體" charset="-120"/>
              </a:rPr>
              <a:t>] – </a:t>
            </a:r>
            <a:r>
              <a:rPr lang="en-US" altLang="zh-TW" sz="2000" i="1" smtClean="0">
                <a:ea typeface="新細明體" charset="-120"/>
              </a:rPr>
              <a:t>Allocation</a:t>
            </a:r>
            <a:r>
              <a:rPr lang="en-US" altLang="zh-TW" sz="2000" smtClean="0">
                <a:ea typeface="新細明體" charset="-120"/>
              </a:rPr>
              <a:t> [</a:t>
            </a:r>
            <a:r>
              <a:rPr lang="en-US" altLang="zh-TW" sz="2000" i="1" smtClean="0">
                <a:ea typeface="新細明體" charset="-120"/>
              </a:rPr>
              <a:t>i,j</a:t>
            </a:r>
            <a:r>
              <a:rPr lang="en-US" altLang="zh-TW" sz="2000" smtClean="0">
                <a:ea typeface="新細明體" charset="-120"/>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TW" smtClean="0">
                <a:ea typeface="新細明體" charset="-120"/>
              </a:rPr>
              <a:t>Safety Algorithm</a:t>
            </a:r>
          </a:p>
        </p:txBody>
      </p:sp>
      <p:sp>
        <p:nvSpPr>
          <p:cNvPr id="58371" name="Rectangle 3"/>
          <p:cNvSpPr>
            <a:spLocks noGrp="1" noChangeArrowheads="1"/>
          </p:cNvSpPr>
          <p:nvPr>
            <p:ph idx="1"/>
          </p:nvPr>
        </p:nvSpPr>
        <p:spPr/>
        <p:txBody>
          <a:bodyPr/>
          <a:lstStyle/>
          <a:p>
            <a:pPr>
              <a:lnSpc>
                <a:spcPct val="90000"/>
              </a:lnSpc>
            </a:pPr>
            <a:r>
              <a:rPr lang="en-US" altLang="zh-TW" sz="2000" smtClean="0">
                <a:ea typeface="新細明體" charset="-120"/>
              </a:rPr>
              <a:t>Safety algorithm means …</a:t>
            </a:r>
          </a:p>
          <a:p>
            <a:pPr lvl="1">
              <a:lnSpc>
                <a:spcPct val="90000"/>
              </a:lnSpc>
            </a:pPr>
            <a:r>
              <a:rPr lang="en-US" altLang="zh-TW" sz="1800" smtClean="0">
                <a:ea typeface="新細明體" charset="-120"/>
              </a:rPr>
              <a:t>Is the system (given </a:t>
            </a:r>
            <a:r>
              <a:rPr lang="en-US" altLang="zh-TW" sz="1800" smtClean="0">
                <a:solidFill>
                  <a:srgbClr val="C00000"/>
                </a:solidFill>
                <a:ea typeface="新細明體" charset="-120"/>
              </a:rPr>
              <a:t>Available</a:t>
            </a:r>
            <a:r>
              <a:rPr lang="en-US" altLang="zh-TW" sz="1800" smtClean="0">
                <a:ea typeface="新細明體" charset="-120"/>
              </a:rPr>
              <a:t>, </a:t>
            </a:r>
            <a:r>
              <a:rPr lang="en-US" altLang="zh-TW" sz="1800" smtClean="0">
                <a:solidFill>
                  <a:srgbClr val="C00000"/>
                </a:solidFill>
                <a:ea typeface="新細明體" charset="-120"/>
              </a:rPr>
              <a:t>Need, Allocation</a:t>
            </a:r>
            <a:r>
              <a:rPr lang="en-US" altLang="zh-TW" sz="1800" smtClean="0">
                <a:ea typeface="新細明體" charset="-120"/>
              </a:rPr>
              <a:t> matrices) deadlock free?  </a:t>
            </a:r>
          </a:p>
          <a:p>
            <a:pPr lvl="1">
              <a:lnSpc>
                <a:spcPct val="90000"/>
              </a:lnSpc>
            </a:pPr>
            <a:r>
              <a:rPr lang="en-US" altLang="zh-TW" sz="1800" smtClean="0">
                <a:ea typeface="新細明體" charset="-120"/>
              </a:rPr>
              <a:t>Does there exist a schedule for all processes to complete their execution without a deadlock?</a:t>
            </a:r>
            <a:endParaRPr lang="en-US" altLang="zh-TW" sz="2000" smtClean="0">
              <a:ea typeface="新細明體" charset="-120"/>
            </a:endParaRPr>
          </a:p>
          <a:p>
            <a:pPr>
              <a:lnSpc>
                <a:spcPct val="90000"/>
              </a:lnSpc>
              <a:spcBef>
                <a:spcPct val="0"/>
              </a:spcBef>
              <a:buFont typeface="Helvetica" pitchFamily="34" charset="0"/>
              <a:buAutoNum type="arabicPeriod"/>
            </a:pPr>
            <a:r>
              <a:rPr lang="en-US" altLang="zh-TW" sz="2000" smtClean="0">
                <a:ea typeface="新細明體" charset="-120"/>
              </a:rPr>
              <a:t>Let </a:t>
            </a:r>
            <a:r>
              <a:rPr lang="en-US" altLang="zh-TW" sz="2000" smtClean="0">
                <a:solidFill>
                  <a:srgbClr val="C00000"/>
                </a:solidFill>
                <a:ea typeface="新細明體" charset="-120"/>
              </a:rPr>
              <a:t>Work</a:t>
            </a:r>
            <a:r>
              <a:rPr lang="en-US" altLang="zh-TW" sz="2000" i="1" smtClean="0">
                <a:ea typeface="新細明體" charset="-120"/>
              </a:rPr>
              <a:t> </a:t>
            </a:r>
            <a:r>
              <a:rPr lang="en-US" altLang="zh-TW" sz="2000" smtClean="0">
                <a:ea typeface="新細明體" charset="-120"/>
              </a:rPr>
              <a:t>and </a:t>
            </a:r>
            <a:r>
              <a:rPr lang="en-US" altLang="zh-TW" sz="2000" smtClean="0">
                <a:solidFill>
                  <a:srgbClr val="C00000"/>
                </a:solidFill>
                <a:ea typeface="新細明體" charset="-120"/>
              </a:rPr>
              <a:t>Finish</a:t>
            </a:r>
            <a:r>
              <a:rPr lang="en-US" altLang="zh-TW" sz="2000" smtClean="0">
                <a:ea typeface="新細明體" charset="-120"/>
              </a:rPr>
              <a:t> be vectors of length</a:t>
            </a:r>
            <a:r>
              <a:rPr lang="en-US" altLang="zh-TW" sz="2000" i="1" smtClean="0">
                <a:ea typeface="新細明體" charset="-120"/>
              </a:rPr>
              <a:t> m</a:t>
            </a:r>
            <a:r>
              <a:rPr lang="en-US" altLang="zh-TW" sz="2000" smtClean="0">
                <a:ea typeface="新細明體" charset="-120"/>
              </a:rPr>
              <a:t> and</a:t>
            </a:r>
            <a:r>
              <a:rPr lang="en-US" altLang="zh-TW" sz="2000" i="1" smtClean="0">
                <a:ea typeface="新細明體" charset="-120"/>
              </a:rPr>
              <a:t> n</a:t>
            </a:r>
            <a:r>
              <a:rPr lang="en-US" altLang="zh-TW" sz="2000" smtClean="0">
                <a:ea typeface="新細明體" charset="-120"/>
              </a:rPr>
              <a:t>, respectively. Initialize:</a:t>
            </a:r>
          </a:p>
          <a:p>
            <a:pPr marL="971550" lvl="2" indent="-457200">
              <a:lnSpc>
                <a:spcPct val="90000"/>
              </a:lnSpc>
              <a:spcBef>
                <a:spcPct val="0"/>
              </a:spcBef>
              <a:buFont typeface="Webdings" pitchFamily="18" charset="2"/>
              <a:buNone/>
            </a:pPr>
            <a:r>
              <a:rPr lang="en-US" altLang="zh-TW" sz="2000" i="1" smtClean="0">
                <a:ea typeface="新細明體" charset="-120"/>
              </a:rPr>
              <a:t>Work </a:t>
            </a:r>
            <a:r>
              <a:rPr lang="en-US" altLang="zh-TW" sz="2000" smtClean="0">
                <a:ea typeface="新細明體" charset="-120"/>
              </a:rPr>
              <a:t>= </a:t>
            </a:r>
            <a:r>
              <a:rPr lang="en-US" altLang="zh-TW" sz="2000" i="1" smtClean="0">
                <a:ea typeface="新細明體" charset="-120"/>
              </a:rPr>
              <a:t>Available</a:t>
            </a:r>
          </a:p>
          <a:p>
            <a:pPr marL="971550" lvl="2" indent="-457200">
              <a:lnSpc>
                <a:spcPct val="90000"/>
              </a:lnSpc>
              <a:spcBef>
                <a:spcPct val="0"/>
              </a:spcBef>
              <a:buFont typeface="Webdings" pitchFamily="18" charset="2"/>
              <a:buNone/>
            </a:pPr>
            <a:r>
              <a:rPr lang="en-US" altLang="zh-TW" sz="2000" i="1" smtClean="0">
                <a:ea typeface="新細明體" charset="-120"/>
              </a:rPr>
              <a:t>Finish </a:t>
            </a:r>
            <a:r>
              <a:rPr lang="en-US" altLang="zh-TW" sz="2000" smtClean="0">
                <a:ea typeface="新細明體" charset="-120"/>
              </a:rPr>
              <a:t>[</a:t>
            </a:r>
            <a:r>
              <a:rPr lang="en-US" altLang="zh-TW" sz="2000" i="1" smtClean="0">
                <a:ea typeface="新細明體" charset="-120"/>
              </a:rPr>
              <a:t>i</a:t>
            </a:r>
            <a:r>
              <a:rPr lang="en-US" altLang="zh-TW" sz="2000" smtClean="0">
                <a:ea typeface="新細明體" charset="-120"/>
              </a:rPr>
              <a:t>] =</a:t>
            </a:r>
            <a:r>
              <a:rPr lang="en-US" altLang="zh-TW" sz="2000" i="1" smtClean="0">
                <a:ea typeface="新細明體" charset="-120"/>
              </a:rPr>
              <a:t> false </a:t>
            </a:r>
            <a:r>
              <a:rPr lang="en-US" altLang="zh-TW" sz="2000" smtClean="0">
                <a:ea typeface="新細明體" charset="-120"/>
              </a:rPr>
              <a:t>for</a:t>
            </a:r>
            <a:r>
              <a:rPr lang="en-US" altLang="zh-TW" sz="2000" i="1" smtClean="0">
                <a:ea typeface="新細明體" charset="-120"/>
              </a:rPr>
              <a:t> i</a:t>
            </a:r>
            <a:r>
              <a:rPr lang="en-US" altLang="zh-TW" sz="2000" smtClean="0">
                <a:ea typeface="新細明體" charset="-120"/>
              </a:rPr>
              <a:t> = 0, 1, …, </a:t>
            </a:r>
            <a:r>
              <a:rPr lang="en-US" altLang="zh-TW" sz="2000" i="1" smtClean="0">
                <a:ea typeface="新細明體" charset="-120"/>
              </a:rPr>
              <a:t>n- </a:t>
            </a:r>
            <a:r>
              <a:rPr lang="en-US" altLang="zh-TW" sz="2000" smtClean="0">
                <a:ea typeface="新細明體" charset="-120"/>
              </a:rPr>
              <a:t>1</a:t>
            </a:r>
            <a:r>
              <a:rPr lang="en-US" altLang="zh-TW" sz="2000" i="1" smtClean="0">
                <a:ea typeface="新細明體" charset="-120"/>
              </a:rPr>
              <a:t>.</a:t>
            </a:r>
            <a:endParaRPr lang="en-US" altLang="zh-TW" sz="2000" smtClean="0">
              <a:ea typeface="新細明體" charset="-120"/>
            </a:endParaRPr>
          </a:p>
          <a:p>
            <a:pPr>
              <a:lnSpc>
                <a:spcPct val="90000"/>
              </a:lnSpc>
              <a:spcBef>
                <a:spcPct val="0"/>
              </a:spcBef>
              <a:buFont typeface="Helvetica" pitchFamily="34" charset="0"/>
              <a:buAutoNum type="arabicPeriod"/>
            </a:pPr>
            <a:r>
              <a:rPr lang="en-US" altLang="zh-TW" sz="2000" smtClean="0">
                <a:ea typeface="新細明體" charset="-120"/>
              </a:rPr>
              <a:t>Find and </a:t>
            </a:r>
            <a:r>
              <a:rPr lang="en-US" altLang="zh-TW" sz="2000" i="1" smtClean="0">
                <a:ea typeface="新細明體" charset="-120"/>
              </a:rPr>
              <a:t>i </a:t>
            </a:r>
            <a:r>
              <a:rPr lang="en-US" altLang="zh-TW" sz="2000" smtClean="0">
                <a:ea typeface="新細明體" charset="-120"/>
              </a:rPr>
              <a:t>such that both: </a:t>
            </a:r>
          </a:p>
          <a:p>
            <a:pPr marL="914400" lvl="3" indent="-457200">
              <a:lnSpc>
                <a:spcPct val="90000"/>
              </a:lnSpc>
              <a:spcBef>
                <a:spcPct val="0"/>
              </a:spcBef>
              <a:buFontTx/>
              <a:buNone/>
            </a:pPr>
            <a:r>
              <a:rPr lang="en-US" altLang="zh-TW" sz="2000" smtClean="0">
                <a:ea typeface="新細明體" charset="-120"/>
              </a:rPr>
              <a:t>(a) </a:t>
            </a:r>
            <a:r>
              <a:rPr lang="en-US" altLang="zh-TW" sz="2000" i="1" smtClean="0">
                <a:ea typeface="新細明體" charset="-120"/>
              </a:rPr>
              <a:t>Finish</a:t>
            </a:r>
            <a:r>
              <a:rPr lang="en-US" altLang="zh-TW" sz="2000" smtClean="0">
                <a:ea typeface="新細明體" charset="-120"/>
              </a:rPr>
              <a:t> [</a:t>
            </a:r>
            <a:r>
              <a:rPr lang="en-US" altLang="zh-TW" sz="2000" i="1" smtClean="0">
                <a:ea typeface="新細明體" charset="-120"/>
              </a:rPr>
              <a:t>i</a:t>
            </a:r>
            <a:r>
              <a:rPr lang="en-US" altLang="zh-TW" sz="2000" smtClean="0">
                <a:ea typeface="新細明體" charset="-120"/>
              </a:rPr>
              <a:t>] = </a:t>
            </a:r>
            <a:r>
              <a:rPr lang="en-US" altLang="zh-TW" sz="2000" i="1" smtClean="0">
                <a:ea typeface="新細明體" charset="-120"/>
              </a:rPr>
              <a:t>false</a:t>
            </a:r>
            <a:endParaRPr lang="en-US" altLang="zh-TW" sz="2000" smtClean="0">
              <a:ea typeface="新細明體" charset="-120"/>
            </a:endParaRPr>
          </a:p>
          <a:p>
            <a:pPr marL="914400" lvl="3" indent="-457200">
              <a:lnSpc>
                <a:spcPct val="90000"/>
              </a:lnSpc>
              <a:spcBef>
                <a:spcPct val="0"/>
              </a:spcBef>
              <a:buFontTx/>
              <a:buNone/>
            </a:pPr>
            <a:r>
              <a:rPr lang="en-US" altLang="zh-TW" sz="2000" smtClean="0">
                <a:ea typeface="新細明體" charset="-120"/>
              </a:rPr>
              <a:t>(b) </a:t>
            </a:r>
            <a:r>
              <a:rPr lang="en-US" altLang="zh-TW" sz="2000" i="1" smtClean="0">
                <a:ea typeface="新細明體" charset="-120"/>
              </a:rPr>
              <a:t>Need</a:t>
            </a:r>
            <a:r>
              <a:rPr lang="en-US" altLang="zh-TW" sz="2000" i="1" baseline="-25000" smtClean="0">
                <a:ea typeface="新細明體" charset="-120"/>
              </a:rPr>
              <a:t>i</a:t>
            </a:r>
            <a:r>
              <a:rPr lang="en-US" altLang="zh-TW" sz="2000" smtClean="0">
                <a:ea typeface="新細明體" charset="-120"/>
              </a:rPr>
              <a:t> </a:t>
            </a:r>
            <a:r>
              <a:rPr lang="en-US" altLang="zh-TW" sz="2000" smtClean="0">
                <a:ea typeface="新細明體" charset="-120"/>
                <a:sym typeface="Symbol" pitchFamily="18" charset="2"/>
              </a:rPr>
              <a:t> </a:t>
            </a:r>
            <a:r>
              <a:rPr lang="en-US" altLang="zh-TW" sz="2000" i="1" smtClean="0">
                <a:ea typeface="新細明體" charset="-120"/>
                <a:sym typeface="Symbol" pitchFamily="18" charset="2"/>
              </a:rPr>
              <a:t>Work</a:t>
            </a:r>
          </a:p>
          <a:p>
            <a:pPr marL="914400" lvl="3" indent="-457200">
              <a:lnSpc>
                <a:spcPct val="90000"/>
              </a:lnSpc>
              <a:spcBef>
                <a:spcPct val="0"/>
              </a:spcBef>
              <a:buFontTx/>
              <a:buNone/>
            </a:pPr>
            <a:r>
              <a:rPr lang="en-US" altLang="zh-TW" sz="2000" smtClean="0">
                <a:ea typeface="新細明體" charset="-120"/>
                <a:sym typeface="Symbol" pitchFamily="18" charset="2"/>
              </a:rPr>
              <a:t>If no such </a:t>
            </a:r>
            <a:r>
              <a:rPr lang="en-US" altLang="zh-TW" sz="2000" i="1" smtClean="0">
                <a:ea typeface="新細明體" charset="-120"/>
                <a:sym typeface="Symbol" pitchFamily="18" charset="2"/>
              </a:rPr>
              <a:t>i </a:t>
            </a:r>
            <a:r>
              <a:rPr lang="en-US" altLang="zh-TW" sz="2000" smtClean="0">
                <a:ea typeface="新細明體" charset="-120"/>
                <a:sym typeface="Symbol" pitchFamily="18" charset="2"/>
              </a:rPr>
              <a:t>exists, go to step 4.</a:t>
            </a:r>
          </a:p>
          <a:p>
            <a:pPr>
              <a:lnSpc>
                <a:spcPct val="90000"/>
              </a:lnSpc>
              <a:spcBef>
                <a:spcPct val="0"/>
              </a:spcBef>
              <a:buFont typeface="Helvetica" pitchFamily="34" charset="0"/>
              <a:buAutoNum type="arabicPeriod"/>
            </a:pPr>
            <a:r>
              <a:rPr lang="en-US" altLang="zh-TW" sz="2000" i="1" smtClean="0">
                <a:ea typeface="新細明體" charset="-120"/>
              </a:rPr>
              <a:t>Work</a:t>
            </a:r>
            <a:r>
              <a:rPr lang="en-US" altLang="zh-TW" sz="2000" smtClean="0">
                <a:ea typeface="新細明體" charset="-120"/>
              </a:rPr>
              <a:t> = </a:t>
            </a:r>
            <a:r>
              <a:rPr lang="en-US" altLang="zh-TW" sz="2000" i="1" smtClean="0">
                <a:ea typeface="新細明體" charset="-120"/>
              </a:rPr>
              <a:t>Work </a:t>
            </a:r>
            <a:r>
              <a:rPr lang="en-US" altLang="zh-TW" sz="2000" smtClean="0">
                <a:ea typeface="新細明體" charset="-120"/>
              </a:rPr>
              <a:t>+ </a:t>
            </a:r>
            <a:r>
              <a:rPr lang="en-US" altLang="zh-TW" sz="2000" i="1" smtClean="0">
                <a:ea typeface="新細明體" charset="-120"/>
              </a:rPr>
              <a:t>Allocation</a:t>
            </a:r>
            <a:r>
              <a:rPr lang="en-US" altLang="zh-TW" sz="2000" i="1" baseline="-25000" smtClean="0">
                <a:ea typeface="新細明體" charset="-120"/>
              </a:rPr>
              <a:t>i</a:t>
            </a:r>
            <a:endParaRPr lang="en-US" altLang="zh-TW" sz="2000" smtClean="0">
              <a:ea typeface="新細明體" charset="-120"/>
            </a:endParaRPr>
          </a:p>
          <a:p>
            <a:pPr marL="971550" lvl="2" indent="-457200">
              <a:lnSpc>
                <a:spcPct val="90000"/>
              </a:lnSpc>
              <a:spcBef>
                <a:spcPct val="0"/>
              </a:spcBef>
              <a:buFont typeface="Webdings" pitchFamily="18" charset="2"/>
              <a:buNone/>
            </a:pPr>
            <a:r>
              <a:rPr lang="en-US" altLang="zh-TW" sz="2000" i="1" smtClean="0">
                <a:ea typeface="新細明體" charset="-120"/>
              </a:rPr>
              <a:t> Finish</a:t>
            </a:r>
            <a:r>
              <a:rPr lang="en-US" altLang="zh-TW" sz="2000" smtClean="0">
                <a:ea typeface="新細明體" charset="-120"/>
              </a:rPr>
              <a:t>[</a:t>
            </a:r>
            <a:r>
              <a:rPr lang="en-US" altLang="zh-TW" sz="2000" i="1" smtClean="0">
                <a:ea typeface="新細明體" charset="-120"/>
              </a:rPr>
              <a:t>i</a:t>
            </a:r>
            <a:r>
              <a:rPr lang="en-US" altLang="zh-TW" sz="2000" smtClean="0">
                <a:ea typeface="新細明體" charset="-120"/>
              </a:rPr>
              <a:t>] =</a:t>
            </a:r>
            <a:r>
              <a:rPr lang="en-US" altLang="zh-TW" sz="2000" i="1" smtClean="0">
                <a:ea typeface="新細明體" charset="-120"/>
              </a:rPr>
              <a:t> true</a:t>
            </a:r>
            <a:endParaRPr lang="en-US" altLang="zh-TW" sz="2000" smtClean="0">
              <a:ea typeface="新細明體" charset="-120"/>
            </a:endParaRPr>
          </a:p>
          <a:p>
            <a:pPr marL="971550" lvl="2" indent="-457200">
              <a:lnSpc>
                <a:spcPct val="90000"/>
              </a:lnSpc>
              <a:spcBef>
                <a:spcPct val="0"/>
              </a:spcBef>
              <a:buFont typeface="Webdings" pitchFamily="18" charset="2"/>
              <a:buNone/>
            </a:pPr>
            <a:r>
              <a:rPr lang="en-US" altLang="zh-TW" sz="2000" smtClean="0">
                <a:ea typeface="新細明體" charset="-120"/>
              </a:rPr>
              <a:t> go to step 2.</a:t>
            </a:r>
          </a:p>
          <a:p>
            <a:pPr>
              <a:lnSpc>
                <a:spcPct val="90000"/>
              </a:lnSpc>
              <a:spcBef>
                <a:spcPct val="0"/>
              </a:spcBef>
              <a:buFont typeface="Helvetica" pitchFamily="34" charset="0"/>
              <a:buAutoNum type="arabicPeriod"/>
            </a:pPr>
            <a:r>
              <a:rPr lang="en-US" altLang="zh-TW" sz="2000" smtClean="0">
                <a:ea typeface="新細明體" charset="-120"/>
              </a:rPr>
              <a:t>If </a:t>
            </a:r>
            <a:r>
              <a:rPr lang="en-US" altLang="zh-TW" sz="2000" i="1" smtClean="0">
                <a:ea typeface="新細明體" charset="-120"/>
              </a:rPr>
              <a:t>Finish</a:t>
            </a:r>
            <a:r>
              <a:rPr lang="en-US" altLang="zh-TW" sz="2000" smtClean="0">
                <a:ea typeface="新細明體" charset="-120"/>
              </a:rPr>
              <a:t> [</a:t>
            </a:r>
            <a:r>
              <a:rPr lang="en-US" altLang="zh-TW" sz="2000" i="1" smtClean="0">
                <a:ea typeface="新細明體" charset="-120"/>
              </a:rPr>
              <a:t>i</a:t>
            </a:r>
            <a:r>
              <a:rPr lang="en-US" altLang="zh-TW" sz="2000" smtClean="0">
                <a:ea typeface="新細明體" charset="-120"/>
              </a:rPr>
              <a:t>] == true for all </a:t>
            </a:r>
            <a:r>
              <a:rPr lang="en-US" altLang="zh-TW" sz="2000" i="1" smtClean="0">
                <a:ea typeface="新細明體" charset="-120"/>
              </a:rPr>
              <a:t>i</a:t>
            </a:r>
            <a:r>
              <a:rPr lang="en-US" altLang="zh-TW" sz="2000" smtClean="0">
                <a:ea typeface="新細明體" charset="-120"/>
              </a:rPr>
              <a:t>, then the system is in a safe state.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zh-TW" smtClean="0">
                <a:ea typeface="新細明體" charset="-120"/>
              </a:rPr>
              <a:t>Example of Safety Algorithm</a:t>
            </a:r>
          </a:p>
        </p:txBody>
      </p:sp>
      <p:sp>
        <p:nvSpPr>
          <p:cNvPr id="60419" name="Rectangle 3"/>
          <p:cNvSpPr>
            <a:spLocks noGrp="1" noChangeArrowheads="1"/>
          </p:cNvSpPr>
          <p:nvPr>
            <p:ph type="body" idx="1"/>
          </p:nvPr>
        </p:nvSpPr>
        <p:spPr>
          <a:xfrm>
            <a:off x="841375" y="1368425"/>
            <a:ext cx="7923213" cy="4540250"/>
          </a:xfrm>
        </p:spPr>
        <p:txBody>
          <a:bodyPr/>
          <a:lstStyle/>
          <a:p>
            <a:pPr>
              <a:tabLst>
                <a:tab pos="1371600" algn="l"/>
                <a:tab pos="2395538" algn="ctr"/>
                <a:tab pos="3594100" algn="ctr"/>
                <a:tab pos="4805363" algn="ctr"/>
              </a:tabLst>
            </a:pPr>
            <a:r>
              <a:rPr lang="en-US" altLang="zh-TW" smtClean="0">
                <a:ea typeface="新細明體" charset="-120"/>
              </a:rPr>
              <a:t>5 processes </a:t>
            </a:r>
            <a:r>
              <a:rPr lang="en-US" altLang="zh-TW" i="1" smtClean="0">
                <a:ea typeface="新細明體" charset="-120"/>
              </a:rPr>
              <a:t>P</a:t>
            </a:r>
            <a:r>
              <a:rPr lang="en-US" altLang="zh-TW" baseline="-25000" smtClean="0">
                <a:ea typeface="新細明體" charset="-120"/>
              </a:rPr>
              <a:t>0  </a:t>
            </a:r>
            <a:r>
              <a:rPr lang="en-US" altLang="zh-TW" smtClean="0">
                <a:ea typeface="新細明體" charset="-120"/>
              </a:rPr>
              <a:t>through </a:t>
            </a:r>
            <a:r>
              <a:rPr lang="en-US" altLang="zh-TW" i="1" smtClean="0">
                <a:ea typeface="新細明體" charset="-120"/>
              </a:rPr>
              <a:t>P</a:t>
            </a:r>
            <a:r>
              <a:rPr lang="en-US" altLang="zh-TW" baseline="-25000" smtClean="0">
                <a:ea typeface="新細明體" charset="-120"/>
              </a:rPr>
              <a:t>4</a:t>
            </a:r>
            <a:r>
              <a:rPr lang="en-US" altLang="zh-TW" smtClean="0">
                <a:ea typeface="新細明體" charset="-120"/>
              </a:rPr>
              <a:t>; </a:t>
            </a:r>
          </a:p>
          <a:p>
            <a:pPr>
              <a:tabLst>
                <a:tab pos="1371600" algn="l"/>
                <a:tab pos="2395538" algn="ctr"/>
                <a:tab pos="3594100" algn="ctr"/>
                <a:tab pos="4805363" algn="ctr"/>
              </a:tabLst>
            </a:pPr>
            <a:r>
              <a:rPr lang="en-US" altLang="zh-TW" smtClean="0">
                <a:ea typeface="新細明體" charset="-120"/>
              </a:rPr>
              <a:t>3 resource types:</a:t>
            </a:r>
          </a:p>
          <a:p>
            <a:pPr lvl="1">
              <a:tabLst>
                <a:tab pos="1371600" algn="l"/>
                <a:tab pos="2395538" algn="ctr"/>
                <a:tab pos="3594100" algn="ctr"/>
                <a:tab pos="4805363" algn="ctr"/>
              </a:tabLst>
            </a:pPr>
            <a:r>
              <a:rPr lang="en-US" altLang="zh-TW" sz="2000" i="1" smtClean="0">
                <a:ea typeface="新細明體" charset="-120"/>
              </a:rPr>
              <a:t>A</a:t>
            </a:r>
            <a:r>
              <a:rPr lang="en-US" altLang="zh-TW" sz="2000" smtClean="0">
                <a:ea typeface="新細明體" charset="-120"/>
              </a:rPr>
              <a:t> (10 instances),  </a:t>
            </a:r>
            <a:r>
              <a:rPr lang="en-US" altLang="zh-TW" sz="2000" i="1" smtClean="0">
                <a:ea typeface="新細明體" charset="-120"/>
              </a:rPr>
              <a:t>B</a:t>
            </a:r>
            <a:r>
              <a:rPr lang="en-US" altLang="zh-TW" sz="2000" smtClean="0">
                <a:ea typeface="新細明體" charset="-120"/>
              </a:rPr>
              <a:t> (5instances), and </a:t>
            </a:r>
            <a:r>
              <a:rPr lang="en-US" altLang="zh-TW" sz="2000" i="1" smtClean="0">
                <a:ea typeface="新細明體" charset="-120"/>
              </a:rPr>
              <a:t>C</a:t>
            </a:r>
            <a:r>
              <a:rPr lang="en-US" altLang="zh-TW" sz="2000" smtClean="0">
                <a:ea typeface="新細明體" charset="-120"/>
              </a:rPr>
              <a:t> (7 instances).</a:t>
            </a:r>
          </a:p>
          <a:p>
            <a:pPr>
              <a:tabLst>
                <a:tab pos="1371600" algn="l"/>
                <a:tab pos="2395538" algn="ctr"/>
                <a:tab pos="3594100" algn="ctr"/>
                <a:tab pos="4805363" algn="ctr"/>
              </a:tabLst>
            </a:pPr>
            <a:r>
              <a:rPr lang="en-US" altLang="zh-TW" smtClean="0">
                <a:ea typeface="新細明體" charset="-120"/>
              </a:rPr>
              <a:t>Snapshot at time </a:t>
            </a:r>
            <a:r>
              <a:rPr lang="en-US" altLang="zh-TW" i="1" smtClean="0">
                <a:ea typeface="新細明體" charset="-120"/>
              </a:rPr>
              <a:t>T</a:t>
            </a:r>
            <a:r>
              <a:rPr lang="en-US" altLang="zh-TW" baseline="-25000" smtClean="0">
                <a:ea typeface="新細明體" charset="-120"/>
              </a:rPr>
              <a:t>0</a:t>
            </a:r>
            <a:r>
              <a:rPr lang="en-US" altLang="zh-TW" smtClean="0">
                <a:ea typeface="新細明體" charset="-120"/>
              </a:rPr>
              <a:t>:</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u="sng" smtClean="0">
                <a:ea typeface="新細明體" charset="-120"/>
              </a:rPr>
              <a:t>Allocation</a:t>
            </a:r>
            <a:r>
              <a:rPr lang="en-US" altLang="zh-TW" sz="2000" i="1" smtClean="0">
                <a:ea typeface="新細明體" charset="-120"/>
              </a:rPr>
              <a:t>	</a:t>
            </a:r>
            <a:r>
              <a:rPr lang="en-US" altLang="zh-TW" sz="2000" i="1" u="sng" smtClean="0">
                <a:ea typeface="新細明體" charset="-120"/>
              </a:rPr>
              <a:t>Need</a:t>
            </a:r>
            <a:r>
              <a:rPr lang="en-US" altLang="zh-TW" sz="2000" i="1" smtClean="0">
                <a:ea typeface="新細明體" charset="-120"/>
              </a:rPr>
              <a:t>	</a:t>
            </a:r>
            <a:r>
              <a:rPr lang="en-US" altLang="zh-TW" sz="2000" i="1" u="sng" smtClean="0">
                <a:ea typeface="新細明體" charset="-120"/>
              </a:rPr>
              <a:t>Available</a:t>
            </a:r>
            <a:endParaRPr lang="en-US" altLang="zh-TW" sz="2000" i="1" smtClean="0">
              <a:ea typeface="新細明體" charset="-120"/>
            </a:endParaRPr>
          </a:p>
          <a:p>
            <a:pPr>
              <a:spcBef>
                <a:spcPct val="0"/>
              </a:spcBef>
              <a:buFont typeface="Monotype Sorts" pitchFamily="2" charset="2"/>
              <a:buNone/>
              <a:tabLst>
                <a:tab pos="1371600" algn="l"/>
                <a:tab pos="2395538" algn="ctr"/>
                <a:tab pos="3594100" algn="ctr"/>
                <a:tab pos="4805363" algn="ctr"/>
              </a:tabLst>
            </a:pPr>
            <a:r>
              <a:rPr lang="en-US" altLang="zh-TW" sz="2000" i="1" smtClean="0">
                <a:ea typeface="新細明體" charset="-120"/>
              </a:rPr>
              <a:t>			A B C	A B C 	A B C</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0	</a:t>
            </a:r>
            <a:r>
              <a:rPr lang="en-US" altLang="zh-TW" sz="2000" smtClean="0">
                <a:ea typeface="新細明體" charset="-120"/>
              </a:rPr>
              <a:t>0 1 0	7 4 3 	3 3 2</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1	</a:t>
            </a:r>
            <a:r>
              <a:rPr lang="en-US" altLang="zh-TW" sz="2000" smtClean="0">
                <a:ea typeface="新細明體" charset="-120"/>
              </a:rPr>
              <a:t>2 0 0 	1 2 2  </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2</a:t>
            </a:r>
            <a:r>
              <a:rPr lang="en-US" altLang="zh-TW" sz="2000" smtClean="0">
                <a:ea typeface="新細明體" charset="-120"/>
              </a:rPr>
              <a:t>	3 0 2 	6 0 0</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3</a:t>
            </a:r>
            <a:r>
              <a:rPr lang="en-US" altLang="zh-TW" sz="2000" smtClean="0">
                <a:ea typeface="新細明體" charset="-120"/>
              </a:rPr>
              <a:t>	2 1 1 	0 1 1</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4</a:t>
            </a:r>
            <a:r>
              <a:rPr lang="en-US" altLang="zh-TW" sz="2000" smtClean="0">
                <a:ea typeface="新細明體" charset="-120"/>
              </a:rPr>
              <a:t>	0 0 2	4 3 1  </a:t>
            </a:r>
            <a:r>
              <a:rPr lang="en-US" altLang="zh-TW" smtClean="0">
                <a:ea typeface="新細明體" charset="-120"/>
              </a:rPr>
              <a:t>	</a:t>
            </a:r>
          </a:p>
          <a:p>
            <a:pPr>
              <a:spcBef>
                <a:spcPct val="0"/>
              </a:spcBef>
              <a:tabLst>
                <a:tab pos="1371600" algn="l"/>
                <a:tab pos="2395538" algn="ctr"/>
                <a:tab pos="3594100" algn="ctr"/>
                <a:tab pos="4805363" algn="ctr"/>
              </a:tabLst>
            </a:pPr>
            <a:r>
              <a:rPr lang="en-US" altLang="zh-TW" smtClean="0">
                <a:ea typeface="新細明體" charset="-120"/>
              </a:rPr>
              <a:t>A safe sequence &lt;P</a:t>
            </a:r>
            <a:r>
              <a:rPr lang="en-US" altLang="zh-TW" baseline="-25000" smtClean="0">
                <a:ea typeface="新細明體" charset="-120"/>
              </a:rPr>
              <a:t>1</a:t>
            </a:r>
            <a:r>
              <a:rPr lang="en-US" altLang="zh-TW" smtClean="0">
                <a:ea typeface="新細明體" charset="-120"/>
              </a:rPr>
              <a:t>, P</a:t>
            </a:r>
            <a:r>
              <a:rPr lang="en-US" altLang="zh-TW" baseline="-25000" smtClean="0">
                <a:ea typeface="新細明體" charset="-120"/>
              </a:rPr>
              <a:t>3</a:t>
            </a:r>
            <a:r>
              <a:rPr lang="en-US" altLang="zh-TW" smtClean="0">
                <a:ea typeface="新細明體" charset="-120"/>
              </a:rPr>
              <a:t>, P</a:t>
            </a:r>
            <a:r>
              <a:rPr lang="en-US" altLang="zh-TW" baseline="-25000" smtClean="0">
                <a:ea typeface="新細明體" charset="-120"/>
              </a:rPr>
              <a:t>4</a:t>
            </a:r>
            <a:r>
              <a:rPr lang="en-US" altLang="zh-TW" smtClean="0">
                <a:ea typeface="新細明體" charset="-120"/>
              </a:rPr>
              <a:t>, P</a:t>
            </a:r>
            <a:r>
              <a:rPr lang="en-US" altLang="zh-TW" baseline="-25000" smtClean="0">
                <a:ea typeface="新細明體" charset="-120"/>
              </a:rPr>
              <a:t>2</a:t>
            </a:r>
            <a:r>
              <a:rPr lang="en-US" altLang="zh-TW" smtClean="0">
                <a:ea typeface="新細明體" charset="-120"/>
              </a:rPr>
              <a:t>, P</a:t>
            </a:r>
            <a:r>
              <a:rPr lang="en-US" altLang="zh-TW" baseline="-25000" smtClean="0">
                <a:ea typeface="新細明體" charset="-120"/>
              </a:rPr>
              <a:t>0</a:t>
            </a:r>
            <a:r>
              <a:rPr lang="en-US" altLang="zh-TW" smtClean="0">
                <a:ea typeface="新細明體" charset="-120"/>
              </a:rPr>
              <a:t>&gt;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zh-TW" sz="2800" smtClean="0">
                <a:ea typeface="新細明體" charset="-120"/>
              </a:rPr>
              <a:t>Resource-Request Algorithm for Process </a:t>
            </a:r>
            <a:r>
              <a:rPr lang="en-US" altLang="zh-TW" sz="2800" i="1" smtClean="0">
                <a:ea typeface="新細明體" charset="-120"/>
              </a:rPr>
              <a:t>P</a:t>
            </a:r>
            <a:r>
              <a:rPr lang="en-US" altLang="zh-TW" sz="2800" i="1" baseline="-25000" smtClean="0">
                <a:ea typeface="新細明體" charset="-120"/>
              </a:rPr>
              <a:t>i</a:t>
            </a:r>
            <a:endParaRPr lang="en-US" altLang="zh-TW" sz="2800" smtClean="0">
              <a:ea typeface="新細明體" charset="-120"/>
            </a:endParaRPr>
          </a:p>
        </p:txBody>
      </p:sp>
      <p:sp>
        <p:nvSpPr>
          <p:cNvPr id="59395" name="Rectangle 3"/>
          <p:cNvSpPr>
            <a:spLocks noGrp="1" noChangeArrowheads="1"/>
          </p:cNvSpPr>
          <p:nvPr>
            <p:ph idx="1"/>
          </p:nvPr>
        </p:nvSpPr>
        <p:spPr/>
        <p:txBody>
          <a:bodyPr/>
          <a:lstStyle/>
          <a:p>
            <a:pPr>
              <a:lnSpc>
                <a:spcPct val="90000"/>
              </a:lnSpc>
              <a:buFont typeface="Monotype Sorts" pitchFamily="2" charset="2"/>
              <a:buNone/>
              <a:defRPr/>
            </a:pPr>
            <a:r>
              <a:rPr lang="en-US" altLang="zh-TW" sz="2000" i="1" dirty="0" smtClean="0">
                <a:ea typeface="新細明體" charset="-120"/>
              </a:rPr>
              <a:t>Can a request be safety granted without causing a deadlock?</a:t>
            </a:r>
          </a:p>
          <a:p>
            <a:pPr>
              <a:lnSpc>
                <a:spcPct val="90000"/>
              </a:lnSpc>
              <a:buFont typeface="Monotype Sorts" pitchFamily="2" charset="2"/>
              <a:buNone/>
              <a:defRPr/>
            </a:pPr>
            <a:r>
              <a:rPr lang="en-US" altLang="zh-TW" sz="2000" i="1" dirty="0" smtClean="0">
                <a:ea typeface="新細明體" charset="-120"/>
              </a:rPr>
              <a:t>Request</a:t>
            </a:r>
            <a:r>
              <a:rPr lang="en-US" altLang="zh-TW" sz="2000" dirty="0" smtClean="0">
                <a:ea typeface="新細明體" charset="-120"/>
              </a:rPr>
              <a:t> </a:t>
            </a:r>
            <a:r>
              <a:rPr lang="en-US" altLang="zh-TW" sz="2000" dirty="0">
                <a:ea typeface="新細明體" charset="-120"/>
              </a:rPr>
              <a:t>= request vector for process </a:t>
            </a:r>
            <a:r>
              <a:rPr lang="en-US" altLang="zh-TW" sz="2000" i="1" dirty="0">
                <a:ea typeface="新細明體" charset="-120"/>
              </a:rPr>
              <a:t>P</a:t>
            </a:r>
            <a:r>
              <a:rPr lang="en-US" altLang="zh-TW" sz="2000" i="1" baseline="-25000" dirty="0">
                <a:ea typeface="新細明體" charset="-120"/>
              </a:rPr>
              <a:t>i</a:t>
            </a:r>
            <a:r>
              <a:rPr lang="en-US" altLang="zh-TW" sz="2000" dirty="0">
                <a:ea typeface="新細明體" charset="-120"/>
              </a:rPr>
              <a:t>.  If </a:t>
            </a:r>
            <a:r>
              <a:rPr lang="en-US" altLang="zh-TW" sz="2000" i="1" dirty="0" err="1">
                <a:ea typeface="新細明體" charset="-120"/>
              </a:rPr>
              <a:t>Request</a:t>
            </a:r>
            <a:r>
              <a:rPr lang="en-US" altLang="zh-TW" sz="2000" i="1" baseline="-25000" dirty="0" err="1">
                <a:ea typeface="新細明體" charset="-120"/>
              </a:rPr>
              <a:t>i</a:t>
            </a:r>
            <a:r>
              <a:rPr lang="en-US" altLang="zh-TW" sz="2000" baseline="-25000" dirty="0">
                <a:ea typeface="新細明體" charset="-120"/>
              </a:rPr>
              <a:t> </a:t>
            </a:r>
            <a:r>
              <a:rPr lang="en-US" altLang="zh-TW" sz="2000" dirty="0">
                <a:ea typeface="新細明體" charset="-120"/>
              </a:rPr>
              <a:t>[</a:t>
            </a:r>
            <a:r>
              <a:rPr lang="en-US" altLang="zh-TW" sz="2000" i="1" dirty="0">
                <a:ea typeface="新細明體" charset="-120"/>
              </a:rPr>
              <a:t>j</a:t>
            </a:r>
            <a:r>
              <a:rPr lang="en-US" altLang="zh-TW" sz="2000" dirty="0">
                <a:ea typeface="新細明體" charset="-120"/>
              </a:rPr>
              <a:t>] = </a:t>
            </a:r>
            <a:r>
              <a:rPr lang="en-US" altLang="zh-TW" sz="2000" i="1" dirty="0">
                <a:ea typeface="新細明體" charset="-120"/>
              </a:rPr>
              <a:t>k</a:t>
            </a:r>
            <a:r>
              <a:rPr lang="en-US" altLang="zh-TW" sz="2000" dirty="0">
                <a:ea typeface="新細明體" charset="-120"/>
              </a:rPr>
              <a:t> </a:t>
            </a:r>
            <a:r>
              <a:rPr lang="en-US" altLang="zh-TW" sz="2000" dirty="0" smtClean="0">
                <a:ea typeface="新細明體" charset="-120"/>
              </a:rPr>
              <a:t>then process </a:t>
            </a:r>
            <a:r>
              <a:rPr lang="en-US" altLang="zh-TW" sz="2000" i="1" dirty="0">
                <a:ea typeface="新細明體" charset="-120"/>
              </a:rPr>
              <a:t>P</a:t>
            </a:r>
            <a:r>
              <a:rPr lang="en-US" altLang="zh-TW" sz="2000" i="1" baseline="-25000" dirty="0">
                <a:ea typeface="新細明體" charset="-120"/>
              </a:rPr>
              <a:t>i</a:t>
            </a:r>
            <a:r>
              <a:rPr lang="en-US" altLang="zh-TW" sz="2000" dirty="0">
                <a:ea typeface="新細明體" charset="-120"/>
              </a:rPr>
              <a:t> wants </a:t>
            </a:r>
            <a:r>
              <a:rPr lang="en-US" altLang="zh-TW" sz="2000" i="1" dirty="0">
                <a:ea typeface="新細明體" charset="-120"/>
              </a:rPr>
              <a:t>k</a:t>
            </a:r>
            <a:r>
              <a:rPr lang="en-US" altLang="zh-TW" sz="2000" dirty="0">
                <a:ea typeface="新細明體" charset="-120"/>
              </a:rPr>
              <a:t> instances of resource type </a:t>
            </a:r>
            <a:r>
              <a:rPr lang="en-US" altLang="zh-TW" sz="2000" i="1" dirty="0" err="1" smtClean="0">
                <a:ea typeface="新細明體" charset="-120"/>
              </a:rPr>
              <a:t>R</a:t>
            </a:r>
            <a:r>
              <a:rPr lang="en-US" altLang="zh-TW" sz="2000" i="1" baseline="-25000" dirty="0" err="1" smtClean="0">
                <a:ea typeface="新細明體" charset="-120"/>
              </a:rPr>
              <a:t>j</a:t>
            </a:r>
            <a:r>
              <a:rPr lang="en-US" altLang="zh-TW" sz="2000" baseline="-25000" dirty="0" smtClean="0">
                <a:ea typeface="新細明體" charset="-120"/>
              </a:rPr>
              <a:t>.</a:t>
            </a:r>
          </a:p>
          <a:p>
            <a:pPr marL="457200" indent="-457200">
              <a:lnSpc>
                <a:spcPct val="90000"/>
              </a:lnSpc>
              <a:buFont typeface="Monotype Sorts" pitchFamily="2" charset="2"/>
              <a:buAutoNum type="arabicPeriod"/>
              <a:defRPr/>
            </a:pPr>
            <a:r>
              <a:rPr lang="en-US" altLang="zh-TW" sz="2000" dirty="0" smtClean="0">
                <a:ea typeface="新細明體" charset="-120"/>
              </a:rPr>
              <a:t>If </a:t>
            </a:r>
            <a:r>
              <a:rPr lang="en-US" altLang="zh-TW" sz="2000" i="1" dirty="0" err="1">
                <a:ea typeface="新細明體" charset="-120"/>
              </a:rPr>
              <a:t>Request</a:t>
            </a:r>
            <a:r>
              <a:rPr lang="en-US" altLang="zh-TW" sz="2000" i="1" baseline="-25000" dirty="0" err="1">
                <a:ea typeface="新細明體" charset="-120"/>
              </a:rPr>
              <a:t>i</a:t>
            </a:r>
            <a:r>
              <a:rPr lang="en-US" altLang="zh-TW" sz="2000" i="1" dirty="0">
                <a:ea typeface="新細明體" charset="-120"/>
              </a:rPr>
              <a:t> </a:t>
            </a:r>
            <a:r>
              <a:rPr lang="en-US" altLang="zh-TW" sz="2000" dirty="0">
                <a:ea typeface="新細明體" charset="-120"/>
                <a:sym typeface="Symbol" pitchFamily="18" charset="2"/>
              </a:rPr>
              <a:t> </a:t>
            </a:r>
            <a:r>
              <a:rPr lang="en-US" altLang="zh-TW" sz="2000" i="1" dirty="0" err="1">
                <a:ea typeface="新細明體" charset="-120"/>
                <a:sym typeface="Symbol" pitchFamily="18" charset="2"/>
              </a:rPr>
              <a:t>Need</a:t>
            </a:r>
            <a:r>
              <a:rPr lang="en-US" altLang="zh-TW" sz="2000" i="1" baseline="-25000" dirty="0" err="1">
                <a:ea typeface="新細明體" charset="-120"/>
                <a:sym typeface="Symbol" pitchFamily="18" charset="2"/>
              </a:rPr>
              <a:t>i</a:t>
            </a:r>
            <a:r>
              <a:rPr lang="en-US" altLang="zh-TW" sz="2000" i="1" dirty="0">
                <a:ea typeface="新細明體" charset="-120"/>
                <a:sym typeface="Symbol" pitchFamily="18" charset="2"/>
              </a:rPr>
              <a:t> </a:t>
            </a:r>
            <a:r>
              <a:rPr lang="en-US" altLang="zh-TW" sz="2000" dirty="0">
                <a:ea typeface="新細明體" charset="-120"/>
                <a:sym typeface="Symbol" pitchFamily="18" charset="2"/>
              </a:rPr>
              <a:t>go to step 2.  Otherwise, raise error condition, since process has exceeded its maximum </a:t>
            </a:r>
            <a:r>
              <a:rPr lang="en-US" altLang="zh-TW" sz="2000" dirty="0" smtClean="0">
                <a:ea typeface="新細明體" charset="-120"/>
                <a:sym typeface="Symbol" pitchFamily="18" charset="2"/>
              </a:rPr>
              <a:t>claim.</a:t>
            </a:r>
          </a:p>
          <a:p>
            <a:pPr marL="457200" indent="-457200">
              <a:lnSpc>
                <a:spcPct val="90000"/>
              </a:lnSpc>
              <a:buFont typeface="Monotype Sorts" pitchFamily="2" charset="2"/>
              <a:buAutoNum type="arabicPeriod"/>
              <a:defRPr/>
            </a:pPr>
            <a:r>
              <a:rPr lang="en-US" altLang="zh-TW" sz="2000" dirty="0" smtClean="0">
                <a:ea typeface="新細明體" charset="-120"/>
                <a:sym typeface="Symbol" pitchFamily="18" charset="2"/>
              </a:rPr>
              <a:t>If </a:t>
            </a:r>
            <a:r>
              <a:rPr lang="en-US" altLang="zh-TW" sz="2000" i="1" dirty="0" err="1">
                <a:ea typeface="新細明體" charset="-120"/>
              </a:rPr>
              <a:t>Request</a:t>
            </a:r>
            <a:r>
              <a:rPr lang="en-US" altLang="zh-TW" sz="2000" i="1" baseline="-25000" dirty="0" err="1">
                <a:ea typeface="新細明體" charset="-120"/>
              </a:rPr>
              <a:t>i</a:t>
            </a:r>
            <a:r>
              <a:rPr lang="en-US" altLang="zh-TW" sz="2000" dirty="0">
                <a:ea typeface="新細明體" charset="-120"/>
              </a:rPr>
              <a:t> </a:t>
            </a:r>
            <a:r>
              <a:rPr lang="en-US" altLang="zh-TW" sz="2000" dirty="0">
                <a:ea typeface="新細明體" charset="-120"/>
                <a:sym typeface="Symbol" pitchFamily="18" charset="2"/>
              </a:rPr>
              <a:t> </a:t>
            </a:r>
            <a:r>
              <a:rPr lang="en-US" altLang="zh-TW" sz="2000" i="1" dirty="0">
                <a:ea typeface="新細明體" charset="-120"/>
                <a:sym typeface="Symbol" pitchFamily="18" charset="2"/>
              </a:rPr>
              <a:t>Available</a:t>
            </a:r>
            <a:r>
              <a:rPr lang="en-US" altLang="zh-TW" sz="2000" dirty="0">
                <a:ea typeface="新細明體" charset="-120"/>
                <a:sym typeface="Symbol" pitchFamily="18" charset="2"/>
              </a:rPr>
              <a:t>, go to step 3.  Otherwise </a:t>
            </a:r>
            <a:r>
              <a:rPr lang="en-US" altLang="zh-TW" sz="2000" i="1" dirty="0">
                <a:ea typeface="新細明體" charset="-120"/>
                <a:sym typeface="Symbol" pitchFamily="18" charset="2"/>
              </a:rPr>
              <a:t>P</a:t>
            </a:r>
            <a:r>
              <a:rPr lang="en-US" altLang="zh-TW" sz="2000" i="1" baseline="-25000" dirty="0">
                <a:ea typeface="新細明體" charset="-120"/>
                <a:sym typeface="Symbol" pitchFamily="18" charset="2"/>
              </a:rPr>
              <a:t>i</a:t>
            </a:r>
            <a:r>
              <a:rPr lang="en-US" altLang="zh-TW" sz="2000" dirty="0">
                <a:ea typeface="新細明體" charset="-120"/>
                <a:sym typeface="Symbol" pitchFamily="18" charset="2"/>
              </a:rPr>
              <a:t>  must wait, since resources are not </a:t>
            </a:r>
            <a:r>
              <a:rPr lang="en-US" altLang="zh-TW" sz="2000" dirty="0" smtClean="0">
                <a:ea typeface="新細明體" charset="-120"/>
                <a:sym typeface="Symbol" pitchFamily="18" charset="2"/>
              </a:rPr>
              <a:t>available.</a:t>
            </a:r>
          </a:p>
          <a:p>
            <a:pPr marL="457200" indent="-457200">
              <a:lnSpc>
                <a:spcPct val="90000"/>
              </a:lnSpc>
              <a:buFont typeface="Monotype Sorts" pitchFamily="2" charset="2"/>
              <a:buAutoNum type="arabicPeriod"/>
              <a:defRPr/>
            </a:pPr>
            <a:r>
              <a:rPr lang="en-US" altLang="zh-TW" sz="2000" dirty="0" smtClean="0">
                <a:ea typeface="新細明體" charset="-120"/>
                <a:sym typeface="Symbol" pitchFamily="18" charset="2"/>
              </a:rPr>
              <a:t>Pretend </a:t>
            </a:r>
            <a:r>
              <a:rPr lang="en-US" altLang="zh-TW" sz="2000" dirty="0">
                <a:ea typeface="新細明體" charset="-120"/>
                <a:sym typeface="Symbol" pitchFamily="18" charset="2"/>
              </a:rPr>
              <a:t>to allocate requested resources to </a:t>
            </a:r>
            <a:r>
              <a:rPr lang="en-US" altLang="zh-TW" sz="2000" i="1" dirty="0">
                <a:ea typeface="新細明體" charset="-120"/>
                <a:sym typeface="Symbol" pitchFamily="18" charset="2"/>
              </a:rPr>
              <a:t>P</a:t>
            </a:r>
            <a:r>
              <a:rPr lang="en-US" altLang="zh-TW" sz="2000" i="1" baseline="-25000" dirty="0">
                <a:ea typeface="新細明體" charset="-120"/>
                <a:sym typeface="Symbol" pitchFamily="18" charset="2"/>
              </a:rPr>
              <a:t>i</a:t>
            </a:r>
            <a:r>
              <a:rPr lang="en-US" altLang="zh-TW" sz="2000" dirty="0">
                <a:ea typeface="新細明體" charset="-120"/>
                <a:sym typeface="Symbol" pitchFamily="18" charset="2"/>
              </a:rPr>
              <a:t> by modifying the state as follows:</a:t>
            </a:r>
          </a:p>
          <a:p>
            <a:pPr>
              <a:lnSpc>
                <a:spcPct val="90000"/>
              </a:lnSpc>
              <a:buFontTx/>
              <a:buNone/>
              <a:defRPr/>
            </a:pPr>
            <a:r>
              <a:rPr lang="en-US" altLang="zh-TW" sz="2000" dirty="0">
                <a:ea typeface="新細明體" charset="-120"/>
                <a:sym typeface="Symbol" pitchFamily="18" charset="2"/>
              </a:rPr>
              <a:t>		</a:t>
            </a:r>
            <a:r>
              <a:rPr lang="en-US" altLang="zh-TW" sz="2000" i="1" dirty="0">
                <a:ea typeface="新細明體" charset="-120"/>
                <a:sym typeface="Symbol" pitchFamily="18" charset="2"/>
              </a:rPr>
              <a:t>Available</a:t>
            </a:r>
            <a:r>
              <a:rPr lang="en-US" altLang="zh-TW" sz="2000" dirty="0">
                <a:ea typeface="新細明體" charset="-120"/>
                <a:sym typeface="Symbol" pitchFamily="18" charset="2"/>
              </a:rPr>
              <a:t> = </a:t>
            </a:r>
            <a:r>
              <a:rPr lang="en-US" altLang="zh-TW" sz="2000" i="1" dirty="0">
                <a:ea typeface="新細明體" charset="-120"/>
                <a:sym typeface="Symbol" pitchFamily="18" charset="2"/>
              </a:rPr>
              <a:t>Available  </a:t>
            </a:r>
            <a:r>
              <a:rPr lang="en-US" altLang="zh-TW" sz="2000" dirty="0">
                <a:ea typeface="新細明體" charset="-120"/>
                <a:sym typeface="Symbol" pitchFamily="18" charset="2"/>
              </a:rPr>
              <a:t>–</a:t>
            </a:r>
            <a:r>
              <a:rPr lang="en-US" altLang="zh-TW" sz="2000" i="1" dirty="0">
                <a:ea typeface="新細明體" charset="-120"/>
                <a:sym typeface="Symbol" pitchFamily="18" charset="2"/>
              </a:rPr>
              <a:t> Request;</a:t>
            </a:r>
          </a:p>
          <a:p>
            <a:pPr>
              <a:lnSpc>
                <a:spcPct val="90000"/>
              </a:lnSpc>
              <a:buFontTx/>
              <a:buNone/>
              <a:defRPr/>
            </a:pPr>
            <a:r>
              <a:rPr lang="en-US" altLang="zh-TW" sz="2000" dirty="0">
                <a:ea typeface="新細明體" charset="-120"/>
                <a:sym typeface="Symbol" pitchFamily="18" charset="2"/>
              </a:rPr>
              <a:t>		</a:t>
            </a:r>
            <a:r>
              <a:rPr lang="en-US" altLang="zh-TW" sz="2000" i="1" dirty="0" err="1">
                <a:ea typeface="新細明體" charset="-120"/>
                <a:sym typeface="Symbol" pitchFamily="18" charset="2"/>
              </a:rPr>
              <a:t>Allocation</a:t>
            </a:r>
            <a:r>
              <a:rPr lang="en-US" altLang="zh-TW" sz="2000" i="1" baseline="-25000" dirty="0" err="1">
                <a:ea typeface="新細明體" charset="-120"/>
                <a:sym typeface="Symbol" pitchFamily="18" charset="2"/>
              </a:rPr>
              <a:t>i</a:t>
            </a:r>
            <a:r>
              <a:rPr lang="en-US" altLang="zh-TW" sz="2000" baseline="-25000" dirty="0">
                <a:ea typeface="新細明體" charset="-120"/>
                <a:sym typeface="Symbol" pitchFamily="18" charset="2"/>
              </a:rPr>
              <a:t> </a:t>
            </a:r>
            <a:r>
              <a:rPr lang="en-US" altLang="zh-TW" sz="2000" dirty="0">
                <a:ea typeface="新細明體" charset="-120"/>
                <a:sym typeface="Symbol" pitchFamily="18" charset="2"/>
              </a:rPr>
              <a:t>= </a:t>
            </a:r>
            <a:r>
              <a:rPr lang="en-US" altLang="zh-TW" sz="2000" i="1" dirty="0" err="1">
                <a:ea typeface="新細明體" charset="-120"/>
                <a:sym typeface="Symbol" pitchFamily="18" charset="2"/>
              </a:rPr>
              <a:t>Allocation</a:t>
            </a:r>
            <a:r>
              <a:rPr lang="en-US" altLang="zh-TW" sz="2000" i="1" baseline="-25000" dirty="0" err="1">
                <a:ea typeface="新細明體" charset="-120"/>
                <a:sym typeface="Symbol" pitchFamily="18" charset="2"/>
              </a:rPr>
              <a:t>i</a:t>
            </a:r>
            <a:r>
              <a:rPr lang="en-US" altLang="zh-TW" sz="2000" dirty="0">
                <a:ea typeface="新細明體" charset="-120"/>
                <a:sym typeface="Symbol" pitchFamily="18" charset="2"/>
              </a:rPr>
              <a:t> + </a:t>
            </a:r>
            <a:r>
              <a:rPr lang="en-US" altLang="zh-TW" sz="2000" i="1" dirty="0" err="1">
                <a:ea typeface="新細明體" charset="-120"/>
                <a:sym typeface="Symbol" pitchFamily="18" charset="2"/>
              </a:rPr>
              <a:t>Request</a:t>
            </a:r>
            <a:r>
              <a:rPr lang="en-US" altLang="zh-TW" sz="2000" i="1" baseline="-25000" dirty="0" err="1">
                <a:ea typeface="新細明體" charset="-120"/>
                <a:sym typeface="Symbol" pitchFamily="18" charset="2"/>
              </a:rPr>
              <a:t>i</a:t>
            </a:r>
            <a:r>
              <a:rPr lang="en-US" altLang="zh-TW" sz="2000" dirty="0">
                <a:ea typeface="新細明體" charset="-120"/>
                <a:sym typeface="Symbol" pitchFamily="18" charset="2"/>
              </a:rPr>
              <a:t>;</a:t>
            </a:r>
          </a:p>
          <a:p>
            <a:pPr>
              <a:lnSpc>
                <a:spcPct val="90000"/>
              </a:lnSpc>
              <a:buFontTx/>
              <a:buNone/>
              <a:defRPr/>
            </a:pPr>
            <a:r>
              <a:rPr lang="en-US" altLang="zh-TW" sz="2000" dirty="0">
                <a:ea typeface="新細明體" charset="-120"/>
                <a:sym typeface="Symbol" pitchFamily="18" charset="2"/>
              </a:rPr>
              <a:t>		</a:t>
            </a:r>
            <a:r>
              <a:rPr lang="en-US" altLang="zh-TW" sz="2000" i="1" dirty="0" err="1">
                <a:ea typeface="新細明體" charset="-120"/>
                <a:sym typeface="Symbol" pitchFamily="18" charset="2"/>
              </a:rPr>
              <a:t>Need</a:t>
            </a:r>
            <a:r>
              <a:rPr lang="en-US" altLang="zh-TW" sz="2000" i="1" baseline="-25000" dirty="0" err="1">
                <a:ea typeface="新細明體" charset="-120"/>
                <a:sym typeface="Symbol" pitchFamily="18" charset="2"/>
              </a:rPr>
              <a:t>i</a:t>
            </a:r>
            <a:r>
              <a:rPr lang="en-US" altLang="zh-TW" sz="2000" i="1" dirty="0">
                <a:ea typeface="新細明體" charset="-120"/>
                <a:sym typeface="Symbol" pitchFamily="18" charset="2"/>
              </a:rPr>
              <a:t> </a:t>
            </a:r>
            <a:r>
              <a:rPr lang="en-US" altLang="zh-TW" sz="2000" dirty="0">
                <a:ea typeface="新細明體" charset="-120"/>
                <a:sym typeface="Symbol" pitchFamily="18" charset="2"/>
              </a:rPr>
              <a:t>=</a:t>
            </a:r>
            <a:r>
              <a:rPr lang="en-US" altLang="zh-TW" sz="2000" i="1" dirty="0">
                <a:ea typeface="新細明體" charset="-120"/>
                <a:sym typeface="Symbol" pitchFamily="18" charset="2"/>
              </a:rPr>
              <a:t> </a:t>
            </a:r>
            <a:r>
              <a:rPr lang="en-US" altLang="zh-TW" sz="2000" i="1" dirty="0" err="1">
                <a:ea typeface="新細明體" charset="-120"/>
                <a:sym typeface="Symbol" pitchFamily="18" charset="2"/>
              </a:rPr>
              <a:t>Need</a:t>
            </a:r>
            <a:r>
              <a:rPr lang="en-US" altLang="zh-TW" sz="2000" i="1" baseline="-25000" dirty="0" err="1">
                <a:ea typeface="新細明體" charset="-120"/>
                <a:sym typeface="Symbol" pitchFamily="18" charset="2"/>
              </a:rPr>
              <a:t>i</a:t>
            </a:r>
            <a:r>
              <a:rPr lang="en-US" altLang="zh-TW" sz="2000" dirty="0">
                <a:ea typeface="新細明體" charset="-120"/>
                <a:sym typeface="Symbol" pitchFamily="18" charset="2"/>
              </a:rPr>
              <a:t> – </a:t>
            </a:r>
            <a:r>
              <a:rPr lang="en-US" altLang="zh-TW" sz="2000" i="1" dirty="0" err="1">
                <a:ea typeface="新細明體" charset="-120"/>
                <a:sym typeface="Symbol" pitchFamily="18" charset="2"/>
              </a:rPr>
              <a:t>Request</a:t>
            </a:r>
            <a:r>
              <a:rPr lang="en-US" altLang="zh-TW" sz="2000" i="1" baseline="-25000" dirty="0" err="1">
                <a:ea typeface="新細明體" charset="-120"/>
                <a:sym typeface="Symbol" pitchFamily="18" charset="2"/>
              </a:rPr>
              <a:t>i</a:t>
            </a:r>
            <a:r>
              <a:rPr lang="en-US" altLang="zh-TW" sz="2000" i="1" dirty="0">
                <a:ea typeface="新細明體" charset="-120"/>
                <a:sym typeface="Symbol" pitchFamily="18" charset="2"/>
              </a:rPr>
              <a:t>;</a:t>
            </a:r>
          </a:p>
          <a:p>
            <a:pPr lvl="1">
              <a:lnSpc>
                <a:spcPct val="90000"/>
              </a:lnSpc>
              <a:defRPr/>
            </a:pPr>
            <a:r>
              <a:rPr lang="en-US" altLang="zh-TW" sz="2000" i="1" dirty="0">
                <a:ea typeface="新細明體" charset="-120"/>
                <a:sym typeface="Symbol" pitchFamily="18" charset="2"/>
              </a:rPr>
              <a:t>If safe  the resources are allocated to Pi. </a:t>
            </a:r>
          </a:p>
          <a:p>
            <a:pPr lvl="1">
              <a:lnSpc>
                <a:spcPct val="90000"/>
              </a:lnSpc>
              <a:defRPr/>
            </a:pPr>
            <a:r>
              <a:rPr lang="en-US" altLang="zh-TW" sz="2000" i="1" dirty="0">
                <a:ea typeface="新細明體" charset="-120"/>
                <a:sym typeface="Symbol" pitchFamily="18" charset="2"/>
              </a:rPr>
              <a:t>If unsafe  Pi must wait, and the old resource-allocation state is restored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zh-TW" smtClean="0">
                <a:ea typeface="新細明體" charset="-120"/>
              </a:rPr>
              <a:t>Example of Resource-Request Algorithm</a:t>
            </a:r>
          </a:p>
        </p:txBody>
      </p:sp>
      <p:sp>
        <p:nvSpPr>
          <p:cNvPr id="60419" name="Rectangle 3"/>
          <p:cNvSpPr>
            <a:spLocks noGrp="1" noChangeArrowheads="1"/>
          </p:cNvSpPr>
          <p:nvPr>
            <p:ph type="body" idx="1"/>
          </p:nvPr>
        </p:nvSpPr>
        <p:spPr>
          <a:xfrm>
            <a:off x="827088" y="1368425"/>
            <a:ext cx="7923212" cy="4540250"/>
          </a:xfrm>
        </p:spPr>
        <p:txBody>
          <a:bodyPr/>
          <a:lstStyle/>
          <a:p>
            <a:pPr>
              <a:tabLst>
                <a:tab pos="1371600" algn="l"/>
                <a:tab pos="2395538" algn="ctr"/>
                <a:tab pos="3594100" algn="ctr"/>
                <a:tab pos="4805363" algn="ctr"/>
              </a:tabLst>
            </a:pPr>
            <a:r>
              <a:rPr lang="en-US" altLang="zh-TW" smtClean="0">
                <a:ea typeface="新細明體" charset="-120"/>
              </a:rPr>
              <a:t>5 processes </a:t>
            </a:r>
            <a:r>
              <a:rPr lang="en-US" altLang="zh-TW" i="1" smtClean="0">
                <a:ea typeface="新細明體" charset="-120"/>
              </a:rPr>
              <a:t>P</a:t>
            </a:r>
            <a:r>
              <a:rPr lang="en-US" altLang="zh-TW" baseline="-25000" smtClean="0">
                <a:ea typeface="新細明體" charset="-120"/>
              </a:rPr>
              <a:t>0  </a:t>
            </a:r>
            <a:r>
              <a:rPr lang="en-US" altLang="zh-TW" smtClean="0">
                <a:ea typeface="新細明體" charset="-120"/>
              </a:rPr>
              <a:t>through </a:t>
            </a:r>
            <a:r>
              <a:rPr lang="en-US" altLang="zh-TW" i="1" smtClean="0">
                <a:ea typeface="新細明體" charset="-120"/>
              </a:rPr>
              <a:t>P</a:t>
            </a:r>
            <a:r>
              <a:rPr lang="en-US" altLang="zh-TW" baseline="-25000" smtClean="0">
                <a:ea typeface="新細明體" charset="-120"/>
              </a:rPr>
              <a:t>4</a:t>
            </a:r>
            <a:r>
              <a:rPr lang="en-US" altLang="zh-TW" smtClean="0">
                <a:ea typeface="新細明體" charset="-120"/>
              </a:rPr>
              <a:t>; </a:t>
            </a:r>
          </a:p>
          <a:p>
            <a:pPr>
              <a:tabLst>
                <a:tab pos="1371600" algn="l"/>
                <a:tab pos="2395538" algn="ctr"/>
                <a:tab pos="3594100" algn="ctr"/>
                <a:tab pos="4805363" algn="ctr"/>
              </a:tabLst>
            </a:pPr>
            <a:r>
              <a:rPr lang="en-US" altLang="zh-TW" smtClean="0">
                <a:ea typeface="新細明體" charset="-120"/>
              </a:rPr>
              <a:t>3 resource types:</a:t>
            </a:r>
          </a:p>
          <a:p>
            <a:pPr>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A</a:t>
            </a:r>
            <a:r>
              <a:rPr lang="en-US" altLang="zh-TW" sz="2000" smtClean="0">
                <a:ea typeface="新細明體" charset="-120"/>
              </a:rPr>
              <a:t> (10 instances),  </a:t>
            </a:r>
            <a:r>
              <a:rPr lang="en-US" altLang="zh-TW" sz="2000" i="1" smtClean="0">
                <a:ea typeface="新細明體" charset="-120"/>
              </a:rPr>
              <a:t>B</a:t>
            </a:r>
            <a:r>
              <a:rPr lang="en-US" altLang="zh-TW" sz="2000" smtClean="0">
                <a:ea typeface="新細明體" charset="-120"/>
              </a:rPr>
              <a:t> (5instances), and </a:t>
            </a:r>
            <a:r>
              <a:rPr lang="en-US" altLang="zh-TW" sz="2000" i="1" smtClean="0">
                <a:ea typeface="新細明體" charset="-120"/>
              </a:rPr>
              <a:t>C</a:t>
            </a:r>
            <a:r>
              <a:rPr lang="en-US" altLang="zh-TW" sz="2000" smtClean="0">
                <a:ea typeface="新細明體" charset="-120"/>
              </a:rPr>
              <a:t> (7 instances).</a:t>
            </a:r>
          </a:p>
          <a:p>
            <a:pPr>
              <a:tabLst>
                <a:tab pos="1371600" algn="l"/>
                <a:tab pos="2395538" algn="ctr"/>
                <a:tab pos="3594100" algn="ctr"/>
                <a:tab pos="4805363" algn="ctr"/>
              </a:tabLst>
            </a:pPr>
            <a:r>
              <a:rPr lang="en-US" altLang="zh-TW" smtClean="0">
                <a:ea typeface="新細明體" charset="-120"/>
              </a:rPr>
              <a:t>Snapshot at time </a:t>
            </a:r>
            <a:r>
              <a:rPr lang="en-US" altLang="zh-TW" i="1" smtClean="0">
                <a:ea typeface="新細明體" charset="-120"/>
              </a:rPr>
              <a:t>T</a:t>
            </a:r>
            <a:r>
              <a:rPr lang="en-US" altLang="zh-TW" baseline="-25000" smtClean="0">
                <a:ea typeface="新細明體" charset="-120"/>
              </a:rPr>
              <a:t>0</a:t>
            </a:r>
            <a:r>
              <a:rPr lang="en-US" altLang="zh-TW" smtClean="0">
                <a:ea typeface="新細明體" charset="-120"/>
              </a:rPr>
              <a:t>, say </a:t>
            </a:r>
            <a:r>
              <a:rPr lang="en-US" altLang="zh-TW" i="1" smtClean="0">
                <a:ea typeface="新細明體" charset="-120"/>
              </a:rPr>
              <a:t>P</a:t>
            </a:r>
            <a:r>
              <a:rPr lang="en-US" altLang="zh-TW" baseline="-25000" smtClean="0">
                <a:ea typeface="新細明體" charset="-120"/>
              </a:rPr>
              <a:t>1</a:t>
            </a:r>
            <a:r>
              <a:rPr lang="en-US" altLang="zh-TW" smtClean="0">
                <a:ea typeface="新細明體" charset="-120"/>
              </a:rPr>
              <a:t> Request (1,0,2)</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u="sng" smtClean="0">
                <a:ea typeface="新細明體" charset="-120"/>
              </a:rPr>
              <a:t>Allocation</a:t>
            </a:r>
            <a:r>
              <a:rPr lang="en-US" altLang="zh-TW" sz="2000" i="1" smtClean="0">
                <a:ea typeface="新細明體" charset="-120"/>
              </a:rPr>
              <a:t>	</a:t>
            </a:r>
            <a:r>
              <a:rPr lang="en-US" altLang="zh-TW" sz="2000" i="1" u="sng" smtClean="0">
                <a:ea typeface="新細明體" charset="-120"/>
              </a:rPr>
              <a:t>Need</a:t>
            </a:r>
            <a:r>
              <a:rPr lang="en-US" altLang="zh-TW" sz="2000" i="1" smtClean="0">
                <a:ea typeface="新細明體" charset="-120"/>
              </a:rPr>
              <a:t>	</a:t>
            </a:r>
            <a:r>
              <a:rPr lang="en-US" altLang="zh-TW" sz="2000" i="1" u="sng" smtClean="0">
                <a:ea typeface="新細明體" charset="-120"/>
              </a:rPr>
              <a:t>Available</a:t>
            </a:r>
            <a:endParaRPr lang="en-US" altLang="zh-TW" sz="2000" i="1" smtClean="0">
              <a:ea typeface="新細明體" charset="-120"/>
            </a:endParaRPr>
          </a:p>
          <a:p>
            <a:pPr>
              <a:spcBef>
                <a:spcPct val="0"/>
              </a:spcBef>
              <a:buFont typeface="Monotype Sorts" pitchFamily="2" charset="2"/>
              <a:buNone/>
              <a:tabLst>
                <a:tab pos="1371600" algn="l"/>
                <a:tab pos="2395538" algn="ctr"/>
                <a:tab pos="3594100" algn="ctr"/>
                <a:tab pos="4805363" algn="ctr"/>
              </a:tabLst>
            </a:pPr>
            <a:r>
              <a:rPr lang="en-US" altLang="zh-TW" sz="2000" i="1" smtClean="0">
                <a:ea typeface="新細明體" charset="-120"/>
              </a:rPr>
              <a:t>			A B C	A B C 	A B C</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0	</a:t>
            </a:r>
            <a:r>
              <a:rPr lang="en-US" altLang="zh-TW" sz="2000" smtClean="0">
                <a:ea typeface="新細明體" charset="-120"/>
              </a:rPr>
              <a:t>0 1 0	7 4 3 	3 3 2</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1	</a:t>
            </a:r>
            <a:r>
              <a:rPr lang="en-US" altLang="zh-TW" sz="2000" smtClean="0">
                <a:ea typeface="新細明體" charset="-120"/>
              </a:rPr>
              <a:t>2 0 0 	1 2 2  </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2</a:t>
            </a:r>
            <a:r>
              <a:rPr lang="en-US" altLang="zh-TW" sz="2000" smtClean="0">
                <a:ea typeface="新細明體" charset="-120"/>
              </a:rPr>
              <a:t>	3 0 2 	6 0 0</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3</a:t>
            </a:r>
            <a:r>
              <a:rPr lang="en-US" altLang="zh-TW" sz="2000" smtClean="0">
                <a:ea typeface="新細明體" charset="-120"/>
              </a:rPr>
              <a:t>	2 1 1 	0 1 1</a:t>
            </a:r>
          </a:p>
          <a:p>
            <a:pPr>
              <a:spcBef>
                <a:spcPct val="0"/>
              </a:spcBef>
              <a:buFont typeface="Monotype Sorts" pitchFamily="2" charset="2"/>
              <a:buNone/>
              <a:tabLst>
                <a:tab pos="1371600" algn="l"/>
                <a:tab pos="2395538" algn="ctr"/>
                <a:tab pos="3594100" algn="ctr"/>
                <a:tab pos="4805363"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4</a:t>
            </a:r>
            <a:r>
              <a:rPr lang="en-US" altLang="zh-TW" sz="2000" smtClean="0">
                <a:ea typeface="新細明體" charset="-120"/>
              </a:rPr>
              <a:t>	0 0 2	4 3 1  	</a:t>
            </a:r>
          </a:p>
          <a:p>
            <a:pPr>
              <a:spcBef>
                <a:spcPct val="0"/>
              </a:spcBef>
              <a:tabLst>
                <a:tab pos="1371600" algn="l"/>
                <a:tab pos="2395538" algn="ctr"/>
                <a:tab pos="3594100" algn="ctr"/>
                <a:tab pos="4805363" algn="ctr"/>
              </a:tabLst>
            </a:pPr>
            <a:r>
              <a:rPr lang="en-US" altLang="zh-TW" smtClean="0">
                <a:ea typeface="新細明體" charset="-120"/>
              </a:rPr>
              <a:t>A safe sequence &lt;P</a:t>
            </a:r>
            <a:r>
              <a:rPr lang="en-US" altLang="zh-TW" baseline="-25000" smtClean="0">
                <a:ea typeface="新細明體" charset="-120"/>
              </a:rPr>
              <a:t>1</a:t>
            </a:r>
            <a:r>
              <a:rPr lang="en-US" altLang="zh-TW" smtClean="0">
                <a:ea typeface="新細明體" charset="-120"/>
              </a:rPr>
              <a:t>, P</a:t>
            </a:r>
            <a:r>
              <a:rPr lang="en-US" altLang="zh-TW" baseline="-25000" smtClean="0">
                <a:ea typeface="新細明體" charset="-120"/>
              </a:rPr>
              <a:t>3</a:t>
            </a:r>
            <a:r>
              <a:rPr lang="en-US" altLang="zh-TW" smtClean="0">
                <a:ea typeface="新細明體" charset="-120"/>
              </a:rPr>
              <a:t>, P</a:t>
            </a:r>
            <a:r>
              <a:rPr lang="en-US" altLang="zh-TW" baseline="-25000" smtClean="0">
                <a:ea typeface="新細明體" charset="-120"/>
              </a:rPr>
              <a:t>4</a:t>
            </a:r>
            <a:r>
              <a:rPr lang="en-US" altLang="zh-TW" smtClean="0">
                <a:ea typeface="新細明體" charset="-120"/>
              </a:rPr>
              <a:t>, P</a:t>
            </a:r>
            <a:r>
              <a:rPr lang="en-US" altLang="zh-TW" baseline="-25000" smtClean="0">
                <a:ea typeface="新細明體" charset="-120"/>
              </a:rPr>
              <a:t>0</a:t>
            </a:r>
            <a:r>
              <a:rPr lang="en-US" altLang="zh-TW" smtClean="0">
                <a:ea typeface="新細明體" charset="-120"/>
              </a:rPr>
              <a:t>, P</a:t>
            </a:r>
            <a:r>
              <a:rPr lang="en-US" altLang="zh-TW" baseline="-25000" smtClean="0">
                <a:ea typeface="新細明體" charset="-120"/>
              </a:rPr>
              <a:t>2</a:t>
            </a:r>
            <a:r>
              <a:rPr lang="en-US" altLang="zh-TW" smtClean="0">
                <a:ea typeface="新細明體" charset="-120"/>
              </a:rPr>
              <a:t>&gt;	</a:t>
            </a:r>
          </a:p>
          <a:p>
            <a:pPr>
              <a:spcBef>
                <a:spcPct val="0"/>
              </a:spcBef>
              <a:buFont typeface="Monotype Sorts" pitchFamily="2" charset="2"/>
              <a:buNone/>
              <a:tabLst>
                <a:tab pos="1371600" algn="l"/>
                <a:tab pos="2395538" algn="ctr"/>
                <a:tab pos="3594100" algn="ctr"/>
                <a:tab pos="4805363" algn="ctr"/>
              </a:tabLst>
            </a:pPr>
            <a:r>
              <a:rPr lang="en-US" altLang="zh-TW" smtClean="0">
                <a:ea typeface="新細明體" charset="-120"/>
              </a:rPr>
              <a:t>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zh-TW" smtClean="0">
                <a:ea typeface="新細明體" charset="-120"/>
              </a:rPr>
              <a:t>Detection Algorithm</a:t>
            </a:r>
          </a:p>
        </p:txBody>
      </p:sp>
      <p:sp>
        <p:nvSpPr>
          <p:cNvPr id="66563" name="Rectangle 3"/>
          <p:cNvSpPr>
            <a:spLocks noGrp="1" noChangeArrowheads="1"/>
          </p:cNvSpPr>
          <p:nvPr>
            <p:ph idx="1"/>
          </p:nvPr>
        </p:nvSpPr>
        <p:spPr/>
        <p:txBody>
          <a:bodyPr/>
          <a:lstStyle/>
          <a:p>
            <a:pPr marL="114300" indent="-457200">
              <a:spcBef>
                <a:spcPct val="0"/>
              </a:spcBef>
              <a:buFont typeface="Monotype Sorts" pitchFamily="2" charset="2"/>
              <a:buNone/>
            </a:pPr>
            <a:r>
              <a:rPr lang="en-US" altLang="zh-TW" sz="2000" smtClean="0">
                <a:ea typeface="新細明體" charset="-120"/>
              </a:rPr>
              <a:t>Check if there is a deadlock in the system.</a:t>
            </a:r>
          </a:p>
          <a:p>
            <a:pPr marL="114300" indent="-457200">
              <a:spcBef>
                <a:spcPct val="0"/>
              </a:spcBef>
              <a:buFont typeface="Monotype Sorts" pitchFamily="2" charset="2"/>
              <a:buNone/>
            </a:pPr>
            <a:endParaRPr lang="en-US" altLang="zh-TW" sz="2000" smtClean="0">
              <a:ea typeface="新細明體" charset="-120"/>
            </a:endParaRPr>
          </a:p>
          <a:p>
            <a:pPr marL="114300" indent="-457200">
              <a:spcBef>
                <a:spcPct val="0"/>
              </a:spcBef>
              <a:buFont typeface="Monotype Sorts" pitchFamily="2" charset="2"/>
              <a:buNone/>
            </a:pPr>
            <a:r>
              <a:rPr lang="en-US" altLang="zh-TW" sz="2000" smtClean="0">
                <a:ea typeface="新細明體" charset="-120"/>
              </a:rPr>
              <a:t>1. Let </a:t>
            </a:r>
            <a:r>
              <a:rPr lang="en-US" altLang="zh-TW" sz="2000" i="1" smtClean="0">
                <a:ea typeface="新細明體" charset="-120"/>
              </a:rPr>
              <a:t>Work</a:t>
            </a:r>
            <a:r>
              <a:rPr lang="en-US" altLang="zh-TW" sz="2000" smtClean="0">
                <a:ea typeface="新細明體" charset="-120"/>
              </a:rPr>
              <a:t> and </a:t>
            </a:r>
            <a:r>
              <a:rPr lang="en-US" altLang="zh-TW" sz="2000" i="1" smtClean="0">
                <a:ea typeface="新細明體" charset="-120"/>
              </a:rPr>
              <a:t>Finish</a:t>
            </a:r>
            <a:r>
              <a:rPr lang="en-US" altLang="zh-TW" sz="2000" smtClean="0">
                <a:ea typeface="新細明體" charset="-120"/>
              </a:rPr>
              <a:t> be vectors of length </a:t>
            </a:r>
            <a:r>
              <a:rPr lang="en-US" altLang="zh-TW" sz="2000" i="1" smtClean="0">
                <a:ea typeface="新細明體" charset="-120"/>
              </a:rPr>
              <a:t>m</a:t>
            </a:r>
            <a:r>
              <a:rPr lang="en-US" altLang="zh-TW" sz="2000" smtClean="0">
                <a:ea typeface="新細明體" charset="-120"/>
              </a:rPr>
              <a:t> and </a:t>
            </a:r>
            <a:r>
              <a:rPr lang="en-US" altLang="zh-TW" sz="2000" i="1" smtClean="0">
                <a:ea typeface="新細明體" charset="-120"/>
              </a:rPr>
              <a:t>n</a:t>
            </a:r>
            <a:r>
              <a:rPr lang="en-US" altLang="zh-TW" sz="2000" smtClean="0">
                <a:ea typeface="新細明體" charset="-120"/>
              </a:rPr>
              <a:t>, respectively Initialize:</a:t>
            </a:r>
          </a:p>
          <a:p>
            <a:pPr marL="749300" lvl="3" indent="-457200">
              <a:spcBef>
                <a:spcPct val="0"/>
              </a:spcBef>
              <a:buFontTx/>
              <a:buNone/>
            </a:pPr>
            <a:r>
              <a:rPr lang="en-US" altLang="zh-TW" sz="2000" smtClean="0">
                <a:ea typeface="新細明體" charset="-120"/>
              </a:rPr>
              <a:t>(a) </a:t>
            </a:r>
            <a:r>
              <a:rPr lang="en-US" altLang="zh-TW" sz="2000" i="1" smtClean="0">
                <a:ea typeface="新細明體" charset="-120"/>
              </a:rPr>
              <a:t>Work</a:t>
            </a:r>
            <a:r>
              <a:rPr lang="en-US" altLang="zh-TW" sz="2000" smtClean="0">
                <a:ea typeface="新細明體" charset="-120"/>
              </a:rPr>
              <a:t> = </a:t>
            </a:r>
            <a:r>
              <a:rPr lang="en-US" altLang="zh-TW" sz="2000" i="1" smtClean="0">
                <a:ea typeface="新細明體" charset="-120"/>
              </a:rPr>
              <a:t>Available</a:t>
            </a:r>
            <a:endParaRPr lang="en-US" altLang="zh-TW" sz="2000" smtClean="0">
              <a:ea typeface="新細明體" charset="-120"/>
            </a:endParaRPr>
          </a:p>
          <a:p>
            <a:pPr marL="749300" lvl="3" indent="-457200">
              <a:spcBef>
                <a:spcPct val="0"/>
              </a:spcBef>
              <a:buFontTx/>
              <a:buNone/>
            </a:pPr>
            <a:r>
              <a:rPr lang="en-US" altLang="zh-TW" sz="2000" smtClean="0">
                <a:ea typeface="新細明體" charset="-120"/>
              </a:rPr>
              <a:t>(b) For </a:t>
            </a:r>
            <a:r>
              <a:rPr lang="en-US" altLang="zh-TW" sz="2000" i="1" smtClean="0">
                <a:ea typeface="新細明體" charset="-120"/>
              </a:rPr>
              <a:t>i</a:t>
            </a:r>
            <a:r>
              <a:rPr lang="en-US" altLang="zh-TW" sz="2000" smtClean="0">
                <a:ea typeface="新細明體" charset="-120"/>
              </a:rPr>
              <a:t> = 1,2, …,</a:t>
            </a:r>
            <a:r>
              <a:rPr lang="en-US" altLang="zh-TW" sz="2000" i="1" smtClean="0">
                <a:ea typeface="新細明體" charset="-120"/>
              </a:rPr>
              <a:t> n</a:t>
            </a:r>
            <a:r>
              <a:rPr lang="en-US" altLang="zh-TW" sz="2000" smtClean="0">
                <a:ea typeface="新細明體" charset="-120"/>
              </a:rPr>
              <a:t>, if </a:t>
            </a:r>
            <a:r>
              <a:rPr lang="en-US" altLang="zh-TW" sz="2000" i="1" smtClean="0">
                <a:ea typeface="新細明體" charset="-120"/>
              </a:rPr>
              <a:t>Allocation</a:t>
            </a:r>
            <a:r>
              <a:rPr lang="en-US" altLang="zh-TW" sz="2000" i="1" baseline="-25000" smtClean="0">
                <a:ea typeface="新細明體" charset="-120"/>
              </a:rPr>
              <a:t>i</a:t>
            </a:r>
            <a:r>
              <a:rPr lang="en-US" altLang="zh-TW" sz="2000" smtClean="0">
                <a:ea typeface="新細明體" charset="-120"/>
              </a:rPr>
              <a:t> </a:t>
            </a:r>
            <a:r>
              <a:rPr lang="en-US" altLang="zh-TW" sz="2000" smtClean="0">
                <a:ea typeface="新細明體" charset="-120"/>
                <a:sym typeface="Symbol" pitchFamily="18" charset="2"/>
              </a:rPr>
              <a:t> 0, then  </a:t>
            </a:r>
            <a:r>
              <a:rPr lang="en-US" altLang="zh-TW" sz="2000" i="1" smtClean="0">
                <a:ea typeface="新細明體" charset="-120"/>
                <a:sym typeface="Symbol" pitchFamily="18" charset="2"/>
              </a:rPr>
              <a:t>Finish</a:t>
            </a:r>
            <a:r>
              <a:rPr lang="en-US" altLang="zh-TW" sz="2000" smtClean="0">
                <a:ea typeface="新細明體" charset="-120"/>
                <a:sym typeface="Symbol" pitchFamily="18" charset="2"/>
              </a:rPr>
              <a:t>[i] = false;otherwise, </a:t>
            </a:r>
            <a:r>
              <a:rPr lang="en-US" altLang="zh-TW" sz="2000" i="1" smtClean="0">
                <a:ea typeface="新細明體" charset="-120"/>
                <a:sym typeface="Symbol" pitchFamily="18" charset="2"/>
              </a:rPr>
              <a:t>Finish</a:t>
            </a:r>
            <a:r>
              <a:rPr lang="en-US" altLang="zh-TW" sz="2000" smtClean="0">
                <a:ea typeface="新細明體" charset="-120"/>
                <a:sym typeface="Symbol" pitchFamily="18" charset="2"/>
              </a:rPr>
              <a:t>[i] = </a:t>
            </a:r>
            <a:r>
              <a:rPr lang="en-US" altLang="zh-TW" sz="2000" i="1" smtClean="0">
                <a:ea typeface="新細明體" charset="-120"/>
                <a:sym typeface="Symbol" pitchFamily="18" charset="2"/>
              </a:rPr>
              <a:t>true</a:t>
            </a:r>
            <a:r>
              <a:rPr lang="en-US" altLang="zh-TW" sz="2000" smtClean="0">
                <a:ea typeface="新細明體" charset="-120"/>
                <a:sym typeface="Symbol" pitchFamily="18" charset="2"/>
              </a:rPr>
              <a:t>.</a:t>
            </a:r>
          </a:p>
          <a:p>
            <a:pPr marL="63500" lvl="1" indent="-457200">
              <a:spcBef>
                <a:spcPct val="0"/>
              </a:spcBef>
              <a:buFont typeface="Monotype Sorts" pitchFamily="2" charset="2"/>
              <a:buNone/>
            </a:pPr>
            <a:r>
              <a:rPr lang="en-US" altLang="zh-TW" sz="2000" smtClean="0">
                <a:ea typeface="新細明體" charset="-120"/>
              </a:rPr>
              <a:t>2. Find an index </a:t>
            </a:r>
            <a:r>
              <a:rPr lang="en-US" altLang="zh-TW" sz="2000" i="1" smtClean="0">
                <a:ea typeface="新細明體" charset="-120"/>
              </a:rPr>
              <a:t>i </a:t>
            </a:r>
            <a:r>
              <a:rPr lang="en-US" altLang="zh-TW" sz="2000" smtClean="0">
                <a:ea typeface="新細明體" charset="-120"/>
              </a:rPr>
              <a:t>such that both:</a:t>
            </a:r>
          </a:p>
          <a:p>
            <a:pPr marL="406400" lvl="2" indent="-457200">
              <a:spcBef>
                <a:spcPct val="0"/>
              </a:spcBef>
              <a:buFont typeface="Webdings" pitchFamily="18" charset="2"/>
              <a:buNone/>
            </a:pPr>
            <a:r>
              <a:rPr lang="en-US" altLang="zh-TW" sz="2000" smtClean="0">
                <a:ea typeface="新細明體" charset="-120"/>
              </a:rPr>
              <a:t>	(a) </a:t>
            </a:r>
            <a:r>
              <a:rPr lang="en-US" altLang="zh-TW" sz="2000" i="1" smtClean="0">
                <a:ea typeface="新細明體" charset="-120"/>
              </a:rPr>
              <a:t>Finish</a:t>
            </a:r>
            <a:r>
              <a:rPr lang="en-US" altLang="zh-TW" sz="2000" smtClean="0">
                <a:ea typeface="新細明體" charset="-120"/>
              </a:rPr>
              <a:t>[</a:t>
            </a:r>
            <a:r>
              <a:rPr lang="en-US" altLang="zh-TW" sz="2000" i="1" smtClean="0">
                <a:ea typeface="新細明體" charset="-120"/>
              </a:rPr>
              <a:t>i</a:t>
            </a:r>
            <a:r>
              <a:rPr lang="en-US" altLang="zh-TW" sz="2000" smtClean="0">
                <a:ea typeface="新細明體" charset="-120"/>
              </a:rPr>
              <a:t>] == </a:t>
            </a:r>
            <a:r>
              <a:rPr lang="en-US" altLang="zh-TW" sz="2000" i="1" smtClean="0">
                <a:ea typeface="新細明體" charset="-120"/>
              </a:rPr>
              <a:t>false</a:t>
            </a:r>
            <a:endParaRPr lang="en-US" altLang="zh-TW" sz="2000" smtClean="0">
              <a:ea typeface="新細明體" charset="-120"/>
            </a:endParaRPr>
          </a:p>
          <a:p>
            <a:pPr marL="406400" lvl="2" indent="-457200">
              <a:spcBef>
                <a:spcPct val="0"/>
              </a:spcBef>
              <a:buFont typeface="Webdings" pitchFamily="18" charset="2"/>
              <a:buNone/>
            </a:pPr>
            <a:r>
              <a:rPr lang="en-US" altLang="zh-TW" sz="2000" smtClean="0">
                <a:ea typeface="新細明體" charset="-120"/>
              </a:rPr>
              <a:t>	(b) </a:t>
            </a:r>
            <a:r>
              <a:rPr lang="en-US" altLang="zh-TW" sz="2000" i="1" smtClean="0">
                <a:ea typeface="新細明體" charset="-120"/>
              </a:rPr>
              <a:t>Request</a:t>
            </a:r>
            <a:r>
              <a:rPr lang="en-US" altLang="zh-TW" sz="2000" i="1" baseline="-25000" smtClean="0">
                <a:ea typeface="新細明體" charset="-120"/>
              </a:rPr>
              <a:t>i</a:t>
            </a:r>
            <a:r>
              <a:rPr lang="en-US" altLang="zh-TW" sz="2000" smtClean="0">
                <a:ea typeface="新細明體" charset="-120"/>
              </a:rPr>
              <a:t> </a:t>
            </a:r>
            <a:r>
              <a:rPr lang="en-US" altLang="zh-TW" sz="2000" smtClean="0">
                <a:ea typeface="新細明體" charset="-120"/>
                <a:sym typeface="Symbol" pitchFamily="18" charset="2"/>
              </a:rPr>
              <a:t> </a:t>
            </a:r>
            <a:r>
              <a:rPr lang="en-US" altLang="zh-TW" sz="2000" i="1" smtClean="0">
                <a:ea typeface="新細明體" charset="-120"/>
                <a:sym typeface="Symbol" pitchFamily="18" charset="2"/>
              </a:rPr>
              <a:t>Work</a:t>
            </a:r>
            <a:br>
              <a:rPr lang="en-US" altLang="zh-TW" sz="2000" i="1" smtClean="0">
                <a:ea typeface="新細明體" charset="-120"/>
                <a:sym typeface="Symbol" pitchFamily="18" charset="2"/>
              </a:rPr>
            </a:br>
            <a:r>
              <a:rPr lang="en-US" altLang="zh-TW" sz="2000" smtClean="0">
                <a:ea typeface="新細明體" charset="-120"/>
                <a:sym typeface="Symbol" pitchFamily="18" charset="2"/>
              </a:rPr>
              <a:t>If no such </a:t>
            </a:r>
            <a:r>
              <a:rPr lang="en-US" altLang="zh-TW" sz="2000" i="1" smtClean="0">
                <a:ea typeface="新細明體" charset="-120"/>
                <a:sym typeface="Symbol" pitchFamily="18" charset="2"/>
              </a:rPr>
              <a:t>i</a:t>
            </a:r>
            <a:r>
              <a:rPr lang="en-US" altLang="zh-TW" sz="2000" smtClean="0">
                <a:ea typeface="新細明體" charset="-120"/>
                <a:sym typeface="Symbol" pitchFamily="18" charset="2"/>
              </a:rPr>
              <a:t> exists, go to step 4. </a:t>
            </a:r>
          </a:p>
          <a:p>
            <a:pPr marL="406400" lvl="2" indent="-457200">
              <a:spcBef>
                <a:spcPct val="0"/>
              </a:spcBef>
              <a:buFont typeface="Webdings" pitchFamily="18" charset="2"/>
              <a:buNone/>
            </a:pPr>
            <a:r>
              <a:rPr lang="en-US" altLang="zh-TW" sz="2000" i="1" smtClean="0">
                <a:ea typeface="新細明體" charset="-120"/>
                <a:sym typeface="Symbol" pitchFamily="18" charset="2"/>
              </a:rPr>
              <a:t>3. </a:t>
            </a:r>
            <a:r>
              <a:rPr lang="en-US" altLang="zh-TW" sz="2000" i="1" smtClean="0">
                <a:ea typeface="新細明體" charset="-120"/>
              </a:rPr>
              <a:t>Work</a:t>
            </a:r>
            <a:r>
              <a:rPr lang="en-US" altLang="zh-TW" sz="2000" smtClean="0">
                <a:ea typeface="新細明體" charset="-120"/>
              </a:rPr>
              <a:t> = </a:t>
            </a:r>
            <a:r>
              <a:rPr lang="en-US" altLang="zh-TW" sz="2000" i="1" smtClean="0">
                <a:ea typeface="新細明體" charset="-120"/>
              </a:rPr>
              <a:t>Work</a:t>
            </a:r>
            <a:r>
              <a:rPr lang="en-US" altLang="zh-TW" sz="2000" smtClean="0">
                <a:ea typeface="新細明體" charset="-120"/>
              </a:rPr>
              <a:t> + </a:t>
            </a:r>
            <a:r>
              <a:rPr lang="en-US" altLang="zh-TW" sz="2000" i="1" smtClean="0">
                <a:ea typeface="新細明體" charset="-120"/>
              </a:rPr>
              <a:t>Allocation</a:t>
            </a:r>
            <a:r>
              <a:rPr lang="en-US" altLang="zh-TW" sz="2000" i="1" baseline="-25000" smtClean="0">
                <a:ea typeface="新細明體" charset="-120"/>
              </a:rPr>
              <a:t>i</a:t>
            </a:r>
            <a:r>
              <a:rPr lang="en-US" altLang="zh-TW" sz="2000" smtClean="0">
                <a:ea typeface="新細明體" charset="-120"/>
              </a:rPr>
              <a:t/>
            </a:r>
            <a:br>
              <a:rPr lang="en-US" altLang="zh-TW" sz="2000" smtClean="0">
                <a:ea typeface="新細明體" charset="-120"/>
              </a:rPr>
            </a:br>
            <a:r>
              <a:rPr lang="en-US" altLang="zh-TW" sz="2000" i="1" smtClean="0">
                <a:ea typeface="新細明體" charset="-120"/>
              </a:rPr>
              <a:t>Finish</a:t>
            </a:r>
            <a:r>
              <a:rPr lang="en-US" altLang="zh-TW" sz="2000" smtClean="0">
                <a:ea typeface="新細明體" charset="-120"/>
              </a:rPr>
              <a:t>[</a:t>
            </a:r>
            <a:r>
              <a:rPr lang="en-US" altLang="zh-TW" sz="2000" i="1" smtClean="0">
                <a:ea typeface="新細明體" charset="-120"/>
              </a:rPr>
              <a:t>i</a:t>
            </a:r>
            <a:r>
              <a:rPr lang="en-US" altLang="zh-TW" sz="2000" smtClean="0">
                <a:ea typeface="新細明體" charset="-120"/>
              </a:rPr>
              <a:t>] = </a:t>
            </a:r>
            <a:r>
              <a:rPr lang="en-US" altLang="zh-TW" sz="2000" i="1" smtClean="0">
                <a:ea typeface="新細明體" charset="-120"/>
              </a:rPr>
              <a:t>true</a:t>
            </a:r>
            <a:r>
              <a:rPr lang="en-US" altLang="zh-TW" sz="2000" smtClean="0">
                <a:ea typeface="新細明體" charset="-120"/>
              </a:rPr>
              <a:t/>
            </a:r>
            <a:br>
              <a:rPr lang="en-US" altLang="zh-TW" sz="2000" smtClean="0">
                <a:ea typeface="新細明體" charset="-120"/>
              </a:rPr>
            </a:br>
            <a:r>
              <a:rPr lang="en-US" altLang="zh-TW" sz="2000" smtClean="0">
                <a:ea typeface="新細明體" charset="-120"/>
              </a:rPr>
              <a:t>go to step 2.</a:t>
            </a:r>
          </a:p>
          <a:p>
            <a:pPr marL="114300" indent="-457200">
              <a:lnSpc>
                <a:spcPct val="90000"/>
              </a:lnSpc>
              <a:spcBef>
                <a:spcPct val="0"/>
              </a:spcBef>
              <a:buFont typeface="Monotype Sorts" pitchFamily="2" charset="2"/>
              <a:buNone/>
            </a:pPr>
            <a:r>
              <a:rPr lang="en-US" altLang="zh-TW" sz="2000" smtClean="0">
                <a:ea typeface="新細明體" charset="-120"/>
              </a:rPr>
              <a:t>4. If </a:t>
            </a:r>
            <a:r>
              <a:rPr lang="en-US" altLang="zh-TW" sz="2000" i="1" smtClean="0">
                <a:ea typeface="新細明體" charset="-120"/>
              </a:rPr>
              <a:t>Finish</a:t>
            </a:r>
            <a:r>
              <a:rPr lang="en-US" altLang="zh-TW" sz="2000" smtClean="0">
                <a:ea typeface="新細明體" charset="-120"/>
              </a:rPr>
              <a:t>[</a:t>
            </a:r>
            <a:r>
              <a:rPr lang="en-US" altLang="zh-TW" sz="2000" i="1" smtClean="0">
                <a:ea typeface="新細明體" charset="-120"/>
              </a:rPr>
              <a:t>i</a:t>
            </a:r>
            <a:r>
              <a:rPr lang="en-US" altLang="zh-TW" sz="2000" smtClean="0">
                <a:ea typeface="新細明體" charset="-120"/>
              </a:rPr>
              <a:t>] == false, for some </a:t>
            </a:r>
            <a:r>
              <a:rPr lang="en-US" altLang="zh-TW" sz="2000" i="1" smtClean="0">
                <a:ea typeface="新細明體" charset="-120"/>
              </a:rPr>
              <a:t>i</a:t>
            </a:r>
            <a:r>
              <a:rPr lang="en-US" altLang="zh-TW" sz="2000" smtClean="0">
                <a:ea typeface="新細明體" charset="-120"/>
              </a:rPr>
              <a:t>, 1 </a:t>
            </a:r>
            <a:r>
              <a:rPr lang="en-US" altLang="zh-TW" sz="2000" smtClean="0">
                <a:ea typeface="新細明體" charset="-120"/>
                <a:sym typeface="Symbol" pitchFamily="18" charset="2"/>
              </a:rPr>
              <a:t> </a:t>
            </a:r>
            <a:r>
              <a:rPr lang="en-US" altLang="zh-TW" sz="2000" i="1" smtClean="0">
                <a:ea typeface="新細明體" charset="-120"/>
                <a:sym typeface="Symbol" pitchFamily="18" charset="2"/>
              </a:rPr>
              <a:t>i</a:t>
            </a:r>
            <a:r>
              <a:rPr lang="en-US" altLang="zh-TW" sz="2000" smtClean="0">
                <a:ea typeface="新細明體" charset="-120"/>
                <a:sym typeface="Symbol" pitchFamily="18" charset="2"/>
              </a:rPr>
              <a:t>   </a:t>
            </a:r>
            <a:r>
              <a:rPr lang="en-US" altLang="zh-TW" sz="2000" i="1" smtClean="0">
                <a:ea typeface="新細明體" charset="-120"/>
                <a:sym typeface="Symbol" pitchFamily="18" charset="2"/>
              </a:rPr>
              <a:t>n</a:t>
            </a:r>
            <a:r>
              <a:rPr lang="en-US" altLang="zh-TW" sz="2000" smtClean="0">
                <a:ea typeface="新細明體" charset="-120"/>
                <a:sym typeface="Symbol" pitchFamily="18" charset="2"/>
              </a:rPr>
              <a:t>, then the system is in deadlock state. Moreover, if </a:t>
            </a:r>
            <a:r>
              <a:rPr lang="en-US" altLang="zh-TW" sz="2000" i="1" smtClean="0">
                <a:ea typeface="新細明體" charset="-120"/>
                <a:sym typeface="Symbol" pitchFamily="18" charset="2"/>
              </a:rPr>
              <a:t>Finish</a:t>
            </a:r>
            <a:r>
              <a:rPr lang="en-US" altLang="zh-TW" sz="2000" smtClean="0">
                <a:ea typeface="新細明體" charset="-120"/>
                <a:sym typeface="Symbol" pitchFamily="18" charset="2"/>
              </a:rPr>
              <a:t>[</a:t>
            </a:r>
            <a:r>
              <a:rPr lang="en-US" altLang="zh-TW" sz="2000" i="1" smtClean="0">
                <a:ea typeface="新細明體" charset="-120"/>
                <a:sym typeface="Symbol" pitchFamily="18" charset="2"/>
              </a:rPr>
              <a:t>i</a:t>
            </a:r>
            <a:r>
              <a:rPr lang="en-US" altLang="zh-TW" sz="2000" smtClean="0">
                <a:ea typeface="新細明體" charset="-120"/>
                <a:sym typeface="Symbol" pitchFamily="18" charset="2"/>
              </a:rPr>
              <a:t>] == </a:t>
            </a:r>
            <a:r>
              <a:rPr lang="en-US" altLang="zh-TW" sz="2000" i="1" smtClean="0">
                <a:ea typeface="新細明體" charset="-120"/>
                <a:sym typeface="Symbol" pitchFamily="18" charset="2"/>
              </a:rPr>
              <a:t>false</a:t>
            </a:r>
            <a:r>
              <a:rPr lang="en-US" altLang="zh-TW" sz="2000" smtClean="0">
                <a:ea typeface="新細明體" charset="-120"/>
                <a:sym typeface="Symbol" pitchFamily="18" charset="2"/>
              </a:rPr>
              <a:t>, then </a:t>
            </a:r>
            <a:r>
              <a:rPr lang="en-US" altLang="zh-TW" sz="2000" i="1" smtClean="0">
                <a:ea typeface="新細明體" charset="-120"/>
                <a:sym typeface="Symbol" pitchFamily="18" charset="2"/>
              </a:rPr>
              <a:t>P</a:t>
            </a:r>
            <a:r>
              <a:rPr lang="en-US" altLang="zh-TW" sz="2000" i="1" baseline="-25000" smtClean="0">
                <a:ea typeface="新細明體" charset="-120"/>
                <a:sym typeface="Symbol" pitchFamily="18" charset="2"/>
              </a:rPr>
              <a:t>i</a:t>
            </a:r>
            <a:r>
              <a:rPr lang="en-US" altLang="zh-TW" sz="2000" smtClean="0">
                <a:ea typeface="新細明體" charset="-120"/>
                <a:sym typeface="Symbol" pitchFamily="18" charset="2"/>
              </a:rPr>
              <a:t> is deadlocked.</a:t>
            </a:r>
            <a:endParaRPr lang="en-US" altLang="zh-TW" sz="1800" smtClean="0">
              <a:ea typeface="新細明體" charset="-12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TW" smtClean="0">
                <a:ea typeface="新細明體" charset="-120"/>
              </a:rPr>
              <a:t>Example of Detection Algorithm</a:t>
            </a:r>
          </a:p>
        </p:txBody>
      </p:sp>
      <p:sp>
        <p:nvSpPr>
          <p:cNvPr id="68611" name="Rectangle 3"/>
          <p:cNvSpPr>
            <a:spLocks noGrp="1" noChangeArrowheads="1"/>
          </p:cNvSpPr>
          <p:nvPr>
            <p:ph type="body" idx="1"/>
          </p:nvPr>
        </p:nvSpPr>
        <p:spPr/>
        <p:txBody>
          <a:bodyPr/>
          <a:lstStyle/>
          <a:p>
            <a:pPr>
              <a:tabLst>
                <a:tab pos="1428750" algn="l"/>
                <a:tab pos="2338388" algn="ctr"/>
                <a:tab pos="3594100" algn="ctr"/>
                <a:tab pos="4921250" algn="ctr"/>
              </a:tabLst>
            </a:pPr>
            <a:r>
              <a:rPr lang="en-US" altLang="zh-TW" sz="2000" smtClean="0">
                <a:ea typeface="新細明體" charset="-120"/>
              </a:rPr>
              <a:t>Five processes </a:t>
            </a:r>
            <a:r>
              <a:rPr lang="en-US" altLang="zh-TW" sz="2000" i="1" smtClean="0">
                <a:ea typeface="新細明體" charset="-120"/>
              </a:rPr>
              <a:t>P</a:t>
            </a:r>
            <a:r>
              <a:rPr lang="en-US" altLang="zh-TW" sz="2000" baseline="-25000" smtClean="0">
                <a:ea typeface="新細明體" charset="-120"/>
              </a:rPr>
              <a:t>0</a:t>
            </a:r>
            <a:r>
              <a:rPr lang="en-US" altLang="zh-TW" sz="2000" smtClean="0">
                <a:ea typeface="新細明體" charset="-120"/>
              </a:rPr>
              <a:t> through </a:t>
            </a:r>
            <a:r>
              <a:rPr lang="en-US" altLang="zh-TW" sz="2000" i="1" smtClean="0">
                <a:ea typeface="新細明體" charset="-120"/>
              </a:rPr>
              <a:t>P</a:t>
            </a:r>
            <a:r>
              <a:rPr lang="en-US" altLang="zh-TW" sz="2000" baseline="-25000" smtClean="0">
                <a:ea typeface="新細明體" charset="-120"/>
              </a:rPr>
              <a:t>4</a:t>
            </a:r>
            <a:r>
              <a:rPr lang="en-US" altLang="zh-TW" sz="2000" smtClean="0">
                <a:ea typeface="新細明體" charset="-120"/>
              </a:rPr>
              <a:t>;</a:t>
            </a:r>
            <a:r>
              <a:rPr lang="en-US" altLang="zh-TW" sz="2000" baseline="-25000" smtClean="0">
                <a:ea typeface="新細明體" charset="-120"/>
              </a:rPr>
              <a:t> </a:t>
            </a:r>
            <a:r>
              <a:rPr lang="en-US" altLang="zh-TW" sz="2000" smtClean="0">
                <a:ea typeface="新細明體" charset="-120"/>
              </a:rPr>
              <a:t>three resource types </a:t>
            </a:r>
            <a:br>
              <a:rPr lang="en-US" altLang="zh-TW" sz="2000" smtClean="0">
                <a:ea typeface="新細明體" charset="-120"/>
              </a:rPr>
            </a:br>
            <a:r>
              <a:rPr lang="en-US" altLang="zh-TW" sz="2000" smtClean="0">
                <a:ea typeface="新細明體" charset="-120"/>
              </a:rPr>
              <a:t>A (7 instances), </a:t>
            </a:r>
            <a:r>
              <a:rPr lang="en-US" altLang="zh-TW" sz="2000" i="1" smtClean="0">
                <a:ea typeface="新細明體" charset="-120"/>
              </a:rPr>
              <a:t>B </a:t>
            </a:r>
            <a:r>
              <a:rPr lang="en-US" altLang="zh-TW" sz="2000" smtClean="0">
                <a:ea typeface="新細明體" charset="-120"/>
              </a:rPr>
              <a:t>(2 instances), and </a:t>
            </a:r>
            <a:r>
              <a:rPr lang="en-US" altLang="zh-TW" sz="2000" i="1" smtClean="0">
                <a:ea typeface="新細明體" charset="-120"/>
              </a:rPr>
              <a:t>C</a:t>
            </a:r>
            <a:r>
              <a:rPr lang="en-US" altLang="zh-TW" sz="2000" smtClean="0">
                <a:ea typeface="新細明體" charset="-120"/>
              </a:rPr>
              <a:t> (6 instances).</a:t>
            </a:r>
          </a:p>
          <a:p>
            <a:pPr>
              <a:tabLst>
                <a:tab pos="1428750" algn="l"/>
                <a:tab pos="2338388" algn="ctr"/>
                <a:tab pos="3594100" algn="ctr"/>
                <a:tab pos="4921250" algn="ctr"/>
              </a:tabLst>
            </a:pPr>
            <a:r>
              <a:rPr lang="en-US" altLang="zh-TW" sz="2000" smtClean="0">
                <a:ea typeface="新細明體" charset="-120"/>
              </a:rPr>
              <a:t>Snapshot at time </a:t>
            </a:r>
            <a:r>
              <a:rPr lang="en-US" altLang="zh-TW" sz="2000" i="1" smtClean="0">
                <a:ea typeface="新細明體" charset="-120"/>
              </a:rPr>
              <a:t>T</a:t>
            </a:r>
            <a:r>
              <a:rPr lang="en-US" altLang="zh-TW" sz="2000" baseline="-25000" smtClean="0">
                <a:ea typeface="新細明體" charset="-120"/>
              </a:rPr>
              <a:t>0</a:t>
            </a:r>
            <a:r>
              <a:rPr lang="en-US" altLang="zh-TW" sz="2000" smtClean="0">
                <a:ea typeface="新細明體" charset="-120"/>
              </a:rPr>
              <a:t>:</a:t>
            </a:r>
          </a:p>
          <a:p>
            <a:pPr>
              <a:spcBef>
                <a:spcPct val="0"/>
              </a:spcBef>
              <a:buFont typeface="Monotype Sorts" pitchFamily="2" charset="2"/>
              <a:buNone/>
              <a:tabLst>
                <a:tab pos="1428750" algn="l"/>
                <a:tab pos="2338388" algn="ctr"/>
                <a:tab pos="3594100" algn="ctr"/>
                <a:tab pos="4921250" algn="ctr"/>
              </a:tabLst>
            </a:pPr>
            <a:r>
              <a:rPr lang="en-US" altLang="zh-TW" sz="2000" smtClean="0">
                <a:ea typeface="新細明體" charset="-120"/>
              </a:rPr>
              <a:t>			 </a:t>
            </a:r>
            <a:r>
              <a:rPr lang="en-US" altLang="zh-TW" sz="2000" i="1" u="sng" smtClean="0">
                <a:ea typeface="新細明體" charset="-120"/>
              </a:rPr>
              <a:t>Allocation</a:t>
            </a:r>
            <a:r>
              <a:rPr lang="en-US" altLang="zh-TW" sz="2000" i="1" smtClean="0">
                <a:ea typeface="新細明體" charset="-120"/>
              </a:rPr>
              <a:t>	</a:t>
            </a:r>
            <a:r>
              <a:rPr lang="en-US" altLang="zh-TW" sz="2000" i="1" u="sng" smtClean="0">
                <a:ea typeface="新細明體" charset="-120"/>
              </a:rPr>
              <a:t>Request</a:t>
            </a:r>
            <a:r>
              <a:rPr lang="en-US" altLang="zh-TW" sz="2000" i="1" smtClean="0">
                <a:ea typeface="新細明體" charset="-120"/>
              </a:rPr>
              <a:t>	</a:t>
            </a:r>
            <a:r>
              <a:rPr lang="en-US" altLang="zh-TW" sz="2000" i="1" u="sng" smtClean="0">
                <a:ea typeface="新細明體" charset="-120"/>
              </a:rPr>
              <a:t>Available</a:t>
            </a:r>
          </a:p>
          <a:p>
            <a:pPr>
              <a:spcBef>
                <a:spcPct val="0"/>
              </a:spcBef>
              <a:buFont typeface="Monotype Sorts" pitchFamily="2" charset="2"/>
              <a:buNone/>
              <a:tabLst>
                <a:tab pos="1428750" algn="l"/>
                <a:tab pos="2338388" algn="ctr"/>
                <a:tab pos="3594100" algn="ctr"/>
                <a:tab pos="4921250" algn="ctr"/>
              </a:tabLst>
            </a:pPr>
            <a:r>
              <a:rPr lang="en-US" altLang="zh-TW" sz="2000" smtClean="0">
                <a:ea typeface="新細明體" charset="-120"/>
              </a:rPr>
              <a:t>			</a:t>
            </a:r>
            <a:r>
              <a:rPr lang="en-US" altLang="zh-TW" sz="2000" i="1" smtClean="0">
                <a:ea typeface="新細明體" charset="-120"/>
              </a:rPr>
              <a:t>A B C 	A B C 	A B C</a:t>
            </a:r>
          </a:p>
          <a:p>
            <a:pPr>
              <a:spcBef>
                <a:spcPct val="0"/>
              </a:spcBef>
              <a:buFont typeface="Monotype Sorts" pitchFamily="2" charset="2"/>
              <a:buNone/>
              <a:tabLst>
                <a:tab pos="1428750" algn="l"/>
                <a:tab pos="2338388" algn="ctr"/>
                <a:tab pos="3594100" algn="ctr"/>
                <a:tab pos="492125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0</a:t>
            </a:r>
            <a:r>
              <a:rPr lang="en-US" altLang="zh-TW" sz="2000" smtClean="0">
                <a:ea typeface="新細明體" charset="-120"/>
              </a:rPr>
              <a:t>	0 1 0 	0 0 0 	0 0 0</a:t>
            </a:r>
          </a:p>
          <a:p>
            <a:pPr>
              <a:spcBef>
                <a:spcPct val="0"/>
              </a:spcBef>
              <a:buFont typeface="Monotype Sorts" pitchFamily="2" charset="2"/>
              <a:buNone/>
              <a:tabLst>
                <a:tab pos="1428750" algn="l"/>
                <a:tab pos="2338388" algn="ctr"/>
                <a:tab pos="3594100" algn="ctr"/>
                <a:tab pos="492125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1</a:t>
            </a:r>
            <a:r>
              <a:rPr lang="en-US" altLang="zh-TW" sz="2000" smtClean="0">
                <a:ea typeface="新細明體" charset="-120"/>
              </a:rPr>
              <a:t>	2 0 0 	2 0 2</a:t>
            </a:r>
          </a:p>
          <a:p>
            <a:pPr>
              <a:spcBef>
                <a:spcPct val="0"/>
              </a:spcBef>
              <a:buFont typeface="Monotype Sorts" pitchFamily="2" charset="2"/>
              <a:buNone/>
              <a:tabLst>
                <a:tab pos="1428750" algn="l"/>
                <a:tab pos="2338388" algn="ctr"/>
                <a:tab pos="3594100" algn="ctr"/>
                <a:tab pos="492125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2</a:t>
            </a:r>
            <a:r>
              <a:rPr lang="en-US" altLang="zh-TW" sz="2000" smtClean="0">
                <a:ea typeface="新細明體" charset="-120"/>
              </a:rPr>
              <a:t>	3 0 3	0 0 0 </a:t>
            </a:r>
          </a:p>
          <a:p>
            <a:pPr>
              <a:spcBef>
                <a:spcPct val="0"/>
              </a:spcBef>
              <a:buFont typeface="Monotype Sorts" pitchFamily="2" charset="2"/>
              <a:buNone/>
              <a:tabLst>
                <a:tab pos="1428750" algn="l"/>
                <a:tab pos="2338388" algn="ctr"/>
                <a:tab pos="3594100" algn="ctr"/>
                <a:tab pos="492125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3</a:t>
            </a:r>
            <a:r>
              <a:rPr lang="en-US" altLang="zh-TW" sz="2000" smtClean="0">
                <a:ea typeface="新細明體" charset="-120"/>
              </a:rPr>
              <a:t>	2 1 1 	1 0 0 </a:t>
            </a:r>
          </a:p>
          <a:p>
            <a:pPr>
              <a:spcBef>
                <a:spcPct val="0"/>
              </a:spcBef>
              <a:buFont typeface="Monotype Sorts" pitchFamily="2" charset="2"/>
              <a:buNone/>
              <a:tabLst>
                <a:tab pos="1428750" algn="l"/>
                <a:tab pos="2338388" algn="ctr"/>
                <a:tab pos="3594100" algn="ctr"/>
                <a:tab pos="492125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4</a:t>
            </a:r>
            <a:r>
              <a:rPr lang="en-US" altLang="zh-TW" sz="2000" smtClean="0">
                <a:ea typeface="新細明體" charset="-120"/>
              </a:rPr>
              <a:t>	0 0 2 	0 0 2</a:t>
            </a:r>
          </a:p>
          <a:p>
            <a:pPr>
              <a:tabLst>
                <a:tab pos="1428750" algn="l"/>
                <a:tab pos="2338388" algn="ctr"/>
                <a:tab pos="3594100" algn="ctr"/>
                <a:tab pos="4921250" algn="ctr"/>
              </a:tabLst>
            </a:pPr>
            <a:r>
              <a:rPr lang="en-US" altLang="zh-TW" sz="2000" smtClean="0">
                <a:ea typeface="新細明體" charset="-120"/>
              </a:rPr>
              <a:t>Sequence &lt;</a:t>
            </a:r>
            <a:r>
              <a:rPr lang="en-US" altLang="zh-TW" sz="2000" i="1" smtClean="0">
                <a:ea typeface="新細明體" charset="-120"/>
              </a:rPr>
              <a:t>P</a:t>
            </a:r>
            <a:r>
              <a:rPr lang="en-US" altLang="zh-TW" sz="2000" baseline="-25000" smtClean="0">
                <a:ea typeface="新細明體" charset="-120"/>
              </a:rPr>
              <a:t>0</a:t>
            </a: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2</a:t>
            </a: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3</a:t>
            </a: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1</a:t>
            </a: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4</a:t>
            </a:r>
            <a:r>
              <a:rPr lang="en-US" altLang="zh-TW" sz="2000" smtClean="0">
                <a:ea typeface="新細明體" charset="-120"/>
              </a:rPr>
              <a:t>&gt; will result in </a:t>
            </a:r>
            <a:r>
              <a:rPr lang="en-US" altLang="zh-TW" sz="2000" i="1" smtClean="0">
                <a:ea typeface="新細明體" charset="-120"/>
              </a:rPr>
              <a:t>Finish</a:t>
            </a:r>
            <a:r>
              <a:rPr lang="en-US" altLang="zh-TW" sz="2000" smtClean="0">
                <a:ea typeface="新細明體" charset="-120"/>
              </a:rPr>
              <a:t>[</a:t>
            </a:r>
            <a:r>
              <a:rPr lang="en-US" altLang="zh-TW" sz="2000" i="1" smtClean="0">
                <a:ea typeface="新細明體" charset="-120"/>
              </a:rPr>
              <a:t>i</a:t>
            </a:r>
            <a:r>
              <a:rPr lang="en-US" altLang="zh-TW" sz="2000" smtClean="0">
                <a:ea typeface="新細明體" charset="-120"/>
              </a:rPr>
              <a:t>] = true for all </a:t>
            </a:r>
            <a:r>
              <a:rPr lang="en-US" altLang="zh-TW" sz="2000" i="1" smtClean="0">
                <a:ea typeface="新細明體" charset="-120"/>
              </a:rPr>
              <a:t>i</a:t>
            </a:r>
            <a:r>
              <a:rPr lang="en-US" altLang="zh-TW" sz="2000" smtClean="0">
                <a:ea typeface="新細明體" charset="-120"/>
              </a:rPr>
              <a:t>. </a:t>
            </a:r>
          </a:p>
          <a:p>
            <a:pPr>
              <a:buFont typeface="Monotype Sorts" pitchFamily="2" charset="2"/>
              <a:buNone/>
              <a:tabLst>
                <a:tab pos="1428750" algn="l"/>
                <a:tab pos="2338388" algn="ctr"/>
                <a:tab pos="3594100" algn="ctr"/>
                <a:tab pos="4921250" algn="ctr"/>
              </a:tabLst>
            </a:pPr>
            <a:endParaRPr lang="en-US" altLang="zh-TW" smtClean="0">
              <a:ea typeface="新細明體"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TW" smtClean="0">
                <a:ea typeface="新細明體" charset="-120"/>
              </a:rPr>
              <a:t>Example (Cont.)</a:t>
            </a:r>
          </a:p>
        </p:txBody>
      </p:sp>
      <p:sp>
        <p:nvSpPr>
          <p:cNvPr id="69635" name="Rectangle 3"/>
          <p:cNvSpPr>
            <a:spLocks noGrp="1" noChangeArrowheads="1"/>
          </p:cNvSpPr>
          <p:nvPr>
            <p:ph type="body" idx="1"/>
          </p:nvPr>
        </p:nvSpPr>
        <p:spPr/>
        <p:txBody>
          <a:bodyPr/>
          <a:lstStyle/>
          <a:p>
            <a:pPr>
              <a:tabLst>
                <a:tab pos="2800350" algn="l"/>
                <a:tab pos="3708400" algn="ctr"/>
              </a:tabLst>
            </a:pPr>
            <a:r>
              <a:rPr lang="en-US" altLang="zh-TW" sz="2000" i="1" smtClean="0">
                <a:ea typeface="新細明體" charset="-120"/>
              </a:rPr>
              <a:t>P</a:t>
            </a:r>
            <a:r>
              <a:rPr lang="en-US" altLang="zh-TW" sz="2000" baseline="-25000" smtClean="0">
                <a:ea typeface="新細明體" charset="-120"/>
              </a:rPr>
              <a:t>2</a:t>
            </a:r>
            <a:r>
              <a:rPr lang="en-US" altLang="zh-TW" sz="2000" smtClean="0">
                <a:ea typeface="新細明體" charset="-120"/>
              </a:rPr>
              <a:t> requests an additional instance of type</a:t>
            </a:r>
            <a:r>
              <a:rPr lang="en-US" altLang="zh-TW" sz="2000" i="1" smtClean="0">
                <a:ea typeface="新細明體" charset="-120"/>
              </a:rPr>
              <a:t> C</a:t>
            </a:r>
            <a:r>
              <a:rPr lang="en-US" altLang="zh-TW" sz="2000" smtClean="0">
                <a:ea typeface="新細明體" charset="-120"/>
              </a:rPr>
              <a:t>.</a:t>
            </a:r>
          </a:p>
          <a:p>
            <a:pPr>
              <a:spcBef>
                <a:spcPct val="0"/>
              </a:spcBef>
              <a:buFont typeface="Monotype Sorts" pitchFamily="2" charset="2"/>
              <a:buNone/>
              <a:tabLst>
                <a:tab pos="2800350" algn="l"/>
                <a:tab pos="3708400" algn="ctr"/>
              </a:tabLst>
            </a:pPr>
            <a:r>
              <a:rPr lang="en-US" altLang="zh-TW" sz="2000" smtClean="0">
                <a:ea typeface="新細明體" charset="-120"/>
              </a:rPr>
              <a:t>			</a:t>
            </a:r>
            <a:r>
              <a:rPr lang="en-US" altLang="zh-TW" sz="2000" i="1" u="sng" smtClean="0">
                <a:ea typeface="新細明體" charset="-120"/>
              </a:rPr>
              <a:t>Request</a:t>
            </a:r>
            <a:endParaRPr lang="en-US" altLang="zh-TW" sz="2000" i="1" smtClean="0">
              <a:ea typeface="新細明體" charset="-120"/>
            </a:endParaRPr>
          </a:p>
          <a:p>
            <a:pPr>
              <a:spcBef>
                <a:spcPct val="0"/>
              </a:spcBef>
              <a:buFont typeface="Monotype Sorts" pitchFamily="2" charset="2"/>
              <a:buNone/>
              <a:tabLst>
                <a:tab pos="2800350" algn="l"/>
                <a:tab pos="3708400" algn="ctr"/>
              </a:tabLst>
            </a:pPr>
            <a:r>
              <a:rPr lang="en-US" altLang="zh-TW" sz="2000" i="1" smtClean="0">
                <a:ea typeface="新細明體" charset="-120"/>
              </a:rPr>
              <a:t>			A B C</a:t>
            </a:r>
          </a:p>
          <a:p>
            <a:pPr>
              <a:spcBef>
                <a:spcPct val="0"/>
              </a:spcBef>
              <a:buFont typeface="Monotype Sorts" pitchFamily="2" charset="2"/>
              <a:buNone/>
              <a:tabLst>
                <a:tab pos="2800350" algn="l"/>
                <a:tab pos="370840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0</a:t>
            </a:r>
            <a:r>
              <a:rPr lang="en-US" altLang="zh-TW" sz="2000" smtClean="0">
                <a:ea typeface="新細明體" charset="-120"/>
              </a:rPr>
              <a:t>	0 0 0</a:t>
            </a:r>
          </a:p>
          <a:p>
            <a:pPr>
              <a:spcBef>
                <a:spcPct val="0"/>
              </a:spcBef>
              <a:buFont typeface="Monotype Sorts" pitchFamily="2" charset="2"/>
              <a:buNone/>
              <a:tabLst>
                <a:tab pos="2800350" algn="l"/>
                <a:tab pos="370840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1</a:t>
            </a:r>
            <a:r>
              <a:rPr lang="en-US" altLang="zh-TW" sz="2000" smtClean="0">
                <a:ea typeface="新細明體" charset="-120"/>
              </a:rPr>
              <a:t>	2 0 1</a:t>
            </a:r>
          </a:p>
          <a:p>
            <a:pPr>
              <a:spcBef>
                <a:spcPct val="0"/>
              </a:spcBef>
              <a:buFont typeface="Monotype Sorts" pitchFamily="2" charset="2"/>
              <a:buNone/>
              <a:tabLst>
                <a:tab pos="2800350" algn="l"/>
                <a:tab pos="370840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2</a:t>
            </a:r>
            <a:r>
              <a:rPr lang="en-US" altLang="zh-TW" sz="2000" smtClean="0">
                <a:ea typeface="新細明體" charset="-120"/>
              </a:rPr>
              <a:t>	0 0 1</a:t>
            </a:r>
          </a:p>
          <a:p>
            <a:pPr>
              <a:spcBef>
                <a:spcPct val="0"/>
              </a:spcBef>
              <a:buFont typeface="Monotype Sorts" pitchFamily="2" charset="2"/>
              <a:buNone/>
              <a:tabLst>
                <a:tab pos="2800350" algn="l"/>
                <a:tab pos="370840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3</a:t>
            </a:r>
            <a:r>
              <a:rPr lang="en-US" altLang="zh-TW" sz="2000" smtClean="0">
                <a:ea typeface="新細明體" charset="-120"/>
              </a:rPr>
              <a:t>	1 0 0 </a:t>
            </a:r>
          </a:p>
          <a:p>
            <a:pPr>
              <a:spcBef>
                <a:spcPct val="0"/>
              </a:spcBef>
              <a:buFont typeface="Monotype Sorts" pitchFamily="2" charset="2"/>
              <a:buNone/>
              <a:tabLst>
                <a:tab pos="2800350" algn="l"/>
                <a:tab pos="3708400" algn="ctr"/>
              </a:tabLst>
            </a:pP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4</a:t>
            </a:r>
            <a:r>
              <a:rPr lang="en-US" altLang="zh-TW" sz="2000" smtClean="0">
                <a:ea typeface="新細明體" charset="-120"/>
              </a:rPr>
              <a:t>	0 0 2</a:t>
            </a:r>
          </a:p>
          <a:p>
            <a:pPr>
              <a:tabLst>
                <a:tab pos="2800350" algn="l"/>
                <a:tab pos="3708400" algn="ctr"/>
              </a:tabLst>
            </a:pPr>
            <a:r>
              <a:rPr lang="en-US" altLang="zh-TW" sz="2000" smtClean="0">
                <a:ea typeface="新細明體" charset="-120"/>
              </a:rPr>
              <a:t>State of system?</a:t>
            </a:r>
          </a:p>
          <a:p>
            <a:pPr lvl="1">
              <a:tabLst>
                <a:tab pos="2800350" algn="l"/>
                <a:tab pos="3708400" algn="ctr"/>
              </a:tabLst>
            </a:pPr>
            <a:r>
              <a:rPr lang="en-US" altLang="zh-TW" sz="2000" smtClean="0">
                <a:ea typeface="新細明體" charset="-120"/>
              </a:rPr>
              <a:t>Can reclaim resources held by process </a:t>
            </a:r>
            <a:r>
              <a:rPr lang="en-US" altLang="zh-TW" sz="2000" i="1" smtClean="0">
                <a:ea typeface="新細明體" charset="-120"/>
              </a:rPr>
              <a:t>P</a:t>
            </a:r>
            <a:r>
              <a:rPr lang="en-US" altLang="zh-TW" sz="2000" baseline="-25000" smtClean="0">
                <a:ea typeface="新細明體" charset="-120"/>
              </a:rPr>
              <a:t>0</a:t>
            </a:r>
            <a:r>
              <a:rPr lang="en-US" altLang="zh-TW" sz="2000" smtClean="0">
                <a:ea typeface="新細明體" charset="-120"/>
              </a:rPr>
              <a:t>, but insufficient resources to fulfill other processes; requests.</a:t>
            </a:r>
          </a:p>
          <a:p>
            <a:pPr lvl="1">
              <a:tabLst>
                <a:tab pos="2800350" algn="l"/>
                <a:tab pos="3708400" algn="ctr"/>
              </a:tabLst>
            </a:pPr>
            <a:r>
              <a:rPr lang="en-US" altLang="zh-TW" sz="2000" smtClean="0">
                <a:ea typeface="新細明體" charset="-120"/>
              </a:rPr>
              <a:t>Deadlock exists, consisting of processes </a:t>
            </a:r>
            <a:r>
              <a:rPr lang="en-US" altLang="zh-TW" sz="2000" i="1" smtClean="0">
                <a:ea typeface="新細明體" charset="-120"/>
              </a:rPr>
              <a:t>P</a:t>
            </a:r>
            <a:r>
              <a:rPr lang="en-US" altLang="zh-TW" sz="2000" baseline="-25000" smtClean="0">
                <a:ea typeface="新細明體" charset="-120"/>
              </a:rPr>
              <a:t>1</a:t>
            </a:r>
            <a:r>
              <a:rPr lang="en-US" altLang="zh-TW" sz="2000" smtClean="0">
                <a:ea typeface="新細明體" charset="-120"/>
              </a:rPr>
              <a:t>, </a:t>
            </a:r>
            <a:r>
              <a:rPr lang="en-US" altLang="zh-TW" sz="2000" baseline="-25000" smtClean="0">
                <a:ea typeface="新細明體" charset="-120"/>
              </a:rPr>
              <a:t> </a:t>
            </a:r>
            <a:r>
              <a:rPr lang="en-US" altLang="zh-TW" sz="2000" i="1" smtClean="0">
                <a:ea typeface="新細明體" charset="-120"/>
              </a:rPr>
              <a:t>P</a:t>
            </a:r>
            <a:r>
              <a:rPr lang="en-US" altLang="zh-TW" sz="2000" baseline="-25000" smtClean="0">
                <a:ea typeface="新細明體" charset="-120"/>
              </a:rPr>
              <a:t>2</a:t>
            </a:r>
            <a:r>
              <a:rPr lang="en-US" altLang="zh-TW" sz="2000" smtClean="0">
                <a:ea typeface="新細明體" charset="-120"/>
              </a:rPr>
              <a:t>, </a:t>
            </a:r>
            <a:r>
              <a:rPr lang="en-US" altLang="zh-TW" sz="2000" i="1" smtClean="0">
                <a:ea typeface="新細明體" charset="-120"/>
              </a:rPr>
              <a:t>P</a:t>
            </a:r>
            <a:r>
              <a:rPr lang="en-US" altLang="zh-TW" sz="2000" baseline="-25000" smtClean="0">
                <a:ea typeface="新細明體" charset="-120"/>
              </a:rPr>
              <a:t>3</a:t>
            </a:r>
            <a:r>
              <a:rPr lang="en-US" altLang="zh-TW" sz="2000" smtClean="0">
                <a:ea typeface="新細明體" charset="-120"/>
              </a:rPr>
              <a:t>, and </a:t>
            </a:r>
            <a:r>
              <a:rPr lang="en-US" altLang="zh-TW" sz="2000" i="1" smtClean="0">
                <a:ea typeface="新細明體" charset="-120"/>
              </a:rPr>
              <a:t>P</a:t>
            </a:r>
            <a:r>
              <a:rPr lang="en-US" altLang="zh-TW" sz="2000" baseline="-25000" smtClean="0">
                <a:ea typeface="新細明體" charset="-120"/>
              </a:rPr>
              <a:t>4</a:t>
            </a:r>
            <a:r>
              <a:rPr lang="en-US" altLang="zh-TW" sz="2000" smtClean="0">
                <a:ea typeface="新細明體" charset="-12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zh-TW" smtClean="0">
                <a:ea typeface="新細明體" charset="-120"/>
              </a:rPr>
              <a:t>Detection-Algorithm Usage</a:t>
            </a:r>
          </a:p>
        </p:txBody>
      </p:sp>
      <p:sp>
        <p:nvSpPr>
          <p:cNvPr id="39939" name="Rectangle 3"/>
          <p:cNvSpPr>
            <a:spLocks noGrp="1" noChangeArrowheads="1"/>
          </p:cNvSpPr>
          <p:nvPr>
            <p:ph type="body" idx="1"/>
          </p:nvPr>
        </p:nvSpPr>
        <p:spPr/>
        <p:txBody>
          <a:bodyPr/>
          <a:lstStyle/>
          <a:p>
            <a:r>
              <a:rPr lang="en-US" altLang="zh-TW" sz="2000" smtClean="0">
                <a:ea typeface="新細明體" charset="-120"/>
              </a:rPr>
              <a:t>When, and how often, to invoke depends on:</a:t>
            </a:r>
          </a:p>
          <a:p>
            <a:pPr lvl="1"/>
            <a:r>
              <a:rPr lang="en-US" altLang="zh-TW" sz="2000" smtClean="0">
                <a:ea typeface="新細明體" charset="-120"/>
              </a:rPr>
              <a:t>How often a deadlock is likely to occur?</a:t>
            </a:r>
          </a:p>
          <a:p>
            <a:pPr lvl="1"/>
            <a:r>
              <a:rPr lang="en-US" altLang="zh-TW" sz="2000" smtClean="0">
                <a:ea typeface="新細明體" charset="-120"/>
              </a:rPr>
              <a:t>How many processes will need to be rolled back?</a:t>
            </a:r>
          </a:p>
          <a:p>
            <a:pPr lvl="2"/>
            <a:r>
              <a:rPr lang="en-US" altLang="zh-TW" sz="2000" smtClean="0">
                <a:ea typeface="新細明體" charset="-120"/>
              </a:rPr>
              <a:t>one for each disjoint cycle</a:t>
            </a:r>
            <a:br>
              <a:rPr lang="en-US" altLang="zh-TW" sz="2000" smtClean="0">
                <a:ea typeface="新細明體" charset="-120"/>
              </a:rPr>
            </a:br>
            <a:endParaRPr lang="en-US" altLang="zh-TW" sz="2000" smtClean="0">
              <a:ea typeface="新細明體" charset="-120"/>
            </a:endParaRPr>
          </a:p>
          <a:p>
            <a:r>
              <a:rPr lang="en-US" altLang="zh-TW" sz="2000" smtClean="0">
                <a:ea typeface="新細明體" charset="-120"/>
              </a:rPr>
              <a:t>If detection algorithm is invoked arbitrarily, there may be many cycles in the resource graph and so we would not be able to tell which of the many deadlocked processes “caused” the deadlock.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04825" y="350838"/>
            <a:ext cx="8763000" cy="457200"/>
          </a:xfrm>
        </p:spPr>
        <p:txBody>
          <a:bodyPr/>
          <a:lstStyle/>
          <a:p>
            <a:r>
              <a:rPr lang="en-US" altLang="zh-TW" sz="2700" smtClean="0">
                <a:ea typeface="新細明體" charset="-120"/>
              </a:rPr>
              <a:t/>
            </a:r>
            <a:br>
              <a:rPr lang="en-US" altLang="zh-TW" sz="2700" smtClean="0">
                <a:ea typeface="新細明體" charset="-120"/>
              </a:rPr>
            </a:br>
            <a:r>
              <a:rPr lang="en-US" altLang="zh-TW" sz="2700" smtClean="0">
                <a:ea typeface="新細明體" charset="-120"/>
              </a:rPr>
              <a:t>Recovery from Deadlock:  Process Termination</a:t>
            </a:r>
          </a:p>
        </p:txBody>
      </p:sp>
      <p:sp>
        <p:nvSpPr>
          <p:cNvPr id="40963" name="Rectangle 3"/>
          <p:cNvSpPr>
            <a:spLocks noGrp="1" noChangeArrowheads="1"/>
          </p:cNvSpPr>
          <p:nvPr>
            <p:ph type="body" idx="1"/>
          </p:nvPr>
        </p:nvSpPr>
        <p:spPr/>
        <p:txBody>
          <a:bodyPr/>
          <a:lstStyle/>
          <a:p>
            <a:r>
              <a:rPr lang="en-US" altLang="zh-TW" smtClean="0">
                <a:ea typeface="新細明體" charset="-120"/>
              </a:rPr>
              <a:t>Abort all deadlocked processes.</a:t>
            </a:r>
            <a:br>
              <a:rPr lang="en-US" altLang="zh-TW" smtClean="0">
                <a:ea typeface="新細明體" charset="-120"/>
              </a:rPr>
            </a:br>
            <a:endParaRPr lang="en-US" altLang="zh-TW" smtClean="0">
              <a:ea typeface="新細明體" charset="-120"/>
            </a:endParaRPr>
          </a:p>
          <a:p>
            <a:r>
              <a:rPr lang="en-US" altLang="zh-TW" smtClean="0">
                <a:ea typeface="新細明體" charset="-120"/>
              </a:rPr>
              <a:t>Abort one process at a time until the deadlock cycle is eliminated.</a:t>
            </a:r>
            <a:br>
              <a:rPr lang="en-US" altLang="zh-TW" smtClean="0">
                <a:ea typeface="新細明體" charset="-120"/>
              </a:rPr>
            </a:br>
            <a:endParaRPr lang="en-US" altLang="zh-TW" smtClean="0">
              <a:ea typeface="新細明體" charset="-120"/>
            </a:endParaRPr>
          </a:p>
          <a:p>
            <a:r>
              <a:rPr lang="en-US" altLang="zh-TW" smtClean="0">
                <a:ea typeface="新細明體" charset="-120"/>
              </a:rPr>
              <a:t>In which order should we choose to abort?</a:t>
            </a:r>
          </a:p>
          <a:p>
            <a:pPr lvl="1"/>
            <a:r>
              <a:rPr lang="en-US" altLang="zh-TW" smtClean="0">
                <a:ea typeface="新細明體" charset="-120"/>
              </a:rPr>
              <a:t>Priority of the process.</a:t>
            </a:r>
          </a:p>
          <a:p>
            <a:pPr lvl="1"/>
            <a:r>
              <a:rPr lang="en-US" altLang="zh-TW" smtClean="0">
                <a:ea typeface="新細明體" charset="-120"/>
              </a:rPr>
              <a:t>How long process has computed, and how much longer to completion.</a:t>
            </a:r>
          </a:p>
          <a:p>
            <a:pPr lvl="1"/>
            <a:r>
              <a:rPr lang="en-US" altLang="zh-TW" smtClean="0">
                <a:ea typeface="新細明體" charset="-120"/>
              </a:rPr>
              <a:t>Resources the process has used.</a:t>
            </a:r>
          </a:p>
          <a:p>
            <a:pPr lvl="1"/>
            <a:r>
              <a:rPr lang="en-US" altLang="zh-TW" smtClean="0">
                <a:ea typeface="新細明體" charset="-120"/>
              </a:rPr>
              <a:t>Resources process needs to complete.</a:t>
            </a:r>
          </a:p>
          <a:p>
            <a:pPr lvl="1"/>
            <a:r>
              <a:rPr lang="en-US" altLang="zh-TW" smtClean="0">
                <a:ea typeface="新細明體" charset="-120"/>
              </a:rPr>
              <a:t>How many processes will need to be terminated. </a:t>
            </a:r>
          </a:p>
          <a:p>
            <a:pPr lvl="1"/>
            <a:r>
              <a:rPr lang="en-US" altLang="zh-TW" smtClean="0">
                <a:ea typeface="新細明體" charset="-120"/>
              </a:rPr>
              <a:t>Is process interactive or batch?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zh-TW" smtClean="0">
                <a:ea typeface="新細明體" charset="-120"/>
              </a:rPr>
              <a:t>Summary</a:t>
            </a:r>
          </a:p>
        </p:txBody>
      </p:sp>
      <p:sp>
        <p:nvSpPr>
          <p:cNvPr id="41987" name="Rectangle 3"/>
          <p:cNvSpPr>
            <a:spLocks noGrp="1" noChangeArrowheads="1"/>
          </p:cNvSpPr>
          <p:nvPr>
            <p:ph idx="1"/>
          </p:nvPr>
        </p:nvSpPr>
        <p:spPr/>
        <p:txBody>
          <a:bodyPr/>
          <a:lstStyle/>
          <a:p>
            <a:pPr>
              <a:lnSpc>
                <a:spcPct val="80000"/>
              </a:lnSpc>
            </a:pPr>
            <a:r>
              <a:rPr lang="en-US" altLang="zh-TW" smtClean="0">
                <a:ea typeface="新細明體" charset="-120"/>
              </a:rPr>
              <a:t>What is a deadlock?</a:t>
            </a:r>
          </a:p>
          <a:p>
            <a:pPr>
              <a:lnSpc>
                <a:spcPct val="80000"/>
              </a:lnSpc>
            </a:pPr>
            <a:r>
              <a:rPr lang="en-US" altLang="zh-TW" smtClean="0">
                <a:ea typeface="新細明體" charset="-120"/>
              </a:rPr>
              <a:t>How to deal with a deadlock?</a:t>
            </a:r>
          </a:p>
          <a:p>
            <a:pPr lvl="1">
              <a:lnSpc>
                <a:spcPct val="80000"/>
              </a:lnSpc>
            </a:pPr>
            <a:r>
              <a:rPr lang="en-US" altLang="zh-TW" sz="2000" smtClean="0">
                <a:ea typeface="新細明體" charset="-120"/>
              </a:rPr>
              <a:t>Deadlock detection</a:t>
            </a:r>
          </a:p>
          <a:p>
            <a:pPr lvl="1">
              <a:lnSpc>
                <a:spcPct val="80000"/>
              </a:lnSpc>
            </a:pPr>
            <a:r>
              <a:rPr lang="en-US" altLang="zh-TW" sz="2000" smtClean="0">
                <a:ea typeface="新細明體" charset="-120"/>
              </a:rPr>
              <a:t>Deadlock prevention</a:t>
            </a:r>
          </a:p>
          <a:p>
            <a:pPr>
              <a:lnSpc>
                <a:spcPct val="80000"/>
              </a:lnSpc>
            </a:pPr>
            <a:r>
              <a:rPr lang="en-US" altLang="zh-TW" smtClean="0">
                <a:ea typeface="新細明體" charset="-120"/>
              </a:rPr>
              <a:t>Single-instance: wait-for graph</a:t>
            </a:r>
          </a:p>
          <a:p>
            <a:pPr>
              <a:lnSpc>
                <a:spcPct val="80000"/>
              </a:lnSpc>
            </a:pPr>
            <a:r>
              <a:rPr lang="en-US" altLang="zh-TW" smtClean="0">
                <a:ea typeface="新細明體" charset="-120"/>
              </a:rPr>
              <a:t>Multi-instance: banker’s algorithm</a:t>
            </a:r>
          </a:p>
          <a:p>
            <a:pPr lvl="1">
              <a:lnSpc>
                <a:spcPct val="80000"/>
              </a:lnSpc>
            </a:pPr>
            <a:r>
              <a:rPr lang="en-US" altLang="zh-TW" sz="2000" smtClean="0">
                <a:ea typeface="新細明體" charset="-120"/>
              </a:rPr>
              <a:t>Safety algorithm</a:t>
            </a:r>
          </a:p>
          <a:p>
            <a:pPr lvl="1">
              <a:lnSpc>
                <a:spcPct val="80000"/>
              </a:lnSpc>
            </a:pPr>
            <a:r>
              <a:rPr lang="en-US" altLang="zh-TW" sz="2000" smtClean="0">
                <a:ea typeface="新細明體" charset="-120"/>
              </a:rPr>
              <a:t>Resource-allocation algorithm</a:t>
            </a:r>
          </a:p>
          <a:p>
            <a:pPr lvl="1">
              <a:lnSpc>
                <a:spcPct val="80000"/>
              </a:lnSpc>
            </a:pPr>
            <a:r>
              <a:rPr lang="en-US" altLang="zh-TW" sz="2000" smtClean="0">
                <a:ea typeface="新細明體" charset="-120"/>
              </a:rPr>
              <a:t>Detection algorithm</a:t>
            </a:r>
          </a:p>
          <a:p>
            <a:pPr>
              <a:lnSpc>
                <a:spcPct val="80000"/>
              </a:lnSpc>
            </a:pPr>
            <a:endParaRPr lang="en-US" altLang="zh-TW" smtClean="0">
              <a:ea typeface="新細明體" charset="-120"/>
            </a:endParaRPr>
          </a:p>
        </p:txBody>
      </p:sp>
      <p:sp>
        <p:nvSpPr>
          <p:cNvPr id="41988" name="Rectangle 5"/>
          <p:cNvSpPr>
            <a:spLocks noChangeArrowheads="1"/>
          </p:cNvSpPr>
          <p:nvPr/>
        </p:nvSpPr>
        <p:spPr bwMode="auto">
          <a:xfrm>
            <a:off x="2286000" y="5116513"/>
            <a:ext cx="4078288" cy="915987"/>
          </a:xfrm>
          <a:prstGeom prst="rect">
            <a:avLst/>
          </a:prstGeom>
          <a:noFill/>
          <a:ln w="9525">
            <a:noFill/>
            <a:miter lim="800000"/>
            <a:headEnd/>
            <a:tailEnd/>
          </a:ln>
        </p:spPr>
        <p:txBody>
          <a:bodyPr>
            <a:spAutoFit/>
          </a:bodyPr>
          <a:lstStyle/>
          <a:p>
            <a:endParaRPr kumimoji="1" lang="en-US" altLang="zh-TW">
              <a:ea typeface="新細明體" charset="-120"/>
            </a:endParaRPr>
          </a:p>
          <a:p>
            <a:endParaRPr kumimoji="1" lang="en-US" altLang="zh-TW">
              <a:ea typeface="新細明體" charset="-120"/>
            </a:endParaRPr>
          </a:p>
          <a:p>
            <a:endParaRPr kumimoji="1" lang="en-US" altLang="zh-TW">
              <a:ea typeface="新細明體" charset="-12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p:cNvSpPr>
            <a:spLocks noGrp="1" noChangeArrowheads="1"/>
          </p:cNvSpPr>
          <p:nvPr>
            <p:ph type="ctrTitle"/>
          </p:nvPr>
        </p:nvSpPr>
        <p:spPr/>
        <p:txBody>
          <a:bodyPr/>
          <a:lstStyle/>
          <a:p>
            <a:r>
              <a:rPr lang="en-US" altLang="zh-TW" smtClean="0">
                <a:ea typeface="新細明體" charset="-120"/>
              </a:rPr>
              <a:t>End of Chapter 7</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s-w-java">
  <a:themeElements>
    <a:clrScheme name="">
      <a:dk1>
        <a:srgbClr val="000000"/>
      </a:dk1>
      <a:lt1>
        <a:srgbClr val="FFFF99"/>
      </a:lt1>
      <a:dk2>
        <a:srgbClr val="CC3300"/>
      </a:dk2>
      <a:lt2>
        <a:srgbClr val="666699"/>
      </a:lt2>
      <a:accent1>
        <a:srgbClr val="FFCCCC"/>
      </a:accent1>
      <a:accent2>
        <a:srgbClr val="CCCC00"/>
      </a:accent2>
      <a:accent3>
        <a:srgbClr val="FFFFCA"/>
      </a:accent3>
      <a:accent4>
        <a:srgbClr val="000000"/>
      </a:accent4>
      <a:accent5>
        <a:srgbClr val="FFE2E2"/>
      </a:accent5>
      <a:accent6>
        <a:srgbClr val="B9B900"/>
      </a:accent6>
      <a:hlink>
        <a:srgbClr val="FF9900"/>
      </a:hlink>
      <a:folHlink>
        <a:srgbClr val="FF9933"/>
      </a:folHlink>
    </a:clrScheme>
    <a:fontScheme name="os-w-java">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os-w-java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os-w-java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os-w-java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Settings\mt\Application Data\Microsoft\Templates\os-w-java.pot</Template>
  <TotalTime>11020</TotalTime>
  <Words>1324</Words>
  <Application>Microsoft PowerPoint</Application>
  <PresentationFormat>On-screen Show (4:3)</PresentationFormat>
  <Paragraphs>280</Paragraphs>
  <Slides>26</Slides>
  <Notes>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Helvetica</vt:lpstr>
      <vt:lpstr>Arial</vt:lpstr>
      <vt:lpstr>Calibri</vt:lpstr>
      <vt:lpstr>Monotype Sorts</vt:lpstr>
      <vt:lpstr>Webdings</vt:lpstr>
      <vt:lpstr>Times New Roman</vt:lpstr>
      <vt:lpstr>新細明體</vt:lpstr>
      <vt:lpstr>Symbol</vt:lpstr>
      <vt:lpstr>os-w-java</vt:lpstr>
      <vt:lpstr>Microsoft Clip Gallery</vt:lpstr>
      <vt:lpstr>Chapter 7:  Deadlock</vt:lpstr>
      <vt:lpstr>Course Administration</vt:lpstr>
      <vt:lpstr>Outline</vt:lpstr>
      <vt:lpstr>Deadlocks</vt:lpstr>
      <vt:lpstr>Deadlock Characterization</vt:lpstr>
      <vt:lpstr>Single-instance Deadlock Detection</vt:lpstr>
      <vt:lpstr>Single-Instance Wait-For-Graph</vt:lpstr>
      <vt:lpstr>Single-instance Deadlock Prevention</vt:lpstr>
      <vt:lpstr>Single-instance Deadlock Prevention</vt:lpstr>
      <vt:lpstr>Wait-Die Policy</vt:lpstr>
      <vt:lpstr>Wound-Wait Policy</vt:lpstr>
      <vt:lpstr>Single-instance Deadlock Prevention (2)</vt:lpstr>
      <vt:lpstr>Multi-instance Deadlock</vt:lpstr>
      <vt:lpstr>Multi-instance example</vt:lpstr>
      <vt:lpstr>Common Data Structure</vt:lpstr>
      <vt:lpstr>Safety Algorithm</vt:lpstr>
      <vt:lpstr>Example of Safety Algorithm</vt:lpstr>
      <vt:lpstr>Resource-Request Algorithm for Process Pi</vt:lpstr>
      <vt:lpstr>Example of Resource-Request Algorithm</vt:lpstr>
      <vt:lpstr>Detection Algorithm</vt:lpstr>
      <vt:lpstr>Example of Detection Algorithm</vt:lpstr>
      <vt:lpstr>Example (Cont.)</vt:lpstr>
      <vt:lpstr>Detection-Algorithm Usage</vt:lpstr>
      <vt:lpstr> Recovery from Deadlock:  Process Termination</vt:lpstr>
      <vt:lpstr>Summary</vt:lpstr>
      <vt:lpstr>End of Chapter 7</vt:lpstr>
    </vt:vector>
  </TitlesOfParts>
  <Company>Lucent Technologies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Process Synchronization</dc:title>
  <dc:creator>Marilyn Turnamian</dc:creator>
  <cp:lastModifiedBy>user</cp:lastModifiedBy>
  <cp:revision>533</cp:revision>
  <cp:lastPrinted>1999-08-27T16:17:10Z</cp:lastPrinted>
  <dcterms:created xsi:type="dcterms:W3CDTF">1999-07-23T13:31:00Z</dcterms:created>
  <dcterms:modified xsi:type="dcterms:W3CDTF">2014-03-18T04:53:32Z</dcterms:modified>
</cp:coreProperties>
</file>