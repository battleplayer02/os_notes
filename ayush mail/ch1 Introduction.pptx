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9"/>
  </p:notesMasterIdLst>
  <p:sldIdLst>
    <p:sldId id="285" r:id="rId2"/>
    <p:sldId id="258" r:id="rId3"/>
    <p:sldId id="287" r:id="rId4"/>
    <p:sldId id="291" r:id="rId5"/>
    <p:sldId id="288" r:id="rId6"/>
    <p:sldId id="289" r:id="rId7"/>
    <p:sldId id="259" r:id="rId8"/>
    <p:sldId id="256" r:id="rId9"/>
    <p:sldId id="260" r:id="rId10"/>
    <p:sldId id="286" r:id="rId11"/>
    <p:sldId id="262" r:id="rId12"/>
    <p:sldId id="278" r:id="rId13"/>
    <p:sldId id="263" r:id="rId14"/>
    <p:sldId id="264" r:id="rId15"/>
    <p:sldId id="265" r:id="rId16"/>
    <p:sldId id="268" r:id="rId17"/>
    <p:sldId id="269" r:id="rId18"/>
    <p:sldId id="270" r:id="rId19"/>
    <p:sldId id="271" r:id="rId20"/>
    <p:sldId id="272" r:id="rId21"/>
    <p:sldId id="282" r:id="rId22"/>
    <p:sldId id="273" r:id="rId23"/>
    <p:sldId id="274" r:id="rId24"/>
    <p:sldId id="280" r:id="rId25"/>
    <p:sldId id="276" r:id="rId26"/>
    <p:sldId id="275" r:id="rId27"/>
    <p:sldId id="283" r:id="rId28"/>
  </p:sldIdLst>
  <p:sldSz cx="9144000" cy="6858000" type="screen4x3"/>
  <p:notesSz cx="6858000" cy="9144000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pitchFamily="34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pitchFamily="34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pitchFamily="34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pitchFamily="34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Helvetic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Helvetic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Helvetic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Helvetica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-426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-1068" y="-78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6147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6148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6149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6150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6151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fld id="{27FFCA20-6CB3-4D11-8CE9-E049DA3E361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02544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FFCA20-6CB3-4D11-8CE9-E049DA3E361F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053D7DA-16A0-4F09-8241-3441B8F5272F}" type="slidenum">
              <a:rPr lang="en-US"/>
              <a:pPr/>
              <a:t>7</a:t>
            </a:fld>
            <a:endParaRPr lang="en-US"/>
          </a:p>
        </p:txBody>
      </p:sp>
      <p:sp>
        <p:nvSpPr>
          <p:cNvPr id="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Operating System Concepts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Operating System Concepts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Operating System Concepts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47750" y="1724025"/>
            <a:ext cx="3438525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8675" y="1724025"/>
            <a:ext cx="3438525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Operating System Concepts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Operating System Concepts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Operating System Concepts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Operating System Concepts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Operating System Concepts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Operating System Concepts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Operating System Concepts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19838" y="495300"/>
            <a:ext cx="1757362" cy="5343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47750" y="495300"/>
            <a:ext cx="5119688" cy="5343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Operating System Concepts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684213" y="342900"/>
            <a:ext cx="7831137" cy="685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tx1"/>
            </a:outerShdw>
          </a:effectLst>
        </p:spPr>
        <p:txBody>
          <a:bodyPr wrap="none" anchor="ctr"/>
          <a:lstStyle/>
          <a:p>
            <a:endParaRPr lang="en-I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162050" y="495300"/>
            <a:ext cx="68865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47750" y="1724025"/>
            <a:ext cx="702945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537325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/>
            </a:lvl1pPr>
          </a:lstStyle>
          <a:p>
            <a:r>
              <a:rPr lang="en-US"/>
              <a:t>Operating System Concepts</a:t>
            </a: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6248400" y="6537325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r>
              <a:rPr lang="en-US" sz="1000"/>
              <a:t>Silberschatz and Galvin </a:t>
            </a:r>
            <a:r>
              <a:rPr lang="en-US" sz="1000">
                <a:sym typeface="Symbol" pitchFamily="18" charset="2"/>
              </a:rPr>
              <a:t>1999</a:t>
            </a:r>
            <a:r>
              <a:rPr lang="en-US" sz="1400">
                <a:latin typeface="Times New Roman" pitchFamily="18" charset="0"/>
              </a:rPr>
              <a:t> </a:t>
            </a:r>
          </a:p>
        </p:txBody>
      </p:sp>
      <p:sp>
        <p:nvSpPr>
          <p:cNvPr id="1033" name="AutoShape 9"/>
          <p:cNvSpPr>
            <a:spLocks noChangeArrowheads="1"/>
          </p:cNvSpPr>
          <p:nvPr/>
        </p:nvSpPr>
        <p:spPr bwMode="auto">
          <a:xfrm>
            <a:off x="120650" y="95250"/>
            <a:ext cx="8909050" cy="6448425"/>
          </a:xfrm>
          <a:prstGeom prst="roundRect">
            <a:avLst>
              <a:gd name="adj" fmla="val 17278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4216400" y="6546850"/>
            <a:ext cx="4445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000"/>
              <a:t>1.</a:t>
            </a:r>
            <a:fld id="{D9C77673-46A2-49E6-897F-4DA3B56506C6}" type="slidenum">
              <a:rPr lang="en-US" sz="1000"/>
              <a:pPr>
                <a:spcBef>
                  <a:spcPct val="50000"/>
                </a:spcBef>
              </a:pPr>
              <a:t>‹#›</a:t>
            </a:fld>
            <a:endParaRPr lang="en-US" sz="1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Helvetic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Helvetic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Helvetic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Helvetica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Helvetica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Helvetica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Helvetica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Helvetica" pitchFamily="34" charset="0"/>
        </a:defRPr>
      </a:lvl9pPr>
    </p:titleStyle>
    <p:bodyStyle>
      <a:lvl1pPr marL="228600" indent="-228600" algn="l" rtl="0" eaLnBrk="0" fontAlgn="base" hangingPunct="0">
        <a:spcBef>
          <a:spcPct val="50000"/>
        </a:spcBef>
        <a:spcAft>
          <a:spcPct val="0"/>
        </a:spcAft>
        <a:buSzPct val="140000"/>
        <a:buChar char="•"/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85000"/>
        <a:buFont typeface="Monotype Sorts" pitchFamily="2" charset="2"/>
        <a:buChar char="T"/>
        <a:defRPr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Module 1:   Introduction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What is an operating system?</a:t>
            </a:r>
          </a:p>
          <a:p>
            <a:r>
              <a:rPr lang="en-US"/>
              <a:t>Simple Batch Systems</a:t>
            </a:r>
          </a:p>
          <a:p>
            <a:r>
              <a:rPr lang="en-US"/>
              <a:t>Multiprogramming Batched Systems</a:t>
            </a:r>
          </a:p>
          <a:p>
            <a:r>
              <a:rPr lang="en-US"/>
              <a:t>Time-Sharing Systems</a:t>
            </a:r>
          </a:p>
          <a:p>
            <a:r>
              <a:rPr lang="en-US"/>
              <a:t>Personal-Computer Systems </a:t>
            </a:r>
          </a:p>
          <a:p>
            <a:r>
              <a:rPr lang="en-US"/>
              <a:t>Parallel Systems</a:t>
            </a:r>
          </a:p>
          <a:p>
            <a:r>
              <a:rPr lang="en-US"/>
              <a:t>Distributed Systems</a:t>
            </a:r>
          </a:p>
          <a:p>
            <a:r>
              <a:rPr lang="en-US"/>
              <a:t>Real -Time Systems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an Operating System?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62025" y="1695450"/>
            <a:ext cx="7029450" cy="4114800"/>
          </a:xfrm>
        </p:spPr>
        <p:txBody>
          <a:bodyPr/>
          <a:lstStyle/>
          <a:p>
            <a:r>
              <a:rPr lang="en-US"/>
              <a:t>A program that acts as an intermediary between a user of a computer and the computer hardware.</a:t>
            </a:r>
          </a:p>
          <a:p>
            <a:r>
              <a:rPr lang="en-US"/>
              <a:t>Operating system goals:</a:t>
            </a:r>
          </a:p>
          <a:p>
            <a:pPr lvl="1"/>
            <a:r>
              <a:rPr lang="en-US"/>
              <a:t>Execute user programs and make solving user problems easier.</a:t>
            </a:r>
          </a:p>
          <a:p>
            <a:pPr lvl="1"/>
            <a:r>
              <a:rPr lang="en-US"/>
              <a:t>Make the computer system convenient to use.</a:t>
            </a:r>
          </a:p>
          <a:p>
            <a:r>
              <a:rPr lang="en-US"/>
              <a:t>Use the computer hardware in an efficient manner.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Operating System Concepts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 History of Windows</a:t>
            </a:r>
            <a:br>
              <a:rPr lang="en-IN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Operating System Concepts</a:t>
            </a:r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1886" y="914400"/>
            <a:ext cx="8229600" cy="53748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Operating System Concepts</a:t>
            </a:r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84217" y="1781175"/>
            <a:ext cx="7027817" cy="42146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itle 1"/>
          <p:cNvSpPr txBox="1">
            <a:spLocks/>
          </p:cNvSpPr>
          <p:nvPr/>
        </p:nvSpPr>
        <p:spPr bwMode="auto">
          <a:xfrm>
            <a:off x="1314450" y="524328"/>
            <a:ext cx="68865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 history of Windows</a:t>
            </a:r>
            <a:br>
              <a:rPr kumimoji="0" lang="en-I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endParaRPr kumimoji="0" lang="en-IN" sz="2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 history of Windows</a:t>
            </a:r>
            <a:br>
              <a:rPr lang="en-IN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Operating System Concepts</a:t>
            </a:r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1256" y="1071839"/>
            <a:ext cx="8425543" cy="541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 history of Windows</a:t>
            </a:r>
            <a:br>
              <a:rPr lang="en-IN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Operating System Concepts</a:t>
            </a:r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1258" y="1039179"/>
            <a:ext cx="8268788" cy="5439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Computer System Components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/>
              <a:t>1.	Hardware – provides basic computing resources (CPU, memory, I/O devices).</a:t>
            </a:r>
          </a:p>
          <a:p>
            <a:pPr>
              <a:buFontTx/>
              <a:buNone/>
            </a:pPr>
            <a:r>
              <a:rPr lang="en-US"/>
              <a:t>2.	Operating system – controls and coordinates the use of the hardware among the various application programs for the various users.</a:t>
            </a:r>
          </a:p>
          <a:p>
            <a:pPr>
              <a:buFontTx/>
              <a:buNone/>
            </a:pPr>
            <a:r>
              <a:rPr lang="en-US"/>
              <a:t>3.	Applications programs – define the ways in which the system resources are used to solve the computing problems of the users (compilers, database systems, video games, business programs).</a:t>
            </a:r>
          </a:p>
          <a:p>
            <a:pPr>
              <a:buFontTx/>
              <a:buNone/>
            </a:pPr>
            <a:r>
              <a:rPr lang="en-US"/>
              <a:t>4.	Users (people, machines, other computers).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Abstract View of System Components</a:t>
            </a:r>
            <a:endParaRPr lang="en-US"/>
          </a:p>
        </p:txBody>
      </p:sp>
      <p:pic>
        <p:nvPicPr>
          <p:cNvPr id="2068" name="Picture 20"/>
          <p:cNvPicPr>
            <a:picLocks noChangeAspect="1" noChangeArrowheads="1"/>
          </p:cNvPicPr>
          <p:nvPr/>
        </p:nvPicPr>
        <p:blipFill>
          <a:blip r:embed="rId2"/>
          <a:srcRect l="6995" t="7478" r="7574" b="5096"/>
          <a:stretch>
            <a:fillRect/>
          </a:stretch>
        </p:blipFill>
        <p:spPr bwMode="auto">
          <a:xfrm>
            <a:off x="1593850" y="1244600"/>
            <a:ext cx="6076950" cy="4975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Operating System Definitions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85850" y="2124075"/>
            <a:ext cx="7029450" cy="4114800"/>
          </a:xfrm>
        </p:spPr>
        <p:txBody>
          <a:bodyPr/>
          <a:lstStyle/>
          <a:p>
            <a:r>
              <a:rPr lang="en-US"/>
              <a:t>Resource allocator – manages and allocates resources.</a:t>
            </a:r>
          </a:p>
          <a:p>
            <a:r>
              <a:rPr lang="en-US"/>
              <a:t>Control program – controls the execution of user programs and operations of I/O devices .</a:t>
            </a:r>
          </a:p>
          <a:p>
            <a:r>
              <a:rPr lang="en-US"/>
              <a:t>Kernel – the one program running at all times (all else being application programs).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 of Operating Systems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Batch OS</a:t>
            </a:r>
          </a:p>
          <a:p>
            <a:r>
              <a:rPr lang="en-US" dirty="0" err="1" smtClean="0"/>
              <a:t>Multiprorgammed</a:t>
            </a:r>
            <a:r>
              <a:rPr lang="en-US" dirty="0" smtClean="0"/>
              <a:t> System </a:t>
            </a:r>
          </a:p>
          <a:p>
            <a:r>
              <a:rPr lang="en-US" dirty="0" smtClean="0"/>
              <a:t>Time Sharing System</a:t>
            </a:r>
          </a:p>
          <a:p>
            <a:r>
              <a:rPr lang="en-US" dirty="0" smtClean="0"/>
              <a:t>Personal OS</a:t>
            </a:r>
          </a:p>
          <a:p>
            <a:r>
              <a:rPr lang="en-US" dirty="0" smtClean="0"/>
              <a:t>Multiprocessor OS</a:t>
            </a:r>
          </a:p>
          <a:p>
            <a:r>
              <a:rPr lang="en-US" dirty="0" smtClean="0"/>
              <a:t>Distributed OS</a:t>
            </a:r>
          </a:p>
          <a:p>
            <a:r>
              <a:rPr lang="en-US" dirty="0" smtClean="0"/>
              <a:t>Client –Server OS</a:t>
            </a:r>
          </a:p>
          <a:p>
            <a:endParaRPr lang="en-US" dirty="0" smtClean="0"/>
          </a:p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Operating System Concepts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Simple Batch Systems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Hire an operator</a:t>
            </a:r>
          </a:p>
          <a:p>
            <a:r>
              <a:rPr lang="en-US"/>
              <a:t>User </a:t>
            </a:r>
            <a:r>
              <a:rPr lang="en-US">
                <a:sym typeface="Symbol" pitchFamily="18" charset="2"/>
              </a:rPr>
              <a:t> operator</a:t>
            </a:r>
          </a:p>
          <a:p>
            <a:r>
              <a:rPr lang="en-US">
                <a:sym typeface="Symbol" pitchFamily="18" charset="2"/>
              </a:rPr>
              <a:t>Add a card reader</a:t>
            </a:r>
          </a:p>
          <a:p>
            <a:r>
              <a:rPr lang="en-US">
                <a:sym typeface="Symbol" pitchFamily="18" charset="2"/>
              </a:rPr>
              <a:t>Reduce setup time by batching similar jobs</a:t>
            </a:r>
          </a:p>
          <a:p>
            <a:r>
              <a:rPr lang="en-US">
                <a:sym typeface="Symbol" pitchFamily="18" charset="2"/>
              </a:rPr>
              <a:t>Automatic job sequencing – automatically transfers control from one job to another.  First rudimentary operating system.</a:t>
            </a:r>
          </a:p>
          <a:p>
            <a:r>
              <a:rPr lang="en-US">
                <a:sym typeface="Symbol" pitchFamily="18" charset="2"/>
              </a:rPr>
              <a:t>Resident monitor</a:t>
            </a:r>
          </a:p>
          <a:p>
            <a:pPr lvl="1"/>
            <a:r>
              <a:rPr lang="en-US"/>
              <a:t>initial control in monitor </a:t>
            </a:r>
          </a:p>
          <a:p>
            <a:pPr lvl="1"/>
            <a:r>
              <a:rPr lang="en-US"/>
              <a:t>control transfers to job </a:t>
            </a:r>
          </a:p>
          <a:p>
            <a:pPr lvl="1"/>
            <a:r>
              <a:rPr lang="en-US"/>
              <a:t>when job completes control transfers back to monitor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809625" y="495300"/>
            <a:ext cx="7648575" cy="457200"/>
          </a:xfrm>
        </p:spPr>
        <p:txBody>
          <a:bodyPr/>
          <a:lstStyle/>
          <a:p>
            <a:r>
              <a:rPr lang="en-US"/>
              <a:t>Memory Layout for a Simple Batch System</a:t>
            </a:r>
          </a:p>
        </p:txBody>
      </p:sp>
      <p:pic>
        <p:nvPicPr>
          <p:cNvPr id="26631" name="Picture 7"/>
          <p:cNvPicPr>
            <a:picLocks noChangeAspect="1" noChangeArrowheads="1"/>
          </p:cNvPicPr>
          <p:nvPr/>
        </p:nvPicPr>
        <p:blipFill>
          <a:blip r:embed="rId2"/>
          <a:srcRect l="28365" t="1007" r="28203" b="806"/>
          <a:stretch>
            <a:fillRect/>
          </a:stretch>
        </p:blipFill>
        <p:spPr bwMode="auto">
          <a:xfrm>
            <a:off x="3157538" y="1349375"/>
            <a:ext cx="2566987" cy="464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Control Cards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Problems</a:t>
            </a:r>
          </a:p>
          <a:p>
            <a:pPr marL="800100" lvl="1">
              <a:buFontTx/>
              <a:buNone/>
            </a:pPr>
            <a:r>
              <a:rPr lang="en-US"/>
              <a:t>1.	How does the monitor know about the nature of the job (e.g., Fortran versus Assembly) or which program to execute?</a:t>
            </a:r>
          </a:p>
          <a:p>
            <a:pPr marL="800100" lvl="1">
              <a:buFontTx/>
              <a:buNone/>
            </a:pPr>
            <a:r>
              <a:rPr lang="en-US"/>
              <a:t>2.	How does the monitor distinguish </a:t>
            </a:r>
            <a:br>
              <a:rPr lang="en-US"/>
            </a:br>
            <a:r>
              <a:rPr lang="en-US"/>
              <a:t>(a) job from job?</a:t>
            </a:r>
            <a:br>
              <a:rPr lang="en-US"/>
            </a:br>
            <a:r>
              <a:rPr lang="en-US"/>
              <a:t>(b) data from program?</a:t>
            </a:r>
          </a:p>
          <a:p>
            <a:r>
              <a:rPr lang="en-US"/>
              <a:t>Solution</a:t>
            </a:r>
          </a:p>
          <a:p>
            <a:pPr marL="800100" lvl="1"/>
            <a:r>
              <a:rPr lang="en-US"/>
              <a:t>Introduce control cards</a:t>
            </a:r>
          </a:p>
          <a:p>
            <a:pPr marL="800100" lvl="1">
              <a:buFontTx/>
              <a:buChar char=" "/>
            </a:pP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Control Cards (Cont.)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Special cards that tell the resident monitor which programs to run</a:t>
            </a:r>
            <a:br>
              <a:rPr lang="en-US"/>
            </a:br>
            <a:r>
              <a:rPr lang="en-US"/>
              <a:t>$JOB</a:t>
            </a:r>
            <a:br>
              <a:rPr lang="en-US"/>
            </a:br>
            <a:r>
              <a:rPr lang="en-US"/>
              <a:t>$FTN</a:t>
            </a:r>
            <a:br>
              <a:rPr lang="en-US"/>
            </a:br>
            <a:r>
              <a:rPr lang="en-US"/>
              <a:t>$RUN</a:t>
            </a:r>
            <a:br>
              <a:rPr lang="en-US"/>
            </a:br>
            <a:r>
              <a:rPr lang="en-US"/>
              <a:t>$DATA</a:t>
            </a:r>
            <a:br>
              <a:rPr lang="en-US"/>
            </a:br>
            <a:r>
              <a:rPr lang="en-US"/>
              <a:t>$END</a:t>
            </a:r>
          </a:p>
          <a:p>
            <a:r>
              <a:rPr lang="en-US"/>
              <a:t>Special characters distinguish control cards from data or program cards:</a:t>
            </a:r>
            <a:br>
              <a:rPr lang="en-US"/>
            </a:br>
            <a:r>
              <a:rPr lang="en-US"/>
              <a:t>$ in column 1</a:t>
            </a:r>
            <a:br>
              <a:rPr lang="en-US"/>
            </a:br>
            <a:r>
              <a:rPr lang="en-US"/>
              <a:t>// in column 1 and 2</a:t>
            </a:r>
            <a:br>
              <a:rPr lang="en-US"/>
            </a:br>
            <a:r>
              <a:rPr lang="en-US"/>
              <a:t>709 in column1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Control Cards (Cont.)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Parts of resident monitor</a:t>
            </a:r>
          </a:p>
          <a:p>
            <a:pPr lvl="1"/>
            <a:r>
              <a:rPr lang="en-US"/>
              <a:t>Control card interpreter – responsible for reading and carrying out instructions on the cards.</a:t>
            </a:r>
          </a:p>
          <a:p>
            <a:pPr lvl="1"/>
            <a:r>
              <a:rPr lang="en-US"/>
              <a:t>Loader – loads systems programs and applications programs into memory.</a:t>
            </a:r>
          </a:p>
          <a:p>
            <a:pPr lvl="1"/>
            <a:r>
              <a:rPr lang="en-US"/>
              <a:t>Device drivers – know special characteristics and properties for each of the system’s I/O devices.</a:t>
            </a:r>
          </a:p>
          <a:p>
            <a:r>
              <a:rPr lang="en-US"/>
              <a:t>Problem:  Slow Performance – I/O and CPU could not overlap ; card reader very slow.</a:t>
            </a:r>
          </a:p>
          <a:p>
            <a:r>
              <a:rPr lang="en-US"/>
              <a:t>Solution:  Off-line operation – speed up computation by loading jobs into memory from tapes and card reading and line printing done off-line.</a:t>
            </a: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Spooling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9013" y="1703388"/>
            <a:ext cx="7029450" cy="4114800"/>
          </a:xfrm>
        </p:spPr>
        <p:txBody>
          <a:bodyPr/>
          <a:lstStyle/>
          <a:p>
            <a:r>
              <a:rPr lang="en-US"/>
              <a:t>Overlap I/O of one job with computation of another job.  While executing one job, the OS.</a:t>
            </a:r>
            <a:br>
              <a:rPr lang="en-US"/>
            </a:br>
            <a:endParaRPr lang="en-US"/>
          </a:p>
          <a:p>
            <a:pPr lvl="1"/>
            <a:r>
              <a:rPr lang="en-US"/>
              <a:t>Reads next job from card reader into a storage area on the disk (job queue).</a:t>
            </a:r>
          </a:p>
          <a:p>
            <a:pPr lvl="1"/>
            <a:r>
              <a:rPr lang="en-US"/>
              <a:t>Outputs printout of previous job from disk to printer.</a:t>
            </a:r>
          </a:p>
          <a:p>
            <a:r>
              <a:rPr lang="en-US" i="1"/>
              <a:t>Job pool</a:t>
            </a:r>
            <a:r>
              <a:rPr lang="en-US"/>
              <a:t> – data structure that allows the OS to select which job to run next in order to increase CPU utilization.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Multiprogrammed Batch Systems</a:t>
            </a:r>
          </a:p>
        </p:txBody>
      </p:sp>
      <p:sp>
        <p:nvSpPr>
          <p:cNvPr id="17413" name="Text Box 5"/>
          <p:cNvSpPr txBox="1">
            <a:spLocks noChangeArrowheads="1"/>
          </p:cNvSpPr>
          <p:nvPr/>
        </p:nvSpPr>
        <p:spPr bwMode="auto">
          <a:xfrm>
            <a:off x="898525" y="1393825"/>
            <a:ext cx="74549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l"/>
            <a:r>
              <a:rPr lang="en-US"/>
              <a:t>Several jobs are kept in main memory at the same time, and the </a:t>
            </a:r>
          </a:p>
          <a:p>
            <a:pPr algn="l"/>
            <a:r>
              <a:rPr lang="en-US"/>
              <a:t>CPU is multiplexed among them. </a:t>
            </a:r>
          </a:p>
        </p:txBody>
      </p:sp>
      <p:pic>
        <p:nvPicPr>
          <p:cNvPr id="17418" name="Picture 10"/>
          <p:cNvPicPr>
            <a:picLocks noChangeAspect="1" noChangeArrowheads="1"/>
          </p:cNvPicPr>
          <p:nvPr/>
        </p:nvPicPr>
        <p:blipFill>
          <a:blip r:embed="rId2"/>
          <a:srcRect l="25421" t="934" r="25233" b="934"/>
          <a:stretch>
            <a:fillRect/>
          </a:stretch>
        </p:blipFill>
        <p:spPr bwMode="auto">
          <a:xfrm>
            <a:off x="3198813" y="2257425"/>
            <a:ext cx="2514600" cy="400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742950" y="495300"/>
            <a:ext cx="7820025" cy="457200"/>
          </a:xfrm>
        </p:spPr>
        <p:txBody>
          <a:bodyPr/>
          <a:lstStyle/>
          <a:p>
            <a:r>
              <a:rPr lang="en-US"/>
              <a:t>OS Features Needed for Multiprogramming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I/O routine supplied by the system.</a:t>
            </a:r>
          </a:p>
          <a:p>
            <a:r>
              <a:rPr lang="en-US"/>
              <a:t>Memory management – the system must allocate the memory to several jobs.</a:t>
            </a:r>
          </a:p>
          <a:p>
            <a:r>
              <a:rPr lang="en-US"/>
              <a:t>CPU scheduling – the system must choose among several jobs ready to run.</a:t>
            </a:r>
          </a:p>
          <a:p>
            <a:r>
              <a:rPr lang="en-US"/>
              <a:t>Allocation of devices.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552450" y="495300"/>
            <a:ext cx="8096250" cy="457200"/>
          </a:xfrm>
        </p:spPr>
        <p:txBody>
          <a:bodyPr/>
          <a:lstStyle/>
          <a:p>
            <a:r>
              <a:rPr lang="en-US"/>
              <a:t>Time-Sharing Systems–Interactive Computing 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dirty="0"/>
              <a:t>The CPU is multiplexed among several jobs that are kept in memory and on disk (the CPU is allocated to a job only if the job is in memory).</a:t>
            </a:r>
          </a:p>
          <a:p>
            <a:pPr algn="just"/>
            <a:r>
              <a:rPr lang="en-US" dirty="0"/>
              <a:t>A job is swapped in and out of memory to the disk.</a:t>
            </a:r>
          </a:p>
          <a:p>
            <a:pPr algn="just"/>
            <a:r>
              <a:rPr lang="en-US" dirty="0"/>
              <a:t>On-line communication between the user and the system is provided; when the operating system finishes the execution of one command, it seeks the next “control statement” not from a card reader, but rather from the user’s keyboard.</a:t>
            </a:r>
          </a:p>
          <a:p>
            <a:pPr algn="just"/>
            <a:r>
              <a:rPr lang="en-US" dirty="0"/>
              <a:t>On-line system must be available for users to access data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Personal-Computer Systems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tabLst>
                <a:tab pos="6000750" algn="l"/>
              </a:tabLst>
            </a:pPr>
            <a:r>
              <a:rPr lang="en-US" i="1"/>
              <a:t>Personal computers</a:t>
            </a:r>
            <a:r>
              <a:rPr lang="en-US"/>
              <a:t> – computer system dedicated to a single user.</a:t>
            </a:r>
          </a:p>
          <a:p>
            <a:pPr>
              <a:tabLst>
                <a:tab pos="6000750" algn="l"/>
              </a:tabLst>
            </a:pPr>
            <a:r>
              <a:rPr lang="en-US"/>
              <a:t>I/O devices – keyboards, mice, display screens, small printers.</a:t>
            </a:r>
          </a:p>
          <a:p>
            <a:pPr>
              <a:tabLst>
                <a:tab pos="6000750" algn="l"/>
              </a:tabLst>
            </a:pPr>
            <a:r>
              <a:rPr lang="en-US"/>
              <a:t>User convenience and responsiveness.</a:t>
            </a:r>
          </a:p>
          <a:p>
            <a:pPr>
              <a:tabLst>
                <a:tab pos="6000750" algn="l"/>
              </a:tabLst>
            </a:pPr>
            <a:r>
              <a:rPr lang="en-US"/>
              <a:t>Can adopt technology developed for larger operating system’ often individuals have sole use of computer and do not need advanced CPU utilization of protection features.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571500" y="495300"/>
            <a:ext cx="8229600" cy="457200"/>
          </a:xfrm>
        </p:spPr>
        <p:txBody>
          <a:bodyPr/>
          <a:lstStyle/>
          <a:p>
            <a:r>
              <a:rPr lang="en-US" sz="2300"/>
              <a:t>Migration of Operating-System Concepts and Features</a:t>
            </a:r>
          </a:p>
        </p:txBody>
      </p:sp>
      <p:pic>
        <p:nvPicPr>
          <p:cNvPr id="30726" name="Picture 6"/>
          <p:cNvPicPr>
            <a:picLocks noChangeAspect="1" noChangeArrowheads="1"/>
          </p:cNvPicPr>
          <p:nvPr/>
        </p:nvPicPr>
        <p:blipFill>
          <a:blip r:embed="rId2"/>
          <a:srcRect l="580" t="3622" r="435" b="3624"/>
          <a:stretch>
            <a:fillRect/>
          </a:stretch>
        </p:blipFill>
        <p:spPr bwMode="auto">
          <a:xfrm>
            <a:off x="1447800" y="1438275"/>
            <a:ext cx="6505575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Parallel Systems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Multiprocessor systems with more than one CPU in close communication.</a:t>
            </a:r>
          </a:p>
          <a:p>
            <a:r>
              <a:rPr lang="en-US" i="1"/>
              <a:t>Tightly coupled system</a:t>
            </a:r>
            <a:r>
              <a:rPr lang="en-US"/>
              <a:t> – processors share memory and a clock; communication usually takes place through the shared memory.</a:t>
            </a:r>
          </a:p>
          <a:p>
            <a:r>
              <a:rPr lang="en-US"/>
              <a:t>Advantages of parallel system: </a:t>
            </a:r>
          </a:p>
          <a:p>
            <a:pPr lvl="1"/>
            <a:r>
              <a:rPr lang="en-US"/>
              <a:t>Increased </a:t>
            </a:r>
            <a:r>
              <a:rPr lang="en-US" i="1"/>
              <a:t>throughput</a:t>
            </a:r>
          </a:p>
          <a:p>
            <a:pPr lvl="1"/>
            <a:r>
              <a:rPr lang="en-US"/>
              <a:t>Economical</a:t>
            </a:r>
            <a:r>
              <a:rPr lang="en-US" i="1"/>
              <a:t> </a:t>
            </a:r>
          </a:p>
          <a:p>
            <a:pPr lvl="1"/>
            <a:r>
              <a:rPr lang="en-US"/>
              <a:t>Increased reliability</a:t>
            </a:r>
          </a:p>
          <a:p>
            <a:pPr lvl="2"/>
            <a:r>
              <a:rPr lang="en-US"/>
              <a:t>graceful degradation</a:t>
            </a:r>
          </a:p>
          <a:p>
            <a:pPr lvl="2"/>
            <a:r>
              <a:rPr lang="en-US"/>
              <a:t>fail-soft systems</a:t>
            </a:r>
            <a:endParaRPr lang="en-US" i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Parallel Systems (Cont.)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3954" y="1724025"/>
            <a:ext cx="7463246" cy="4114800"/>
          </a:xfrm>
        </p:spPr>
        <p:txBody>
          <a:bodyPr/>
          <a:lstStyle/>
          <a:p>
            <a:pPr algn="just"/>
            <a:r>
              <a:rPr lang="en-US" i="1" dirty="0"/>
              <a:t>Symmetric multiprocessing (SMP)</a:t>
            </a:r>
            <a:endParaRPr lang="en-US" dirty="0"/>
          </a:p>
          <a:p>
            <a:pPr marL="688975" lvl="1" indent="-234950" algn="just"/>
            <a:r>
              <a:rPr lang="en-US" dirty="0"/>
              <a:t>Each processor runs an identical copy of the operating system.</a:t>
            </a:r>
          </a:p>
          <a:p>
            <a:pPr marL="688975" lvl="1" indent="-234950" algn="just"/>
            <a:r>
              <a:rPr lang="en-US" dirty="0"/>
              <a:t>Many processes can run at once without performance </a:t>
            </a:r>
            <a:r>
              <a:rPr lang="en-US" dirty="0" smtClean="0"/>
              <a:t>drop.</a:t>
            </a:r>
            <a:endParaRPr lang="en-US" dirty="0"/>
          </a:p>
          <a:p>
            <a:pPr marL="688975" lvl="1" indent="-234950" algn="just"/>
            <a:r>
              <a:rPr lang="en-US" dirty="0"/>
              <a:t>Most modern operating systems support SMP</a:t>
            </a:r>
          </a:p>
          <a:p>
            <a:pPr algn="just"/>
            <a:r>
              <a:rPr lang="en-US" i="1" dirty="0"/>
              <a:t>Asymmetric multiprocessing</a:t>
            </a:r>
            <a:endParaRPr lang="en-US" dirty="0"/>
          </a:p>
          <a:p>
            <a:pPr marL="688975" lvl="1" indent="-234950" algn="just"/>
            <a:r>
              <a:rPr lang="en-US" dirty="0"/>
              <a:t>Each processor is assigned a specific task; master processor schedules and allocates work to slave processors.</a:t>
            </a:r>
          </a:p>
          <a:p>
            <a:pPr marL="688975" lvl="1" indent="-234950" algn="just"/>
            <a:r>
              <a:rPr lang="en-US" dirty="0"/>
              <a:t>More common in extremely large systems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962025" y="495300"/>
            <a:ext cx="7534275" cy="457200"/>
          </a:xfrm>
        </p:spPr>
        <p:txBody>
          <a:bodyPr/>
          <a:lstStyle/>
          <a:p>
            <a:r>
              <a:rPr lang="en-US"/>
              <a:t>Symmetric Multiprocessing Architecture</a:t>
            </a:r>
          </a:p>
        </p:txBody>
      </p:sp>
      <p:pic>
        <p:nvPicPr>
          <p:cNvPr id="28678" name="Picture 6"/>
          <p:cNvPicPr>
            <a:picLocks noChangeAspect="1" noChangeArrowheads="1"/>
          </p:cNvPicPr>
          <p:nvPr/>
        </p:nvPicPr>
        <p:blipFill>
          <a:blip r:embed="rId2"/>
          <a:srcRect l="659" t="34227" r="494" b="34227"/>
          <a:stretch>
            <a:fillRect/>
          </a:stretch>
        </p:blipFill>
        <p:spPr bwMode="auto">
          <a:xfrm>
            <a:off x="781050" y="2200275"/>
            <a:ext cx="7462838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2457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Real-Time Systems</a:t>
            </a:r>
          </a:p>
        </p:txBody>
      </p:sp>
      <p:sp>
        <p:nvSpPr>
          <p:cNvPr id="24579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021625" y="1201511"/>
            <a:ext cx="7029450" cy="5186226"/>
          </a:xfrm>
        </p:spPr>
        <p:txBody>
          <a:bodyPr/>
          <a:lstStyle/>
          <a:p>
            <a:pPr algn="just"/>
            <a:r>
              <a:rPr lang="en-US" dirty="0"/>
              <a:t>Often used as a control device in a dedicated application such as controlling scientific experiments, medical imaging systems, industrial control systems, and some display systems.</a:t>
            </a:r>
          </a:p>
          <a:p>
            <a:pPr algn="just"/>
            <a:r>
              <a:rPr lang="en-US" dirty="0"/>
              <a:t>Well-defined fixed-time constraints.</a:t>
            </a:r>
          </a:p>
          <a:p>
            <a:pPr algn="just"/>
            <a:r>
              <a:rPr lang="en-US" i="1" dirty="0"/>
              <a:t>Hard real-time system</a:t>
            </a:r>
            <a:r>
              <a:rPr lang="en-US" dirty="0"/>
              <a:t>.</a:t>
            </a:r>
          </a:p>
          <a:p>
            <a:pPr lvl="1" algn="just"/>
            <a:r>
              <a:rPr lang="en-US" dirty="0"/>
              <a:t>Secondary storage limited or absent, data stored in short-term memory, or read-only memory (ROM)</a:t>
            </a:r>
          </a:p>
          <a:p>
            <a:pPr lvl="1" algn="just"/>
            <a:r>
              <a:rPr lang="en-US" dirty="0"/>
              <a:t>Conflicts with time-sharing systems, not supported by general-purpose operating systems.</a:t>
            </a:r>
          </a:p>
          <a:p>
            <a:pPr algn="just"/>
            <a:r>
              <a:rPr lang="en-US" i="1" dirty="0"/>
              <a:t>Soft real-time system</a:t>
            </a:r>
          </a:p>
          <a:p>
            <a:pPr lvl="1" algn="just"/>
            <a:r>
              <a:rPr lang="en-US" dirty="0"/>
              <a:t>Limited utility in industrial control or robotics</a:t>
            </a:r>
          </a:p>
          <a:p>
            <a:pPr lvl="1" algn="just"/>
            <a:r>
              <a:rPr lang="en-US" dirty="0"/>
              <a:t>Useful in applications (multimedia, virtual reality) requiring advanced operating-system features</a:t>
            </a:r>
            <a:r>
              <a:rPr lang="en-US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Distributed Systems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dirty="0"/>
              <a:t>Distribute the computation among several </a:t>
            </a:r>
            <a:r>
              <a:rPr lang="en-US" b="1" dirty="0">
                <a:solidFill>
                  <a:srgbClr val="C00000"/>
                </a:solidFill>
              </a:rPr>
              <a:t>physical processors</a:t>
            </a:r>
            <a:r>
              <a:rPr lang="en-US" dirty="0"/>
              <a:t>.</a:t>
            </a:r>
          </a:p>
          <a:p>
            <a:pPr algn="just"/>
            <a:r>
              <a:rPr lang="en-US" i="1" dirty="0"/>
              <a:t>Loosely coupled system</a:t>
            </a:r>
            <a:r>
              <a:rPr lang="en-US" dirty="0"/>
              <a:t> – each processor has its own local memory; processors communicate with one another through various communications lines, such as high-speed buses or telephone lines.</a:t>
            </a:r>
          </a:p>
          <a:p>
            <a:pPr algn="just"/>
            <a:r>
              <a:rPr lang="en-US" dirty="0"/>
              <a:t>Advantages of distributed systems.</a:t>
            </a:r>
          </a:p>
          <a:p>
            <a:pPr lvl="1" algn="just"/>
            <a:r>
              <a:rPr lang="en-US" dirty="0"/>
              <a:t>Resources Sharing </a:t>
            </a:r>
          </a:p>
          <a:p>
            <a:pPr lvl="1" algn="just"/>
            <a:r>
              <a:rPr lang="en-US" dirty="0"/>
              <a:t>Computation speed up – load sharing </a:t>
            </a:r>
          </a:p>
          <a:p>
            <a:pPr lvl="1" algn="just"/>
            <a:r>
              <a:rPr lang="en-US" dirty="0"/>
              <a:t>Reliability</a:t>
            </a:r>
          </a:p>
          <a:p>
            <a:pPr lvl="1" algn="just"/>
            <a:r>
              <a:rPr lang="en-US" dirty="0"/>
              <a:t>Communications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Operating System Concepts</a:t>
            </a:r>
          </a:p>
        </p:txBody>
      </p:sp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Distributed Systems (Cont.)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Network Operating System</a:t>
            </a:r>
          </a:p>
          <a:p>
            <a:pPr lvl="1"/>
            <a:r>
              <a:rPr lang="en-US"/>
              <a:t>provides file sharing </a:t>
            </a:r>
          </a:p>
          <a:p>
            <a:pPr lvl="1"/>
            <a:r>
              <a:rPr lang="en-US"/>
              <a:t>provides communication scheme</a:t>
            </a:r>
          </a:p>
          <a:p>
            <a:pPr lvl="1"/>
            <a:r>
              <a:rPr lang="en-US"/>
              <a:t>runs independently from other computers on the network</a:t>
            </a:r>
          </a:p>
          <a:p>
            <a:r>
              <a:rPr lang="en-US"/>
              <a:t>Distributed Operating System</a:t>
            </a:r>
          </a:p>
          <a:p>
            <a:pPr lvl="1"/>
            <a:r>
              <a:rPr lang="en-US"/>
              <a:t>less autonomy between computers</a:t>
            </a:r>
          </a:p>
          <a:p>
            <a:pPr lvl="1"/>
            <a:r>
              <a:rPr lang="en-US"/>
              <a:t>gives the impression there is a single operating system controlling the network.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ank Presentation.pot">
  <a:themeElements>
    <a:clrScheme name="Blank Presentation.po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.pot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lnDef>
  </a:objectDefaults>
  <a:extraClrSchemeLst>
    <a:extraClrScheme>
      <a:clrScheme name="Blank Presentation.po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.po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.po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.po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.po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.po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.po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C:\Apps\Microsoft Office\Templates\Blank Presentation.pot</Template>
  <TotalTime>34474</TotalTime>
  <Words>984</Words>
  <Application>Microsoft Office PowerPoint</Application>
  <PresentationFormat>On-screen Show (4:3)</PresentationFormat>
  <Paragraphs>160</Paragraphs>
  <Slides>27</Slides>
  <Notes>2</Notes>
  <HiddenSlides>4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Blank Presentation.pot</vt:lpstr>
      <vt:lpstr>Module 1:   Introduction</vt:lpstr>
      <vt:lpstr>What is an Operating System?</vt:lpstr>
      <vt:lpstr>A History of Windows </vt:lpstr>
      <vt:lpstr>Slide 4</vt:lpstr>
      <vt:lpstr>A history of Windows </vt:lpstr>
      <vt:lpstr>A history of Windows </vt:lpstr>
      <vt:lpstr>Computer System Components</vt:lpstr>
      <vt:lpstr>Abstract View of System Components</vt:lpstr>
      <vt:lpstr>Operating System Definitions</vt:lpstr>
      <vt:lpstr>Type of Operating Systems</vt:lpstr>
      <vt:lpstr>Simple Batch Systems</vt:lpstr>
      <vt:lpstr>Memory Layout for a Simple Batch System</vt:lpstr>
      <vt:lpstr>Control Cards</vt:lpstr>
      <vt:lpstr>Control Cards (Cont.)</vt:lpstr>
      <vt:lpstr>Control Cards (Cont.)</vt:lpstr>
      <vt:lpstr>Spooling</vt:lpstr>
      <vt:lpstr>Multiprogrammed Batch Systems</vt:lpstr>
      <vt:lpstr>OS Features Needed for Multiprogramming</vt:lpstr>
      <vt:lpstr>Time-Sharing Systems–Interactive Computing </vt:lpstr>
      <vt:lpstr>Personal-Computer Systems</vt:lpstr>
      <vt:lpstr>Migration of Operating-System Concepts and Features</vt:lpstr>
      <vt:lpstr>Parallel Systems</vt:lpstr>
      <vt:lpstr>Parallel Systems (Cont.)</vt:lpstr>
      <vt:lpstr>Symmetric Multiprocessing Architecture</vt:lpstr>
      <vt:lpstr>Real-Time Systems</vt:lpstr>
      <vt:lpstr>Distributed Systems</vt:lpstr>
      <vt:lpstr>Distributed Systems (Cont.)</vt:lpstr>
    </vt:vector>
  </TitlesOfParts>
  <Company>Lucent Technologies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Abstract View of System Components</dc:title>
  <dc:creator>Marilyn Turnamian</dc:creator>
  <cp:lastModifiedBy>Administrator</cp:lastModifiedBy>
  <cp:revision>72</cp:revision>
  <cp:lastPrinted>1999-08-26T15:07:06Z</cp:lastPrinted>
  <dcterms:created xsi:type="dcterms:W3CDTF">1999-06-25T18:38:26Z</dcterms:created>
  <dcterms:modified xsi:type="dcterms:W3CDTF">2019-08-01T05:07:41Z</dcterms:modified>
</cp:coreProperties>
</file>