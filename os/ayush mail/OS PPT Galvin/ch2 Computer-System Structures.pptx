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3"/>
  </p:notesMasterIdLst>
  <p:sldIdLst>
    <p:sldId id="256" r:id="rId2"/>
    <p:sldId id="257" r:id="rId3"/>
    <p:sldId id="258" r:id="rId4"/>
    <p:sldId id="259" r:id="rId5"/>
    <p:sldId id="260" r:id="rId6"/>
    <p:sldId id="276" r:id="rId7"/>
    <p:sldId id="261" r:id="rId8"/>
    <p:sldId id="275" r:id="rId9"/>
    <p:sldId id="277" r:id="rId10"/>
    <p:sldId id="283" r:id="rId11"/>
    <p:sldId id="285" r:id="rId12"/>
    <p:sldId id="286" r:id="rId13"/>
    <p:sldId id="287" r:id="rId14"/>
    <p:sldId id="289" r:id="rId15"/>
    <p:sldId id="290" r:id="rId16"/>
    <p:sldId id="291" r:id="rId17"/>
    <p:sldId id="263" r:id="rId18"/>
    <p:sldId id="278" r:id="rId19"/>
    <p:sldId id="292" r:id="rId20"/>
    <p:sldId id="264" r:id="rId21"/>
    <p:sldId id="265" r:id="rId22"/>
    <p:sldId id="266" r:id="rId23"/>
    <p:sldId id="267" r:id="rId24"/>
    <p:sldId id="268" r:id="rId25"/>
    <p:sldId id="269" r:id="rId26"/>
    <p:sldId id="270" r:id="rId27"/>
    <p:sldId id="271" r:id="rId28"/>
    <p:sldId id="272" r:id="rId29"/>
    <p:sldId id="273" r:id="rId30"/>
    <p:sldId id="274" r:id="rId31"/>
    <p:sldId id="282" r:id="rId32"/>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Helvetica" pitchFamily="34" charset="0"/>
        <a:ea typeface="+mn-ea"/>
        <a:cs typeface="+mn-cs"/>
      </a:defRPr>
    </a:lvl1pPr>
    <a:lvl2pPr marL="457200" algn="ctr" rtl="0" eaLnBrk="0" fontAlgn="base" hangingPunct="0">
      <a:spcBef>
        <a:spcPct val="0"/>
      </a:spcBef>
      <a:spcAft>
        <a:spcPct val="0"/>
      </a:spcAft>
      <a:defRPr kern="1200">
        <a:solidFill>
          <a:schemeClr val="tx1"/>
        </a:solidFill>
        <a:latin typeface="Helvetica" pitchFamily="34" charset="0"/>
        <a:ea typeface="+mn-ea"/>
        <a:cs typeface="+mn-cs"/>
      </a:defRPr>
    </a:lvl2pPr>
    <a:lvl3pPr marL="914400" algn="ctr" rtl="0" eaLnBrk="0" fontAlgn="base" hangingPunct="0">
      <a:spcBef>
        <a:spcPct val="0"/>
      </a:spcBef>
      <a:spcAft>
        <a:spcPct val="0"/>
      </a:spcAft>
      <a:defRPr kern="1200">
        <a:solidFill>
          <a:schemeClr val="tx1"/>
        </a:solidFill>
        <a:latin typeface="Helvetica" pitchFamily="34" charset="0"/>
        <a:ea typeface="+mn-ea"/>
        <a:cs typeface="+mn-cs"/>
      </a:defRPr>
    </a:lvl3pPr>
    <a:lvl4pPr marL="1371600" algn="ctr" rtl="0" eaLnBrk="0" fontAlgn="base" hangingPunct="0">
      <a:spcBef>
        <a:spcPct val="0"/>
      </a:spcBef>
      <a:spcAft>
        <a:spcPct val="0"/>
      </a:spcAft>
      <a:defRPr kern="1200">
        <a:solidFill>
          <a:schemeClr val="tx1"/>
        </a:solidFill>
        <a:latin typeface="Helvetica" pitchFamily="34" charset="0"/>
        <a:ea typeface="+mn-ea"/>
        <a:cs typeface="+mn-cs"/>
      </a:defRPr>
    </a:lvl4pPr>
    <a:lvl5pPr marL="1828800" algn="ctr" rtl="0" eaLnBrk="0" fontAlgn="base" hangingPunct="0">
      <a:spcBef>
        <a:spcPct val="0"/>
      </a:spcBef>
      <a:spcAft>
        <a:spcPct val="0"/>
      </a:spcAft>
      <a:defRPr kern="1200">
        <a:solidFill>
          <a:schemeClr val="tx1"/>
        </a:solidFill>
        <a:latin typeface="Helvetica" pitchFamily="34" charset="0"/>
        <a:ea typeface="+mn-ea"/>
        <a:cs typeface="+mn-cs"/>
      </a:defRPr>
    </a:lvl5pPr>
    <a:lvl6pPr marL="2286000" algn="l" defTabSz="914400" rtl="0" eaLnBrk="1" latinLnBrk="0" hangingPunct="1">
      <a:defRPr kern="1200">
        <a:solidFill>
          <a:schemeClr val="tx1"/>
        </a:solidFill>
        <a:latin typeface="Helvetica" pitchFamily="34" charset="0"/>
        <a:ea typeface="+mn-ea"/>
        <a:cs typeface="+mn-cs"/>
      </a:defRPr>
    </a:lvl6pPr>
    <a:lvl7pPr marL="2743200" algn="l" defTabSz="914400" rtl="0" eaLnBrk="1" latinLnBrk="0" hangingPunct="1">
      <a:defRPr kern="1200">
        <a:solidFill>
          <a:schemeClr val="tx1"/>
        </a:solidFill>
        <a:latin typeface="Helvetica" pitchFamily="34" charset="0"/>
        <a:ea typeface="+mn-ea"/>
        <a:cs typeface="+mn-cs"/>
      </a:defRPr>
    </a:lvl7pPr>
    <a:lvl8pPr marL="3200400" algn="l" defTabSz="914400" rtl="0" eaLnBrk="1" latinLnBrk="0" hangingPunct="1">
      <a:defRPr kern="1200">
        <a:solidFill>
          <a:schemeClr val="tx1"/>
        </a:solidFill>
        <a:latin typeface="Helvetica" pitchFamily="34" charset="0"/>
        <a:ea typeface="+mn-ea"/>
        <a:cs typeface="+mn-cs"/>
      </a:defRPr>
    </a:lvl8pPr>
    <a:lvl9pPr marL="3657600" algn="l" defTabSz="914400" rtl="0" eaLnBrk="1" latinLnBrk="0" hangingPunct="1">
      <a:defRPr kern="1200">
        <a:solidFill>
          <a:schemeClr val="tx1"/>
        </a:solidFill>
        <a:latin typeface="Helvetic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l">
              <a:defRPr sz="1200">
                <a:latin typeface="Times New Roman" pitchFamily="18" charset="0"/>
              </a:defRPr>
            </a:lvl1pPr>
          </a:lstStyle>
          <a:p>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1200">
                <a:latin typeface="Times New Roman" pitchFamily="18" charset="0"/>
              </a:defRPr>
            </a:lvl1pPr>
          </a:lstStyle>
          <a:p>
            <a:endParaRPr lang="en-US"/>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a:latin typeface="Times New Roman" pitchFamily="18" charset="0"/>
              </a:defRPr>
            </a:lvl1pPr>
          </a:lstStyle>
          <a:p>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latin typeface="Times New Roman" pitchFamily="18" charset="0"/>
              </a:defRPr>
            </a:lvl1pPr>
          </a:lstStyle>
          <a:p>
            <a:fld id="{7EACD500-2E87-472E-88E1-905DA930EF0A}" type="slidenum">
              <a:rPr lang="en-US"/>
              <a:pPr/>
              <a:t>‹#›</a:t>
            </a:fld>
            <a:endParaRPr lang="en-US"/>
          </a:p>
        </p:txBody>
      </p:sp>
    </p:spTree>
    <p:extLst>
      <p:ext uri="{BB962C8B-B14F-4D97-AF65-F5344CB8AC3E}">
        <p14:creationId xmlns:p14="http://schemas.microsoft.com/office/powerpoint/2010/main" val="34489463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953EBB-EAD6-4ED1-8739-A6A00478EFC1}" type="slidenum">
              <a:rPr lang="en-US"/>
              <a:pPr/>
              <a:t>11</a:t>
            </a:fld>
            <a:endParaRPr 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r>
              <a:rPr lang="en-US"/>
              <a:t>The early model of a computer has the CPU in control of the bus. Thus if the I/O device wants to write or read from memory then it has to go through the CPU.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IN"/>
          </a:p>
        </p:txBody>
      </p:sp>
      <p:sp>
        <p:nvSpPr>
          <p:cNvPr id="31747"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31748"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31749" name="Rectangle 5"/>
          <p:cNvSpPr>
            <a:spLocks noGrp="1" noChangeArrowheads="1"/>
          </p:cNvSpPr>
          <p:nvPr>
            <p:ph type="ftr" sz="quarter" idx="3"/>
          </p:nvPr>
        </p:nvSpPr>
        <p:spPr>
          <a:xfrm>
            <a:off x="3124200" y="6248400"/>
            <a:ext cx="2895600" cy="457200"/>
          </a:xfrm>
        </p:spPr>
        <p:txBody>
          <a:bodyPr/>
          <a:lstStyle>
            <a:lvl1pPr>
              <a:defRPr/>
            </a:lvl1pPr>
          </a:lstStyle>
          <a:p>
            <a:r>
              <a:rPr lang="en-US"/>
              <a:t>Applied Operating System Concepts</a:t>
            </a:r>
          </a:p>
        </p:txBody>
      </p:sp>
      <p:sp>
        <p:nvSpPr>
          <p:cNvPr id="31750" name="Rectangle 6"/>
          <p:cNvSpPr>
            <a:spLocks noGrp="1" noChangeArrowheads="1"/>
          </p:cNvSpPr>
          <p:nvPr>
            <p:ph type="sldNum" sz="quarter" idx="4"/>
          </p:nvPr>
        </p:nvSpPr>
        <p:spPr bwMode="auto">
          <a:xfrm>
            <a:off x="6553200" y="6248400"/>
            <a:ext cx="1905000" cy="4572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r>
              <a:rPr lang="en-US"/>
              <a:t>1.</a:t>
            </a:r>
            <a:fld id="{758AF49E-8259-4E0F-9A32-E642B06CF007}" type="slidenum">
              <a:rPr lang="en-US"/>
              <a:pPr/>
              <a:t>‹#›</a:t>
            </a:fld>
            <a:endParaRPr lang="en-US"/>
          </a:p>
        </p:txBody>
      </p:sp>
      <p:sp>
        <p:nvSpPr>
          <p:cNvPr id="31751" name="Rectangle 7"/>
          <p:cNvSpPr>
            <a:spLocks noChangeArrowheads="1"/>
          </p:cNvSpPr>
          <p:nvPr/>
        </p:nvSpPr>
        <p:spPr bwMode="auto">
          <a:xfrm>
            <a:off x="6248400" y="6537325"/>
            <a:ext cx="2895600" cy="320675"/>
          </a:xfrm>
          <a:prstGeom prst="rect">
            <a:avLst/>
          </a:prstGeom>
          <a:noFill/>
          <a:ln w="9525">
            <a:noFill/>
            <a:miter lim="800000"/>
            <a:headEnd/>
            <a:tailEnd/>
          </a:ln>
          <a:effectLst/>
        </p:spPr>
        <p:txBody>
          <a:bodyPr/>
          <a:lstStyle/>
          <a:p>
            <a:r>
              <a:rPr lang="en-US" sz="1000"/>
              <a:t>Silberschatz, Galvin, and Gagne </a:t>
            </a:r>
            <a:r>
              <a:rPr lang="en-US" sz="1000">
                <a:sym typeface="Symbol" pitchFamily="18" charset="2"/>
              </a:rPr>
              <a:t>1999</a:t>
            </a:r>
            <a:r>
              <a:rPr lang="en-US" sz="1400">
                <a:latin typeface="Times New Roman" pitchFamily="18" charset="0"/>
              </a:rPr>
              <a:t> </a:t>
            </a:r>
          </a:p>
        </p:txBody>
      </p:sp>
      <p:sp>
        <p:nvSpPr>
          <p:cNvPr id="31752" name="AutoShape 8"/>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a:effectLst/>
        </p:spPr>
        <p:txBody>
          <a:bodyPr wrap="none" anchor="ct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Footer Placeholder 3"/>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Footer Placeholder 6"/>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Footer Placeholder 2"/>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Footer Placeholder 3"/>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Footer Placeholder 3"/>
          <p:cNvSpPr>
            <a:spLocks noGrp="1"/>
          </p:cNvSpPr>
          <p:nvPr>
            <p:ph type="ftr" sz="quarter" idx="10"/>
          </p:nvPr>
        </p:nvSpPr>
        <p:spPr/>
        <p:txBody>
          <a:bodyPr/>
          <a:lstStyle>
            <a:lvl1pPr>
              <a:defRPr/>
            </a:lvl1pPr>
          </a:lstStyle>
          <a:p>
            <a:r>
              <a:rPr lang="en-US"/>
              <a:t>Operating System Concepts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IN"/>
          </a:p>
        </p:txBody>
      </p:sp>
      <p:sp>
        <p:nvSpPr>
          <p:cNvPr id="1026" name="Rectangle 2"/>
          <p:cNvSpPr>
            <a:spLocks noGrp="1" noChangeArrowheads="1"/>
          </p:cNvSpPr>
          <p:nvPr>
            <p:ph type="title"/>
          </p:nvPr>
        </p:nvSpPr>
        <p:spPr bwMode="auto">
          <a:xfrm>
            <a:off x="1162050" y="495300"/>
            <a:ext cx="6886575"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047750" y="1724025"/>
            <a:ext cx="702945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Rectangle 5"/>
          <p:cNvSpPr>
            <a:spLocks noGrp="1" noChangeArrowheads="1"/>
          </p:cNvSpPr>
          <p:nvPr>
            <p:ph type="ftr" sz="quarter" idx="3"/>
          </p:nvPr>
        </p:nvSpPr>
        <p:spPr bwMode="auto">
          <a:xfrm>
            <a:off x="0" y="6537325"/>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r>
              <a:rPr lang="en-US"/>
              <a:t>Operating System Concepts</a:t>
            </a:r>
          </a:p>
        </p:txBody>
      </p:sp>
      <p:sp>
        <p:nvSpPr>
          <p:cNvPr id="1032" name="Rectangle 8"/>
          <p:cNvSpPr>
            <a:spLocks noChangeArrowheads="1"/>
          </p:cNvSpPr>
          <p:nvPr/>
        </p:nvSpPr>
        <p:spPr bwMode="auto">
          <a:xfrm>
            <a:off x="6248400" y="6537325"/>
            <a:ext cx="2895600" cy="320675"/>
          </a:xfrm>
          <a:prstGeom prst="rect">
            <a:avLst/>
          </a:prstGeom>
          <a:noFill/>
          <a:ln w="9525">
            <a:noFill/>
            <a:miter lim="800000"/>
            <a:headEnd/>
            <a:tailEnd/>
          </a:ln>
          <a:effectLst/>
        </p:spPr>
        <p:txBody>
          <a:bodyPr/>
          <a:lstStyle/>
          <a:p>
            <a:r>
              <a:rPr lang="en-US" sz="1000"/>
              <a:t>Silberschatz and  Galvin</a:t>
            </a:r>
            <a:r>
              <a:rPr lang="en-US" sz="1000">
                <a:sym typeface="Symbol" pitchFamily="18" charset="2"/>
              </a:rPr>
              <a:t>1999</a:t>
            </a:r>
            <a:r>
              <a:rPr lang="en-US" sz="1400">
                <a:latin typeface="Times New Roman" pitchFamily="18" charset="0"/>
              </a:rPr>
              <a:t> </a:t>
            </a:r>
          </a:p>
        </p:txBody>
      </p:sp>
      <p:sp>
        <p:nvSpPr>
          <p:cNvPr id="1033" name="AutoShape 9"/>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a:effectLst/>
        </p:spPr>
        <p:txBody>
          <a:bodyPr wrap="none" anchor="ctr"/>
          <a:lstStyle/>
          <a:p>
            <a:endParaRPr lang="en-IN"/>
          </a:p>
        </p:txBody>
      </p:sp>
      <p:sp>
        <p:nvSpPr>
          <p:cNvPr id="1034" name="Text Box 10"/>
          <p:cNvSpPr txBox="1">
            <a:spLocks noChangeArrowheads="1"/>
          </p:cNvSpPr>
          <p:nvPr/>
        </p:nvSpPr>
        <p:spPr bwMode="auto">
          <a:xfrm>
            <a:off x="4159250" y="6553200"/>
            <a:ext cx="444500" cy="244475"/>
          </a:xfrm>
          <a:prstGeom prst="rect">
            <a:avLst/>
          </a:prstGeom>
          <a:noFill/>
          <a:ln w="9525">
            <a:noFill/>
            <a:miter lim="800000"/>
            <a:headEnd/>
            <a:tailEnd/>
          </a:ln>
          <a:effectLst/>
        </p:spPr>
        <p:txBody>
          <a:bodyPr wrap="none" anchor="ctr">
            <a:spAutoFit/>
          </a:bodyPr>
          <a:lstStyle/>
          <a:p>
            <a:pPr>
              <a:spcBef>
                <a:spcPct val="50000"/>
              </a:spcBef>
            </a:pPr>
            <a:r>
              <a:rPr lang="en-US" sz="1000"/>
              <a:t>2.</a:t>
            </a:r>
            <a:fld id="{D59F8C68-1ED1-4A91-8F45-ED176AE2D5BF}" type="slidenum">
              <a:rPr lang="en-US" sz="1000"/>
              <a:pPr>
                <a:spcBef>
                  <a:spcPct val="50000"/>
                </a:spcBef>
              </a:pPr>
              <a:t>‹#›</a:t>
            </a:fld>
            <a:endParaRPr lang="en-US" sz="10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30722" name="Rectangle 2"/>
          <p:cNvSpPr>
            <a:spLocks noGrp="1" noChangeArrowheads="1"/>
          </p:cNvSpPr>
          <p:nvPr>
            <p:ph type="title"/>
          </p:nvPr>
        </p:nvSpPr>
        <p:spPr>
          <a:xfrm>
            <a:off x="942975" y="495300"/>
            <a:ext cx="7439025" cy="457200"/>
          </a:xfrm>
        </p:spPr>
        <p:txBody>
          <a:bodyPr/>
          <a:lstStyle/>
          <a:p>
            <a:r>
              <a:rPr lang="en-US"/>
              <a:t>Module 2:  Computer-System Structures</a:t>
            </a:r>
          </a:p>
        </p:txBody>
      </p:sp>
      <p:sp>
        <p:nvSpPr>
          <p:cNvPr id="30723" name="Rectangle 3"/>
          <p:cNvSpPr>
            <a:spLocks noGrp="1" noChangeArrowheads="1"/>
          </p:cNvSpPr>
          <p:nvPr>
            <p:ph type="body" idx="1"/>
          </p:nvPr>
        </p:nvSpPr>
        <p:spPr/>
        <p:txBody>
          <a:bodyPr/>
          <a:lstStyle/>
          <a:p>
            <a:r>
              <a:rPr lang="en-US"/>
              <a:t>Computer System Operation</a:t>
            </a:r>
          </a:p>
          <a:p>
            <a:r>
              <a:rPr lang="en-US"/>
              <a:t>I/O Structure </a:t>
            </a:r>
          </a:p>
          <a:p>
            <a:r>
              <a:rPr lang="en-US"/>
              <a:t>Storage Structure</a:t>
            </a:r>
          </a:p>
          <a:p>
            <a:r>
              <a:rPr lang="en-US"/>
              <a:t>Storage Hierarchy</a:t>
            </a:r>
          </a:p>
          <a:p>
            <a:r>
              <a:rPr lang="en-US"/>
              <a:t>Hardware Protection</a:t>
            </a:r>
          </a:p>
          <a:p>
            <a:r>
              <a:rPr lang="en-US"/>
              <a:t>General System Architecture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32770" name="Rectangle 2"/>
          <p:cNvSpPr>
            <a:spLocks noGrp="1" noChangeArrowheads="1"/>
          </p:cNvSpPr>
          <p:nvPr>
            <p:ph type="title"/>
          </p:nvPr>
        </p:nvSpPr>
        <p:spPr/>
        <p:txBody>
          <a:bodyPr/>
          <a:lstStyle/>
          <a:p>
            <a:r>
              <a:rPr lang="en-US"/>
              <a:t>Computer-System Architecture</a:t>
            </a:r>
          </a:p>
        </p:txBody>
      </p:sp>
      <p:pic>
        <p:nvPicPr>
          <p:cNvPr id="32777" name="Picture 9"/>
          <p:cNvPicPr>
            <a:picLocks noChangeAspect="1" noChangeArrowheads="1"/>
          </p:cNvPicPr>
          <p:nvPr/>
        </p:nvPicPr>
        <p:blipFill>
          <a:blip r:embed="rId2"/>
          <a:srcRect l="909" t="10483" r="1875" b="8113"/>
          <a:stretch>
            <a:fillRect/>
          </a:stretch>
        </p:blipFill>
        <p:spPr bwMode="auto">
          <a:xfrm>
            <a:off x="944563" y="1323975"/>
            <a:ext cx="7077075" cy="4740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33794" name="Rectangle 2"/>
          <p:cNvSpPr>
            <a:spLocks noGrp="1" noChangeArrowheads="1"/>
          </p:cNvSpPr>
          <p:nvPr>
            <p:ph type="title"/>
          </p:nvPr>
        </p:nvSpPr>
        <p:spPr/>
        <p:txBody>
          <a:bodyPr/>
          <a:lstStyle/>
          <a:p>
            <a:r>
              <a:rPr lang="en-US"/>
              <a:t>Computer-System Operation</a:t>
            </a:r>
          </a:p>
        </p:txBody>
      </p:sp>
      <p:sp>
        <p:nvSpPr>
          <p:cNvPr id="33795" name="Rectangle 3"/>
          <p:cNvSpPr>
            <a:spLocks noGrp="1" noChangeArrowheads="1"/>
          </p:cNvSpPr>
          <p:nvPr>
            <p:ph type="body" idx="1"/>
          </p:nvPr>
        </p:nvSpPr>
        <p:spPr/>
        <p:txBody>
          <a:bodyPr/>
          <a:lstStyle/>
          <a:p>
            <a:r>
              <a:rPr lang="en-US" dirty="0"/>
              <a:t>I/O devices and the CPU can execute concurrently.</a:t>
            </a:r>
          </a:p>
          <a:p>
            <a:r>
              <a:rPr lang="en-US" dirty="0" smtClean="0"/>
              <a:t>Each </a:t>
            </a:r>
            <a:r>
              <a:rPr lang="en-US" dirty="0"/>
              <a:t>device controller has a local buffer.</a:t>
            </a:r>
          </a:p>
          <a:p>
            <a:r>
              <a:rPr lang="en-US" dirty="0"/>
              <a:t>CPU moves data from/to main memory to/from local buffers</a:t>
            </a:r>
          </a:p>
          <a:p>
            <a:r>
              <a:rPr lang="en-US" dirty="0"/>
              <a:t>I/O is from the device to local buffer of controller.</a:t>
            </a:r>
          </a:p>
          <a:p>
            <a:r>
              <a:rPr lang="en-US" dirty="0"/>
              <a:t>Device controller informs CPU that it has finished its operation by causing an </a:t>
            </a:r>
            <a:r>
              <a:rPr lang="en-US" i="1" dirty="0"/>
              <a:t>interrupt</a:t>
            </a:r>
            <a:r>
              <a:rPr lang="en-US" dirty="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34818" name="Rectangle 2"/>
          <p:cNvSpPr>
            <a:spLocks noGrp="1" noChangeArrowheads="1"/>
          </p:cNvSpPr>
          <p:nvPr>
            <p:ph type="title"/>
          </p:nvPr>
        </p:nvSpPr>
        <p:spPr/>
        <p:txBody>
          <a:bodyPr/>
          <a:lstStyle/>
          <a:p>
            <a:r>
              <a:rPr lang="en-US"/>
              <a:t>Common Functions of Interrupts</a:t>
            </a:r>
          </a:p>
        </p:txBody>
      </p:sp>
      <p:sp>
        <p:nvSpPr>
          <p:cNvPr id="34819" name="Rectangle 3"/>
          <p:cNvSpPr>
            <a:spLocks noGrp="1" noChangeArrowheads="1"/>
          </p:cNvSpPr>
          <p:nvPr>
            <p:ph type="body" idx="1"/>
          </p:nvPr>
        </p:nvSpPr>
        <p:spPr/>
        <p:txBody>
          <a:bodyPr/>
          <a:lstStyle/>
          <a:p>
            <a:r>
              <a:rPr lang="en-US"/>
              <a:t>Interrupts transfers control to the interrupt service routine generally, through the </a:t>
            </a:r>
            <a:r>
              <a:rPr lang="en-US" i="1"/>
              <a:t>interrupt vector</a:t>
            </a:r>
            <a:r>
              <a:rPr lang="en-US"/>
              <a:t>, which contains the addresses of all the service routines.</a:t>
            </a:r>
          </a:p>
          <a:p>
            <a:r>
              <a:rPr lang="en-US"/>
              <a:t>Interrupt architecture must save the address of the interrupted instruction.</a:t>
            </a:r>
          </a:p>
          <a:p>
            <a:r>
              <a:rPr lang="en-US"/>
              <a:t>Incoming interrupts are </a:t>
            </a:r>
            <a:r>
              <a:rPr lang="en-US" i="1"/>
              <a:t>disabled</a:t>
            </a:r>
            <a:r>
              <a:rPr lang="en-US"/>
              <a:t> while another interrupt is being processed to prevent a </a:t>
            </a:r>
            <a:r>
              <a:rPr lang="en-US" i="1"/>
              <a:t>lost interrupt</a:t>
            </a:r>
            <a:r>
              <a:rPr lang="en-US"/>
              <a:t>.</a:t>
            </a:r>
          </a:p>
          <a:p>
            <a:r>
              <a:rPr lang="en-US"/>
              <a:t>A </a:t>
            </a:r>
            <a:r>
              <a:rPr lang="en-US" i="1"/>
              <a:t>trap</a:t>
            </a:r>
            <a:r>
              <a:rPr lang="en-US"/>
              <a:t> is a software-generated interrupt caused either by an error or a user request.</a:t>
            </a:r>
          </a:p>
          <a:p>
            <a:r>
              <a:rPr lang="en-US"/>
              <a:t>An operating system is </a:t>
            </a:r>
            <a:r>
              <a:rPr lang="en-US" i="1"/>
              <a:t>interrupt</a:t>
            </a:r>
            <a:r>
              <a:rPr lang="en-US"/>
              <a:t> driven.</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35842" name="Rectangle 2"/>
          <p:cNvSpPr>
            <a:spLocks noGrp="1" noChangeArrowheads="1"/>
          </p:cNvSpPr>
          <p:nvPr>
            <p:ph type="title"/>
          </p:nvPr>
        </p:nvSpPr>
        <p:spPr/>
        <p:txBody>
          <a:bodyPr/>
          <a:lstStyle/>
          <a:p>
            <a:r>
              <a:rPr lang="en-US"/>
              <a:t>Interrupt Handling</a:t>
            </a:r>
          </a:p>
        </p:txBody>
      </p:sp>
      <p:sp>
        <p:nvSpPr>
          <p:cNvPr id="35843" name="Rectangle 3"/>
          <p:cNvSpPr>
            <a:spLocks noGrp="1" noChangeArrowheads="1"/>
          </p:cNvSpPr>
          <p:nvPr>
            <p:ph type="body" idx="1"/>
          </p:nvPr>
        </p:nvSpPr>
        <p:spPr/>
        <p:txBody>
          <a:bodyPr/>
          <a:lstStyle/>
          <a:p>
            <a:r>
              <a:rPr lang="en-US"/>
              <a:t>The operating system preserves the state of the CPU by storing registers and the program counter.</a:t>
            </a:r>
          </a:p>
          <a:p>
            <a:r>
              <a:rPr lang="en-US"/>
              <a:t>Determines which type of interrupt has occurred:</a:t>
            </a:r>
          </a:p>
          <a:p>
            <a:pPr lvl="1"/>
            <a:r>
              <a:rPr lang="en-US" i="1"/>
              <a:t>polling</a:t>
            </a:r>
            <a:endParaRPr lang="en-US"/>
          </a:p>
          <a:p>
            <a:pPr lvl="1"/>
            <a:r>
              <a:rPr lang="en-US"/>
              <a:t>vectored interrupt system</a:t>
            </a:r>
          </a:p>
          <a:p>
            <a:r>
              <a:rPr lang="en-US"/>
              <a:t>Separate segments of code determine what action should be taken for each type of interrupt</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53250" name="Rectangle 2"/>
          <p:cNvSpPr>
            <a:spLocks noGrp="1" noChangeArrowheads="1"/>
          </p:cNvSpPr>
          <p:nvPr>
            <p:ph type="title"/>
          </p:nvPr>
        </p:nvSpPr>
        <p:spPr>
          <a:xfrm>
            <a:off x="457200" y="495300"/>
            <a:ext cx="8382000" cy="457200"/>
          </a:xfrm>
        </p:spPr>
        <p:txBody>
          <a:bodyPr/>
          <a:lstStyle/>
          <a:p>
            <a:r>
              <a:rPr lang="en-US" sz="2300"/>
              <a:t>Interrupt Time Line For a Single Process Doing Output</a:t>
            </a:r>
          </a:p>
        </p:txBody>
      </p:sp>
      <p:pic>
        <p:nvPicPr>
          <p:cNvPr id="53253" name="Picture 5"/>
          <p:cNvPicPr>
            <a:picLocks noChangeAspect="1" noChangeArrowheads="1"/>
          </p:cNvPicPr>
          <p:nvPr/>
        </p:nvPicPr>
        <p:blipFill>
          <a:blip r:embed="rId2"/>
          <a:srcRect l="586" t="21761" r="642" b="21663"/>
          <a:stretch>
            <a:fillRect/>
          </a:stretch>
        </p:blipFill>
        <p:spPr bwMode="auto">
          <a:xfrm>
            <a:off x="915988" y="1865313"/>
            <a:ext cx="7096125" cy="2944812"/>
          </a:xfrm>
          <a:prstGeom prst="rect">
            <a:avLst/>
          </a:prstGeom>
          <a:noFill/>
          <a:ln w="9525">
            <a:noFill/>
            <a:miter lim="800000"/>
            <a:headEnd/>
            <a:tailEnd/>
          </a:ln>
          <a:effec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37890" name="Rectangle 2"/>
          <p:cNvSpPr>
            <a:spLocks noGrp="1" noChangeArrowheads="1"/>
          </p:cNvSpPr>
          <p:nvPr>
            <p:ph type="title"/>
          </p:nvPr>
        </p:nvSpPr>
        <p:spPr/>
        <p:txBody>
          <a:bodyPr/>
          <a:lstStyle/>
          <a:p>
            <a:r>
              <a:rPr lang="en-US"/>
              <a:t>I/O Structure</a:t>
            </a:r>
          </a:p>
        </p:txBody>
      </p:sp>
      <p:sp>
        <p:nvSpPr>
          <p:cNvPr id="37891" name="Rectangle 3"/>
          <p:cNvSpPr>
            <a:spLocks noGrp="1" noChangeArrowheads="1"/>
          </p:cNvSpPr>
          <p:nvPr>
            <p:ph type="body" idx="1"/>
          </p:nvPr>
        </p:nvSpPr>
        <p:spPr/>
        <p:txBody>
          <a:bodyPr/>
          <a:lstStyle/>
          <a:p>
            <a:r>
              <a:rPr lang="en-US"/>
              <a:t>After I/O starts, control returns to user program only upon I/O completion.</a:t>
            </a:r>
          </a:p>
          <a:p>
            <a:pPr lvl="1"/>
            <a:r>
              <a:rPr lang="en-US"/>
              <a:t>wait instruction idles the CPU until the next interrupt</a:t>
            </a:r>
          </a:p>
          <a:p>
            <a:pPr lvl="1"/>
            <a:r>
              <a:rPr lang="en-US"/>
              <a:t>wait loop (contention for memory access).</a:t>
            </a:r>
          </a:p>
          <a:p>
            <a:pPr lvl="1"/>
            <a:r>
              <a:rPr lang="en-US"/>
              <a:t>At most one I/O request is outstanding at a time, no simultaneous I/O processing.</a:t>
            </a:r>
          </a:p>
          <a:p>
            <a:r>
              <a:rPr lang="en-US"/>
              <a:t>After I/O starts, control returns to user program without waiting for I/O completion.</a:t>
            </a:r>
          </a:p>
          <a:p>
            <a:pPr lvl="1"/>
            <a:r>
              <a:rPr lang="en-US" i="1"/>
              <a:t>System call</a:t>
            </a:r>
            <a:r>
              <a:rPr lang="en-US"/>
              <a:t> – request to the operating system to allow user to wait for I/O completion.</a:t>
            </a:r>
          </a:p>
          <a:p>
            <a:pPr lvl="1"/>
            <a:r>
              <a:rPr lang="en-US" i="1"/>
              <a:t>Device-status table</a:t>
            </a:r>
            <a:r>
              <a:rPr lang="en-US"/>
              <a:t> contains entry for each I/O device indicating its type, address, and state.</a:t>
            </a:r>
          </a:p>
          <a:p>
            <a:pPr lvl="1"/>
            <a:r>
              <a:rPr lang="en-US"/>
              <a:t>Operating system indexes into I/O device table to determine device status and to modify table entry to include interrupt.</a:t>
            </a:r>
          </a:p>
          <a:p>
            <a:pPr lvl="1"/>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r>
              <a:rPr lang="en-US"/>
              <a:t>Operating System Concepts</a:t>
            </a:r>
          </a:p>
        </p:txBody>
      </p:sp>
      <p:sp>
        <p:nvSpPr>
          <p:cNvPr id="52226" name="Rectangle 1026"/>
          <p:cNvSpPr>
            <a:spLocks noGrp="1" noChangeArrowheads="1"/>
          </p:cNvSpPr>
          <p:nvPr>
            <p:ph type="title"/>
          </p:nvPr>
        </p:nvSpPr>
        <p:spPr/>
        <p:txBody>
          <a:bodyPr/>
          <a:lstStyle/>
          <a:p>
            <a:r>
              <a:rPr lang="en-US"/>
              <a:t>Two I/O methods</a:t>
            </a:r>
          </a:p>
        </p:txBody>
      </p:sp>
      <p:sp>
        <p:nvSpPr>
          <p:cNvPr id="52229" name="Text Box 1029"/>
          <p:cNvSpPr txBox="1">
            <a:spLocks noChangeArrowheads="1"/>
          </p:cNvSpPr>
          <p:nvPr/>
        </p:nvSpPr>
        <p:spPr bwMode="auto">
          <a:xfrm>
            <a:off x="2151063" y="1792288"/>
            <a:ext cx="1517650" cy="366712"/>
          </a:xfrm>
          <a:prstGeom prst="rect">
            <a:avLst/>
          </a:prstGeom>
          <a:noFill/>
          <a:ln w="9525">
            <a:noFill/>
            <a:miter lim="800000"/>
            <a:headEnd/>
            <a:tailEnd/>
          </a:ln>
          <a:effectLst/>
        </p:spPr>
        <p:txBody>
          <a:bodyPr wrap="none" anchor="ctr">
            <a:spAutoFit/>
          </a:bodyPr>
          <a:lstStyle/>
          <a:p>
            <a:pPr>
              <a:spcBef>
                <a:spcPct val="50000"/>
              </a:spcBef>
            </a:pPr>
            <a:r>
              <a:rPr lang="en-US"/>
              <a:t>Synchronous</a:t>
            </a:r>
          </a:p>
        </p:txBody>
      </p:sp>
      <p:sp>
        <p:nvSpPr>
          <p:cNvPr id="52230" name="Text Box 1030"/>
          <p:cNvSpPr txBox="1">
            <a:spLocks noChangeArrowheads="1"/>
          </p:cNvSpPr>
          <p:nvPr/>
        </p:nvSpPr>
        <p:spPr bwMode="auto">
          <a:xfrm>
            <a:off x="5360988" y="1819275"/>
            <a:ext cx="1631950" cy="366713"/>
          </a:xfrm>
          <a:prstGeom prst="rect">
            <a:avLst/>
          </a:prstGeom>
          <a:noFill/>
          <a:ln w="9525">
            <a:noFill/>
            <a:miter lim="800000"/>
            <a:headEnd/>
            <a:tailEnd/>
          </a:ln>
          <a:effectLst/>
        </p:spPr>
        <p:txBody>
          <a:bodyPr wrap="none" anchor="ctr">
            <a:spAutoFit/>
          </a:bodyPr>
          <a:lstStyle/>
          <a:p>
            <a:pPr>
              <a:spcBef>
                <a:spcPct val="50000"/>
              </a:spcBef>
            </a:pPr>
            <a:r>
              <a:rPr lang="en-US"/>
              <a:t>Asynchronous</a:t>
            </a:r>
          </a:p>
        </p:txBody>
      </p:sp>
      <p:pic>
        <p:nvPicPr>
          <p:cNvPr id="52231" name="Picture 1031"/>
          <p:cNvPicPr>
            <a:picLocks noChangeAspect="1" noChangeArrowheads="1"/>
          </p:cNvPicPr>
          <p:nvPr/>
        </p:nvPicPr>
        <p:blipFill>
          <a:blip r:embed="rId2"/>
          <a:srcRect l="520" t="22591" r="568" b="22527"/>
          <a:stretch>
            <a:fillRect/>
          </a:stretch>
        </p:blipFill>
        <p:spPr bwMode="auto">
          <a:xfrm>
            <a:off x="754063" y="2284413"/>
            <a:ext cx="7747000" cy="3438525"/>
          </a:xfrm>
          <a:prstGeom prst="rect">
            <a:avLst/>
          </a:prstGeom>
          <a:noFill/>
          <a:ln w="9525">
            <a:noFill/>
            <a:miter lim="800000"/>
            <a:headEnd/>
            <a:tailEnd/>
          </a:ln>
          <a:effec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54274" name="Rectangle 1026"/>
          <p:cNvSpPr>
            <a:spLocks noGrp="1" noChangeArrowheads="1"/>
          </p:cNvSpPr>
          <p:nvPr>
            <p:ph type="title"/>
          </p:nvPr>
        </p:nvSpPr>
        <p:spPr/>
        <p:txBody>
          <a:bodyPr/>
          <a:lstStyle/>
          <a:p>
            <a:r>
              <a:rPr lang="en-US"/>
              <a:t>Device-Status Table</a:t>
            </a:r>
          </a:p>
        </p:txBody>
      </p:sp>
      <p:pic>
        <p:nvPicPr>
          <p:cNvPr id="54278" name="Picture 1030"/>
          <p:cNvPicPr>
            <a:picLocks noChangeAspect="1" noChangeArrowheads="1"/>
          </p:cNvPicPr>
          <p:nvPr/>
        </p:nvPicPr>
        <p:blipFill>
          <a:blip r:embed="rId2"/>
          <a:srcRect l="493" t="15446" r="728" b="15446"/>
          <a:stretch>
            <a:fillRect/>
          </a:stretch>
        </p:blipFill>
        <p:spPr bwMode="auto">
          <a:xfrm>
            <a:off x="1147763" y="1465263"/>
            <a:ext cx="7326312" cy="4100512"/>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61442" name="Rectangle 1026"/>
          <p:cNvSpPr>
            <a:spLocks noGrp="1" noChangeArrowheads="1"/>
          </p:cNvSpPr>
          <p:nvPr>
            <p:ph type="title"/>
          </p:nvPr>
        </p:nvSpPr>
        <p:spPr/>
        <p:txBody>
          <a:bodyPr/>
          <a:lstStyle/>
          <a:p>
            <a:r>
              <a:rPr lang="en-US" dirty="0"/>
              <a:t>Direct Memory Access (DMA) Structure</a:t>
            </a:r>
          </a:p>
        </p:txBody>
      </p:sp>
      <p:sp>
        <p:nvSpPr>
          <p:cNvPr id="61443" name="Rectangle 1027"/>
          <p:cNvSpPr>
            <a:spLocks noGrp="1" noChangeArrowheads="1"/>
          </p:cNvSpPr>
          <p:nvPr>
            <p:ph type="body" idx="1"/>
          </p:nvPr>
        </p:nvSpPr>
        <p:spPr/>
        <p:txBody>
          <a:bodyPr/>
          <a:lstStyle/>
          <a:p>
            <a:r>
              <a:rPr lang="en-US" dirty="0" smtClean="0"/>
              <a:t>Used </a:t>
            </a:r>
            <a:r>
              <a:rPr lang="en-US" dirty="0"/>
              <a:t>for high-speed I/O devices able to transmit information at close to memory speeds.</a:t>
            </a:r>
          </a:p>
          <a:p>
            <a:r>
              <a:rPr lang="en-US" dirty="0"/>
              <a:t>Device controller transfers blocks of data from buffer storage directly to main memory without CPU intervention.</a:t>
            </a:r>
          </a:p>
          <a:p>
            <a:r>
              <a:rPr lang="en-US" dirty="0"/>
              <a:t>Only one interrupt is generated per block, rather than the one interrupt per byte</a:t>
            </a:r>
            <a:r>
              <a:rPr lang="en-US" dirty="0" smtClean="0"/>
              <a:t>.</a:t>
            </a:r>
          </a:p>
          <a:p>
            <a:pPr algn="just"/>
            <a:r>
              <a:rPr lang="en-US" dirty="0" smtClean="0"/>
              <a:t>Def: </a:t>
            </a:r>
            <a:r>
              <a:rPr lang="en-IN" b="1" dirty="0" smtClean="0"/>
              <a:t>Direct memory access</a:t>
            </a:r>
            <a:r>
              <a:rPr lang="en-IN" dirty="0" smtClean="0"/>
              <a:t> (</a:t>
            </a:r>
            <a:r>
              <a:rPr lang="en-IN" b="1" dirty="0" smtClean="0"/>
              <a:t>DMA</a:t>
            </a:r>
            <a:r>
              <a:rPr lang="en-IN" dirty="0" smtClean="0"/>
              <a:t>) is a feature of computer systems that allows certain hardware subsystems to access main system memory (RAM), independent of the central processing unit (CPU).</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5"/>
          <p:cNvSpPr>
            <a:spLocks noGrp="1" noChangeArrowheads="1"/>
          </p:cNvSpPr>
          <p:nvPr>
            <p:ph type="title"/>
          </p:nvPr>
        </p:nvSpPr>
        <p:spPr/>
        <p:txBody>
          <a:bodyPr/>
          <a:lstStyle/>
          <a:p>
            <a:r>
              <a:rPr lang="en-US" sz="3500"/>
              <a:t>The basic computer</a:t>
            </a:r>
            <a:r>
              <a:rPr lang="en-US"/>
              <a:t> </a:t>
            </a:r>
          </a:p>
        </p:txBody>
      </p:sp>
      <p:sp>
        <p:nvSpPr>
          <p:cNvPr id="3082" name="Rectangle 10"/>
          <p:cNvSpPr>
            <a:spLocks noGrp="1" noChangeArrowheads="1"/>
          </p:cNvSpPr>
          <p:nvPr>
            <p:ph type="body" sz="half" idx="1"/>
          </p:nvPr>
        </p:nvSpPr>
        <p:spPr/>
        <p:txBody>
          <a:bodyPr/>
          <a:lstStyle/>
          <a:p>
            <a:endParaRPr lang="en-US" sz="2600"/>
          </a:p>
        </p:txBody>
      </p:sp>
      <p:sp>
        <p:nvSpPr>
          <p:cNvPr id="3083" name="Rectangle 11"/>
          <p:cNvSpPr>
            <a:spLocks noGrp="1" noChangeArrowheads="1"/>
          </p:cNvSpPr>
          <p:nvPr>
            <p:ph type="body" sz="half" idx="2"/>
          </p:nvPr>
        </p:nvSpPr>
        <p:spPr/>
        <p:txBody>
          <a:bodyPr/>
          <a:lstStyle/>
          <a:p>
            <a:pPr marL="533400" indent="-533400">
              <a:buFont typeface="Wingdings" pitchFamily="2" charset="2"/>
              <a:buNone/>
            </a:pPr>
            <a:r>
              <a:rPr lang="en-US" sz="1800" dirty="0"/>
              <a:t>Steps involved in storing data to the memory by the I/O device:</a:t>
            </a:r>
          </a:p>
          <a:p>
            <a:pPr marL="533400" indent="-533400">
              <a:buFontTx/>
              <a:buAutoNum type="arabicPeriod"/>
            </a:pPr>
            <a:r>
              <a:rPr lang="en-US" sz="1800" dirty="0"/>
              <a:t>CPU signals I/O device</a:t>
            </a:r>
          </a:p>
          <a:p>
            <a:pPr marL="533400" indent="-533400">
              <a:buFontTx/>
              <a:buAutoNum type="arabicPeriod"/>
            </a:pPr>
            <a:r>
              <a:rPr lang="en-US" sz="1800" dirty="0"/>
              <a:t>I/O places data on the bus and signals to CPU</a:t>
            </a:r>
          </a:p>
          <a:p>
            <a:pPr marL="533400" indent="-533400">
              <a:buFontTx/>
              <a:buAutoNum type="arabicPeriod"/>
            </a:pPr>
            <a:r>
              <a:rPr lang="en-US" sz="1800" dirty="0"/>
              <a:t>CPU reads the data into a register and signals to I/O</a:t>
            </a:r>
          </a:p>
          <a:p>
            <a:pPr marL="533400" indent="-533400">
              <a:buFontTx/>
              <a:buAutoNum type="arabicPeriod"/>
            </a:pPr>
            <a:r>
              <a:rPr lang="en-US" sz="1800" dirty="0"/>
              <a:t>CPU signals memory</a:t>
            </a:r>
          </a:p>
          <a:p>
            <a:pPr marL="533400" indent="-533400">
              <a:buFontTx/>
              <a:buAutoNum type="arabicPeriod"/>
            </a:pPr>
            <a:r>
              <a:rPr lang="en-US" sz="1800" dirty="0"/>
              <a:t>Memory writes data to some location</a:t>
            </a:r>
          </a:p>
          <a:p>
            <a:pPr marL="533400" indent="-533400">
              <a:buFontTx/>
              <a:buAutoNum type="arabicPeriod"/>
            </a:pPr>
            <a:r>
              <a:rPr lang="en-US" sz="1800" dirty="0"/>
              <a:t>Memory signals CPU that it is done.</a:t>
            </a:r>
          </a:p>
        </p:txBody>
      </p:sp>
      <p:pic>
        <p:nvPicPr>
          <p:cNvPr id="3076" name="Picture 4" descr="io"/>
          <p:cNvPicPr>
            <a:picLocks noGrp="1" noChangeAspect="1" noChangeArrowheads="1"/>
          </p:cNvPicPr>
          <p:nvPr>
            <p:ph idx="4294967295"/>
          </p:nvPr>
        </p:nvPicPr>
        <p:blipFill>
          <a:blip r:embed="rId3"/>
          <a:srcRect/>
          <a:stretch>
            <a:fillRect/>
          </a:stretch>
        </p:blipFill>
        <p:spPr>
          <a:xfrm>
            <a:off x="685800" y="1866900"/>
            <a:ext cx="3581400" cy="3714750"/>
          </a:xfrm>
          <a:solidFill>
            <a:srgbClr val="FF6600"/>
          </a:solid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Computer System with DMA</a:t>
            </a:r>
          </a:p>
        </p:txBody>
      </p:sp>
      <p:graphicFrame>
        <p:nvGraphicFramePr>
          <p:cNvPr id="22531" name="Object 3"/>
          <p:cNvGraphicFramePr>
            <a:graphicFrameLocks noGrp="1" noChangeAspect="1"/>
          </p:cNvGraphicFramePr>
          <p:nvPr>
            <p:ph type="body" idx="1"/>
          </p:nvPr>
        </p:nvGraphicFramePr>
        <p:xfrm>
          <a:off x="1281113" y="1981200"/>
          <a:ext cx="6581775" cy="4114800"/>
        </p:xfrm>
        <a:graphic>
          <a:graphicData uri="http://schemas.openxmlformats.org/presentationml/2006/ole">
            <mc:AlternateContent xmlns:mc="http://schemas.openxmlformats.org/markup-compatibility/2006">
              <mc:Choice xmlns:v="urn:schemas-microsoft-com:vml" Requires="v">
                <p:oleObj spid="_x0000_s1028" name="Bitmap Image" r:id="rId3" imgW="5742857" imgH="3591426" progId="PBrush">
                  <p:embed/>
                </p:oleObj>
              </mc:Choice>
              <mc:Fallback>
                <p:oleObj name="Bitmap Image" r:id="rId3" imgW="5742857" imgH="3591426"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113" y="1981200"/>
                        <a:ext cx="6581775" cy="411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66224" y="401345"/>
            <a:ext cx="7772400" cy="608012"/>
          </a:xfrm>
        </p:spPr>
        <p:txBody>
          <a:bodyPr/>
          <a:lstStyle/>
          <a:p>
            <a:r>
              <a:rPr lang="en-US" dirty="0" smtClean="0"/>
              <a:t>Working</a:t>
            </a:r>
            <a:endParaRPr lang="en-US" dirty="0"/>
          </a:p>
        </p:txBody>
      </p:sp>
      <p:sp>
        <p:nvSpPr>
          <p:cNvPr id="3075" name="Rectangle 3"/>
          <p:cNvSpPr>
            <a:spLocks noGrp="1" noChangeArrowheads="1"/>
          </p:cNvSpPr>
          <p:nvPr>
            <p:ph type="body" idx="1"/>
          </p:nvPr>
        </p:nvSpPr>
        <p:spPr>
          <a:xfrm>
            <a:off x="815927" y="1766228"/>
            <a:ext cx="7739575" cy="4114800"/>
          </a:xfrm>
        </p:spPr>
        <p:txBody>
          <a:bodyPr/>
          <a:lstStyle/>
          <a:p>
            <a:pPr algn="just">
              <a:lnSpc>
                <a:spcPct val="90000"/>
              </a:lnSpc>
            </a:pPr>
            <a:r>
              <a:rPr lang="en-US" sz="2400" dirty="0">
                <a:latin typeface="Times New Roman" pitchFamily="18" charset="0"/>
                <a:cs typeface="Times New Roman" pitchFamily="18" charset="0"/>
              </a:rPr>
              <a:t>Consider a typical system consisting of a CPU ,memory and one or more input/output devices as shown in fig. Assume one of the I/O devices is a </a:t>
            </a:r>
            <a:r>
              <a:rPr lang="en-US" sz="2400">
                <a:latin typeface="Times New Roman" pitchFamily="18" charset="0"/>
                <a:cs typeface="Times New Roman" pitchFamily="18" charset="0"/>
              </a:rPr>
              <a:t>disk </a:t>
            </a:r>
            <a:r>
              <a:rPr lang="en-US" sz="2400" smtClean="0">
                <a:latin typeface="Times New Roman" pitchFamily="18" charset="0"/>
                <a:cs typeface="Times New Roman" pitchFamily="18" charset="0"/>
              </a:rPr>
              <a:t>and </a:t>
            </a:r>
            <a:r>
              <a:rPr lang="en-US" sz="2400" dirty="0">
                <a:latin typeface="Times New Roman" pitchFamily="18" charset="0"/>
                <a:cs typeface="Times New Roman" pitchFamily="18" charset="0"/>
              </a:rPr>
              <a:t>that the computer must load a program from this drive into memory.</a:t>
            </a:r>
          </a:p>
          <a:p>
            <a:pPr algn="just">
              <a:lnSpc>
                <a:spcPct val="90000"/>
              </a:lnSpc>
            </a:pPr>
            <a:r>
              <a:rPr lang="en-US" sz="2400" dirty="0">
                <a:latin typeface="Times New Roman" pitchFamily="18" charset="0"/>
                <a:cs typeface="Times New Roman" pitchFamily="18" charset="0"/>
              </a:rPr>
              <a:t>The CPU would read the first byte of the program and then write that byte to memory. Then it would do the same for the second byte, until it had loaded the entire program into memory.                                      							</a:t>
            </a:r>
          </a:p>
          <a:p>
            <a:pPr algn="just">
              <a:lnSpc>
                <a:spcPct val="90000"/>
              </a:lnSpc>
              <a:buFont typeface="Wingdings" pitchFamily="2" charset="2"/>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28600" y="992188"/>
            <a:ext cx="7772400" cy="608012"/>
          </a:xfrm>
        </p:spPr>
        <p:txBody>
          <a:bodyPr/>
          <a:lstStyle/>
          <a:p>
            <a:endParaRPr lang="en-US"/>
          </a:p>
        </p:txBody>
      </p:sp>
      <p:sp>
        <p:nvSpPr>
          <p:cNvPr id="4099" name="Rectangle 3"/>
          <p:cNvSpPr>
            <a:spLocks noGrp="1" noChangeArrowheads="1"/>
          </p:cNvSpPr>
          <p:nvPr>
            <p:ph type="body" idx="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pPr algn="just">
              <a:lnSpc>
                <a:spcPct val="90000"/>
              </a:lnSpc>
            </a:pPr>
            <a:r>
              <a:rPr lang="en-US" sz="2400" dirty="0">
                <a:latin typeface="Times New Roman" pitchFamily="18" charset="0"/>
                <a:cs typeface="Times New Roman" pitchFamily="18" charset="0"/>
              </a:rPr>
              <a:t>This process proves to be </a:t>
            </a:r>
            <a:r>
              <a:rPr lang="en-US" sz="2400" b="1" u="sng" dirty="0">
                <a:latin typeface="Times New Roman" pitchFamily="18" charset="0"/>
                <a:cs typeface="Times New Roman" pitchFamily="18" charset="0"/>
              </a:rPr>
              <a:t>inefficient</a:t>
            </a:r>
            <a:r>
              <a:rPr lang="en-US" sz="2400" dirty="0">
                <a:latin typeface="Times New Roman" pitchFamily="18" charset="0"/>
                <a:cs typeface="Times New Roman" pitchFamily="18" charset="0"/>
              </a:rPr>
              <a:t>. Loading data into, and then writing data out of the CPU significantly slows down the transfer. The CPU does not modify the data at all, so it only serves as an additional stop for data on the way to it’s final </a:t>
            </a:r>
            <a:r>
              <a:rPr lang="en-US" sz="2400" dirty="0" smtClean="0">
                <a:latin typeface="Times New Roman" pitchFamily="18" charset="0"/>
                <a:cs typeface="Times New Roman" pitchFamily="18" charset="0"/>
              </a:rPr>
              <a:t>destination.</a:t>
            </a:r>
            <a:endParaRPr lang="en-US" sz="2400" dirty="0">
              <a:latin typeface="Times New Roman" pitchFamily="18" charset="0"/>
              <a:cs typeface="Times New Roman" pitchFamily="18" charset="0"/>
            </a:endParaRPr>
          </a:p>
          <a:p>
            <a:pPr algn="just">
              <a:lnSpc>
                <a:spcPct val="90000"/>
              </a:lnSpc>
            </a:pPr>
            <a:r>
              <a:rPr lang="en-US" sz="2400" dirty="0">
                <a:latin typeface="Times New Roman" pitchFamily="18" charset="0"/>
                <a:cs typeface="Times New Roman" pitchFamily="18" charset="0"/>
              </a:rPr>
              <a:t>The process would be much quicker if we could </a:t>
            </a:r>
            <a:r>
              <a:rPr lang="en-US" sz="2400" b="1" u="sng" dirty="0">
                <a:solidFill>
                  <a:srgbClr val="C00000"/>
                </a:solidFill>
                <a:latin typeface="Times New Roman" pitchFamily="18" charset="0"/>
                <a:cs typeface="Times New Roman" pitchFamily="18" charset="0"/>
              </a:rPr>
              <a:t>bypass </a:t>
            </a:r>
            <a:r>
              <a:rPr lang="en-US" sz="2400" dirty="0">
                <a:latin typeface="Times New Roman" pitchFamily="18" charset="0"/>
                <a:cs typeface="Times New Roman" pitchFamily="18" charset="0"/>
              </a:rPr>
              <a:t>the CPU &amp; transfer data directly from the I/O device to memory.</a:t>
            </a:r>
          </a:p>
          <a:p>
            <a:pPr algn="just">
              <a:lnSpc>
                <a:spcPct val="90000"/>
              </a:lnSpc>
            </a:pPr>
            <a:r>
              <a:rPr lang="en-US" sz="2400" dirty="0">
                <a:latin typeface="Times New Roman" pitchFamily="18" charset="0"/>
                <a:cs typeface="Times New Roman" pitchFamily="18" charset="0"/>
              </a:rPr>
              <a:t>Direct Memory Access does exactly that.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latin typeface="Times New Roman" pitchFamily="18" charset="0"/>
                <a:cs typeface="Times New Roman" pitchFamily="18" charset="0"/>
              </a:rPr>
              <a:t>Implementing DMA in a Computer System</a:t>
            </a:r>
          </a:p>
        </p:txBody>
      </p:sp>
      <p:sp>
        <p:nvSpPr>
          <p:cNvPr id="5123" name="Rectangle 3"/>
          <p:cNvSpPr>
            <a:spLocks noGrp="1" noChangeArrowheads="1"/>
          </p:cNvSpPr>
          <p:nvPr>
            <p:ph type="body" idx="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pPr algn="just">
              <a:lnSpc>
                <a:spcPct val="90000"/>
              </a:lnSpc>
            </a:pPr>
            <a:r>
              <a:rPr lang="en-US" sz="2400" dirty="0">
                <a:latin typeface="Times New Roman" pitchFamily="18" charset="0"/>
                <a:cs typeface="Times New Roman" pitchFamily="18" charset="0"/>
              </a:rPr>
              <a:t>A DMA controller implements direct memory access in a computer system.</a:t>
            </a:r>
          </a:p>
          <a:p>
            <a:pPr algn="just">
              <a:lnSpc>
                <a:spcPct val="90000"/>
              </a:lnSpc>
            </a:pPr>
            <a:r>
              <a:rPr lang="en-US" sz="2400" dirty="0">
                <a:latin typeface="Times New Roman" pitchFamily="18" charset="0"/>
                <a:cs typeface="Times New Roman" pitchFamily="18" charset="0"/>
              </a:rPr>
              <a:t>It connects directly to the I/O device at one end and to the system buses at the other end. It also interacts with the CPU, both via the system buses and two new direct connections.</a:t>
            </a:r>
          </a:p>
          <a:p>
            <a:pPr algn="just">
              <a:lnSpc>
                <a:spcPct val="90000"/>
              </a:lnSpc>
            </a:pPr>
            <a:r>
              <a:rPr lang="en-US" sz="2400" dirty="0">
                <a:latin typeface="Times New Roman" pitchFamily="18" charset="0"/>
                <a:cs typeface="Times New Roman" pitchFamily="18" charset="0"/>
              </a:rPr>
              <a:t> It is sometimes referred to as a channel. In an alternate configuration, the DMA controller may be incorporated directly into the I/O device.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Data Transfer using DMA Controller</a:t>
            </a:r>
          </a:p>
        </p:txBody>
      </p:sp>
      <p:sp>
        <p:nvSpPr>
          <p:cNvPr id="6147" name="Rectangle 3"/>
          <p:cNvSpPr>
            <a:spLocks noGrp="1" noChangeArrowheads="1"/>
          </p:cNvSpPr>
          <p:nvPr>
            <p:ph type="body" idx="1"/>
          </p:nvPr>
        </p:nvSpPr>
        <p:spPr>
          <a:noFill/>
          <a:ln w="9525">
            <a:noFill/>
            <a:miter lim="800000"/>
            <a:headEnd/>
            <a:tailEnd/>
          </a:ln>
          <a:effectLst/>
        </p:spPr>
        <p:txBody>
          <a:bodyPr vert="horz" wrap="square" lIns="91440" tIns="45720" rIns="91440" bIns="45720" numCol="1" anchor="t" anchorCtr="0" compatLnSpc="1">
            <a:prstTxWarp prst="textNoShape">
              <a:avLst/>
            </a:prstTxWarp>
          </a:bodyPr>
          <a:lstStyle/>
          <a:p>
            <a:pPr algn="just">
              <a:lnSpc>
                <a:spcPct val="90000"/>
              </a:lnSpc>
            </a:pPr>
            <a:r>
              <a:rPr lang="en-US" sz="2400" dirty="0">
                <a:latin typeface="Times New Roman" pitchFamily="18" charset="0"/>
                <a:cs typeface="Times New Roman" pitchFamily="18" charset="0"/>
              </a:rPr>
              <a:t>To transfer data from an I/O device to memory, the DMA controller first sends a Bus Request to the CPU by setting BR to 1. When it is ready to grant this request, the CPU sets it’s Bus grant signal, BG to 1.</a:t>
            </a:r>
          </a:p>
          <a:p>
            <a:pPr algn="just">
              <a:lnSpc>
                <a:spcPct val="90000"/>
              </a:lnSpc>
            </a:pPr>
            <a:r>
              <a:rPr lang="en-US" sz="2400" dirty="0">
                <a:latin typeface="Times New Roman" pitchFamily="18" charset="0"/>
                <a:cs typeface="Times New Roman" pitchFamily="18" charset="0"/>
              </a:rPr>
              <a:t>The CPU also tri-states it’s address,data, and control lines thus truly granting control of the system buses to the DMA controller.</a:t>
            </a:r>
          </a:p>
          <a:p>
            <a:pPr algn="just">
              <a:lnSpc>
                <a:spcPct val="90000"/>
              </a:lnSpc>
            </a:pPr>
            <a:r>
              <a:rPr lang="en-US" sz="2400" dirty="0">
                <a:latin typeface="Times New Roman" pitchFamily="18" charset="0"/>
                <a:cs typeface="Times New Roman" pitchFamily="18" charset="0"/>
              </a:rPr>
              <a:t>The CPU will continue to tri-state it’s outputs as long as BR is </a:t>
            </a:r>
            <a:r>
              <a:rPr lang="en-US" sz="2400" dirty="0" smtClean="0">
                <a:latin typeface="Times New Roman" pitchFamily="18" charset="0"/>
                <a:cs typeface="Times New Roman" pitchFamily="18" charset="0"/>
              </a:rPr>
              <a:t>declare.                                 </a:t>
            </a:r>
            <a:r>
              <a:rPr lang="en-US" sz="2400" dirty="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39938" name="Rectangle 1026"/>
          <p:cNvSpPr>
            <a:spLocks noGrp="1" noChangeArrowheads="1"/>
          </p:cNvSpPr>
          <p:nvPr>
            <p:ph type="title"/>
          </p:nvPr>
        </p:nvSpPr>
        <p:spPr/>
        <p:txBody>
          <a:bodyPr/>
          <a:lstStyle/>
          <a:p>
            <a:r>
              <a:rPr lang="en-US"/>
              <a:t>Storage Structure</a:t>
            </a:r>
          </a:p>
        </p:txBody>
      </p:sp>
      <p:sp>
        <p:nvSpPr>
          <p:cNvPr id="39939" name="Rectangle 1027"/>
          <p:cNvSpPr>
            <a:spLocks noGrp="1" noChangeArrowheads="1"/>
          </p:cNvSpPr>
          <p:nvPr>
            <p:ph type="body" idx="1"/>
          </p:nvPr>
        </p:nvSpPr>
        <p:spPr/>
        <p:txBody>
          <a:bodyPr/>
          <a:lstStyle/>
          <a:p>
            <a:r>
              <a:rPr lang="en-US"/>
              <a:t>Main memory – only large storage media that the CPU can access directly.</a:t>
            </a:r>
          </a:p>
          <a:p>
            <a:r>
              <a:rPr lang="en-US"/>
              <a:t>Secondary storage – extension of main memory that provides large nonvolatile storage capacity.</a:t>
            </a:r>
          </a:p>
          <a:p>
            <a:r>
              <a:rPr lang="en-US"/>
              <a:t>Magnetic disks – rigid metal or glass platters covered with magnetic recording material </a:t>
            </a:r>
          </a:p>
          <a:p>
            <a:pPr lvl="1"/>
            <a:r>
              <a:rPr lang="en-US"/>
              <a:t>Disk surface is logically divided into </a:t>
            </a:r>
            <a:r>
              <a:rPr lang="en-US" i="1"/>
              <a:t>tracks</a:t>
            </a:r>
            <a:r>
              <a:rPr lang="en-US"/>
              <a:t>, which are subdivided into </a:t>
            </a:r>
            <a:r>
              <a:rPr lang="en-US" i="1"/>
              <a:t>sectors</a:t>
            </a:r>
            <a:r>
              <a:rPr lang="en-US"/>
              <a:t>.</a:t>
            </a:r>
          </a:p>
          <a:p>
            <a:pPr lvl="1"/>
            <a:r>
              <a:rPr lang="en-US"/>
              <a:t>The </a:t>
            </a:r>
            <a:r>
              <a:rPr lang="en-US" i="1"/>
              <a:t>disk controller</a:t>
            </a:r>
            <a:r>
              <a:rPr lang="en-US"/>
              <a:t> determines the logical interaction between the device and the computer.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55298" name="Rectangle 1026"/>
          <p:cNvSpPr>
            <a:spLocks noGrp="1" noChangeArrowheads="1"/>
          </p:cNvSpPr>
          <p:nvPr>
            <p:ph type="title"/>
          </p:nvPr>
        </p:nvSpPr>
        <p:spPr/>
        <p:txBody>
          <a:bodyPr/>
          <a:lstStyle/>
          <a:p>
            <a:r>
              <a:rPr lang="en-US" sz="2400" dirty="0" smtClean="0"/>
              <a:t>Moving-Head Disk Mechanism(Magnetic Disk)</a:t>
            </a:r>
            <a:endParaRPr lang="en-US" sz="2400" dirty="0"/>
          </a:p>
        </p:txBody>
      </p:sp>
      <p:pic>
        <p:nvPicPr>
          <p:cNvPr id="55301" name="Picture 1029"/>
          <p:cNvPicPr>
            <a:picLocks noChangeAspect="1" noChangeArrowheads="1"/>
          </p:cNvPicPr>
          <p:nvPr/>
        </p:nvPicPr>
        <p:blipFill>
          <a:blip r:embed="rId2"/>
          <a:srcRect l="10391" t="571" r="10117" b="1428"/>
          <a:stretch>
            <a:fillRect/>
          </a:stretch>
        </p:blipFill>
        <p:spPr bwMode="auto">
          <a:xfrm>
            <a:off x="2227263" y="1238250"/>
            <a:ext cx="4225925" cy="4900613"/>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Tapes</a:t>
            </a:r>
            <a:endParaRPr lang="en-IN" dirty="0"/>
          </a:p>
        </p:txBody>
      </p:sp>
      <p:sp>
        <p:nvSpPr>
          <p:cNvPr id="3" name="Footer Placeholder 2"/>
          <p:cNvSpPr>
            <a:spLocks noGrp="1"/>
          </p:cNvSpPr>
          <p:nvPr>
            <p:ph type="ftr" sz="quarter" idx="10"/>
          </p:nvPr>
        </p:nvSpPr>
        <p:spPr/>
        <p:txBody>
          <a:bodyPr/>
          <a:lstStyle/>
          <a:p>
            <a:r>
              <a:rPr lang="en-US" smtClean="0"/>
              <a:t>Operating System Concepts</a:t>
            </a:r>
            <a:endParaRPr lang="en-US"/>
          </a:p>
        </p:txBody>
      </p:sp>
      <p:pic>
        <p:nvPicPr>
          <p:cNvPr id="2050" name="Picture 2"/>
          <p:cNvPicPr>
            <a:picLocks noChangeAspect="1" noChangeArrowheads="1"/>
          </p:cNvPicPr>
          <p:nvPr/>
        </p:nvPicPr>
        <p:blipFill>
          <a:blip r:embed="rId2"/>
          <a:srcRect/>
          <a:stretch>
            <a:fillRect/>
          </a:stretch>
        </p:blipFill>
        <p:spPr bwMode="auto">
          <a:xfrm>
            <a:off x="992505" y="1460988"/>
            <a:ext cx="3157464" cy="3561177"/>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5165774" y="1587450"/>
            <a:ext cx="2667000" cy="271726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40962" name="Rectangle 2"/>
          <p:cNvSpPr>
            <a:spLocks noGrp="1" noChangeArrowheads="1"/>
          </p:cNvSpPr>
          <p:nvPr>
            <p:ph type="title"/>
          </p:nvPr>
        </p:nvSpPr>
        <p:spPr/>
        <p:txBody>
          <a:bodyPr/>
          <a:lstStyle/>
          <a:p>
            <a:r>
              <a:rPr lang="en-US"/>
              <a:t>Storage Hierarchy</a:t>
            </a:r>
          </a:p>
        </p:txBody>
      </p:sp>
      <p:sp>
        <p:nvSpPr>
          <p:cNvPr id="40963" name="Rectangle 3"/>
          <p:cNvSpPr>
            <a:spLocks noGrp="1" noChangeArrowheads="1"/>
          </p:cNvSpPr>
          <p:nvPr>
            <p:ph type="body" idx="1"/>
          </p:nvPr>
        </p:nvSpPr>
        <p:spPr/>
        <p:txBody>
          <a:bodyPr/>
          <a:lstStyle/>
          <a:p>
            <a:r>
              <a:rPr lang="en-US"/>
              <a:t>Storage systems organized in hierarchy.</a:t>
            </a:r>
          </a:p>
          <a:p>
            <a:pPr lvl="1"/>
            <a:r>
              <a:rPr lang="en-US"/>
              <a:t>Speed</a:t>
            </a:r>
          </a:p>
          <a:p>
            <a:pPr lvl="1"/>
            <a:r>
              <a:rPr lang="en-US"/>
              <a:t>cost</a:t>
            </a:r>
          </a:p>
          <a:p>
            <a:pPr lvl="1"/>
            <a:r>
              <a:rPr lang="en-US"/>
              <a:t>volatility</a:t>
            </a:r>
          </a:p>
          <a:p>
            <a:r>
              <a:rPr lang="en-US" i="1"/>
              <a:t>Caching</a:t>
            </a:r>
            <a:r>
              <a:rPr lang="en-US"/>
              <a:t> – copying information into faster storage system; main memory can be viewed as a last </a:t>
            </a:r>
            <a:r>
              <a:rPr lang="en-US" i="1"/>
              <a:t>cache</a:t>
            </a:r>
            <a:r>
              <a:rPr lang="en-US"/>
              <a:t> for secondary storage.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41986" name="Rectangle 2"/>
          <p:cNvSpPr>
            <a:spLocks noGrp="1" noChangeArrowheads="1"/>
          </p:cNvSpPr>
          <p:nvPr>
            <p:ph type="title"/>
          </p:nvPr>
        </p:nvSpPr>
        <p:spPr/>
        <p:txBody>
          <a:bodyPr/>
          <a:lstStyle/>
          <a:p>
            <a:r>
              <a:rPr lang="en-US"/>
              <a:t>Storage-Device Hierarchy</a:t>
            </a:r>
          </a:p>
        </p:txBody>
      </p:sp>
      <p:pic>
        <p:nvPicPr>
          <p:cNvPr id="41992" name="Picture 8"/>
          <p:cNvPicPr>
            <a:picLocks noChangeAspect="1" noChangeArrowheads="1"/>
          </p:cNvPicPr>
          <p:nvPr/>
        </p:nvPicPr>
        <p:blipFill>
          <a:blip r:embed="rId2"/>
          <a:srcRect l="2751" t="1303" r="2591" b="568"/>
          <a:stretch>
            <a:fillRect/>
          </a:stretch>
        </p:blipFill>
        <p:spPr bwMode="auto">
          <a:xfrm>
            <a:off x="1714500" y="1441450"/>
            <a:ext cx="5626100" cy="466566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43010" name="Rectangle 2"/>
          <p:cNvSpPr>
            <a:spLocks noGrp="1" noChangeArrowheads="1"/>
          </p:cNvSpPr>
          <p:nvPr>
            <p:ph type="title"/>
          </p:nvPr>
        </p:nvSpPr>
        <p:spPr/>
        <p:txBody>
          <a:bodyPr/>
          <a:lstStyle/>
          <a:p>
            <a:r>
              <a:rPr lang="en-US"/>
              <a:t>Hardware Protection</a:t>
            </a:r>
          </a:p>
        </p:txBody>
      </p:sp>
      <p:sp>
        <p:nvSpPr>
          <p:cNvPr id="43011" name="Rectangle 3"/>
          <p:cNvSpPr>
            <a:spLocks noGrp="1" noChangeArrowheads="1"/>
          </p:cNvSpPr>
          <p:nvPr>
            <p:ph type="body" idx="1"/>
          </p:nvPr>
        </p:nvSpPr>
        <p:spPr/>
        <p:txBody>
          <a:bodyPr/>
          <a:lstStyle/>
          <a:p>
            <a:r>
              <a:rPr lang="en-US"/>
              <a:t>Dual-Mode Operation</a:t>
            </a:r>
          </a:p>
          <a:p>
            <a:r>
              <a:rPr lang="en-US"/>
              <a:t>I/O Protection</a:t>
            </a:r>
          </a:p>
          <a:p>
            <a:r>
              <a:rPr lang="en-US"/>
              <a:t>Memory Protection</a:t>
            </a:r>
          </a:p>
          <a:p>
            <a:r>
              <a:rPr lang="en-US"/>
              <a:t>CPU Protection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44034" name="Rectangle 2"/>
          <p:cNvSpPr>
            <a:spLocks noGrp="1" noChangeArrowheads="1"/>
          </p:cNvSpPr>
          <p:nvPr>
            <p:ph type="title"/>
          </p:nvPr>
        </p:nvSpPr>
        <p:spPr/>
        <p:txBody>
          <a:bodyPr/>
          <a:lstStyle/>
          <a:p>
            <a:r>
              <a:rPr lang="en-US"/>
              <a:t>Dual-Mode Operation</a:t>
            </a:r>
          </a:p>
        </p:txBody>
      </p:sp>
      <p:sp>
        <p:nvSpPr>
          <p:cNvPr id="44035" name="Rectangle 3"/>
          <p:cNvSpPr>
            <a:spLocks noGrp="1" noChangeArrowheads="1"/>
          </p:cNvSpPr>
          <p:nvPr>
            <p:ph type="body" idx="1"/>
          </p:nvPr>
        </p:nvSpPr>
        <p:spPr/>
        <p:txBody>
          <a:bodyPr/>
          <a:lstStyle/>
          <a:p>
            <a:pPr algn="just"/>
            <a:r>
              <a:rPr lang="en-US" dirty="0"/>
              <a:t>Sharing system resources requires operating system to ensure that an incorrect program cannot cause other programs to execute incorrectly.</a:t>
            </a:r>
          </a:p>
          <a:p>
            <a:pPr algn="just"/>
            <a:r>
              <a:rPr lang="en-US" dirty="0"/>
              <a:t>Provide hardware support to differentiate between at least two modes of operations.</a:t>
            </a:r>
          </a:p>
          <a:p>
            <a:pPr lvl="1" algn="just">
              <a:buFontTx/>
              <a:buNone/>
            </a:pPr>
            <a:r>
              <a:rPr lang="en-US" dirty="0"/>
              <a:t>1.	</a:t>
            </a:r>
            <a:r>
              <a:rPr lang="en-US" i="1" dirty="0"/>
              <a:t>User mode</a:t>
            </a:r>
            <a:r>
              <a:rPr lang="en-US" dirty="0"/>
              <a:t> – execution done on behalf of a user.</a:t>
            </a:r>
          </a:p>
          <a:p>
            <a:pPr lvl="1" algn="just">
              <a:buFontTx/>
              <a:buNone/>
            </a:pPr>
            <a:r>
              <a:rPr lang="en-US" dirty="0"/>
              <a:t>2.</a:t>
            </a:r>
            <a:r>
              <a:rPr lang="en-US" i="1" dirty="0"/>
              <a:t>	Monitor mode</a:t>
            </a:r>
            <a:r>
              <a:rPr lang="en-US" dirty="0"/>
              <a:t> (also </a:t>
            </a:r>
            <a:r>
              <a:rPr lang="en-US" i="1" dirty="0"/>
              <a:t>supervisor mode</a:t>
            </a:r>
            <a:r>
              <a:rPr lang="en-US" dirty="0"/>
              <a:t> or </a:t>
            </a:r>
            <a:r>
              <a:rPr lang="en-US" i="1" dirty="0"/>
              <a:t>system mode</a:t>
            </a:r>
            <a:r>
              <a:rPr lang="en-US" dirty="0"/>
              <a:t>) – execution done on behalf of operating system.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3"/>
          <p:cNvSpPr>
            <a:spLocks noGrp="1"/>
          </p:cNvSpPr>
          <p:nvPr>
            <p:ph type="ftr" sz="quarter" idx="10"/>
          </p:nvPr>
        </p:nvSpPr>
        <p:spPr/>
        <p:txBody>
          <a:bodyPr/>
          <a:lstStyle/>
          <a:p>
            <a:r>
              <a:rPr lang="en-US"/>
              <a:t>Operating System Concepts</a:t>
            </a:r>
          </a:p>
        </p:txBody>
      </p:sp>
      <p:sp>
        <p:nvSpPr>
          <p:cNvPr id="45058" name="Rectangle 2"/>
          <p:cNvSpPr>
            <a:spLocks noGrp="1" noChangeArrowheads="1"/>
          </p:cNvSpPr>
          <p:nvPr>
            <p:ph type="title"/>
          </p:nvPr>
        </p:nvSpPr>
        <p:spPr/>
        <p:txBody>
          <a:bodyPr/>
          <a:lstStyle/>
          <a:p>
            <a:r>
              <a:rPr lang="en-US"/>
              <a:t>Dual-Mode Operation (Cont.)</a:t>
            </a:r>
          </a:p>
        </p:txBody>
      </p:sp>
      <p:sp>
        <p:nvSpPr>
          <p:cNvPr id="45059" name="Rectangle 3"/>
          <p:cNvSpPr>
            <a:spLocks noGrp="1" noChangeArrowheads="1"/>
          </p:cNvSpPr>
          <p:nvPr>
            <p:ph type="body" idx="1"/>
          </p:nvPr>
        </p:nvSpPr>
        <p:spPr>
          <a:xfrm>
            <a:off x="990600" y="1724025"/>
            <a:ext cx="7029450" cy="1400175"/>
          </a:xfrm>
        </p:spPr>
        <p:txBody>
          <a:bodyPr/>
          <a:lstStyle/>
          <a:p>
            <a:r>
              <a:rPr lang="en-US" i="1"/>
              <a:t>Mode bit</a:t>
            </a:r>
            <a:r>
              <a:rPr lang="en-US"/>
              <a:t> added to computer hardware to indicate the current mode:  monitor (0) or user (1).</a:t>
            </a:r>
          </a:p>
          <a:p>
            <a:r>
              <a:rPr lang="en-US"/>
              <a:t>When an interrupt or fault occurs hardware switches to monitor mode.</a:t>
            </a:r>
          </a:p>
        </p:txBody>
      </p:sp>
      <p:sp>
        <p:nvSpPr>
          <p:cNvPr id="45062" name="Rectangle 6"/>
          <p:cNvSpPr>
            <a:spLocks noChangeArrowheads="1"/>
          </p:cNvSpPr>
          <p:nvPr/>
        </p:nvSpPr>
        <p:spPr bwMode="auto">
          <a:xfrm>
            <a:off x="990600" y="5715000"/>
            <a:ext cx="7029450" cy="533400"/>
          </a:xfrm>
          <a:prstGeom prst="rect">
            <a:avLst/>
          </a:prstGeom>
          <a:noFill/>
          <a:ln w="9525">
            <a:noFill/>
            <a:miter lim="800000"/>
            <a:headEnd/>
            <a:tailEnd/>
          </a:ln>
          <a:effectLst/>
        </p:spPr>
        <p:txBody>
          <a:bodyPr/>
          <a:lstStyle/>
          <a:p>
            <a:pPr marL="228600" indent="-228600" algn="l">
              <a:spcBef>
                <a:spcPct val="50000"/>
              </a:spcBef>
              <a:buSzPct val="140000"/>
              <a:buFontTx/>
              <a:buChar char="•"/>
            </a:pPr>
            <a:r>
              <a:rPr lang="en-US" i="1"/>
              <a:t>Privileged instructions </a:t>
            </a:r>
            <a:r>
              <a:rPr lang="en-US"/>
              <a:t>can be issued only in monitor mode</a:t>
            </a:r>
            <a:r>
              <a:rPr lang="en-US" i="1"/>
              <a:t>. </a:t>
            </a:r>
            <a:endParaRPr lang="en-US"/>
          </a:p>
        </p:txBody>
      </p:sp>
      <p:sp>
        <p:nvSpPr>
          <p:cNvPr id="45064" name="Oval 8"/>
          <p:cNvSpPr>
            <a:spLocks noChangeArrowheads="1"/>
          </p:cNvSpPr>
          <p:nvPr/>
        </p:nvSpPr>
        <p:spPr bwMode="auto">
          <a:xfrm>
            <a:off x="1828800" y="3581400"/>
            <a:ext cx="1066800" cy="1143000"/>
          </a:xfrm>
          <a:prstGeom prst="ellipse">
            <a:avLst/>
          </a:prstGeom>
          <a:solidFill>
            <a:schemeClr val="bg1"/>
          </a:solidFill>
          <a:ln w="9525">
            <a:solidFill>
              <a:schemeClr val="tx1"/>
            </a:solidFill>
            <a:round/>
            <a:headEnd/>
            <a:tailEnd/>
          </a:ln>
          <a:effectLst/>
        </p:spPr>
        <p:txBody>
          <a:bodyPr wrap="none" anchor="ctr"/>
          <a:lstStyle/>
          <a:p>
            <a:r>
              <a:rPr lang="en-US"/>
              <a:t>monitor</a:t>
            </a:r>
          </a:p>
        </p:txBody>
      </p:sp>
      <p:sp>
        <p:nvSpPr>
          <p:cNvPr id="45065" name="Oval 9"/>
          <p:cNvSpPr>
            <a:spLocks noChangeArrowheads="1"/>
          </p:cNvSpPr>
          <p:nvPr/>
        </p:nvSpPr>
        <p:spPr bwMode="auto">
          <a:xfrm>
            <a:off x="5257800" y="3581400"/>
            <a:ext cx="1066800" cy="1143000"/>
          </a:xfrm>
          <a:prstGeom prst="ellipse">
            <a:avLst/>
          </a:prstGeom>
          <a:solidFill>
            <a:schemeClr val="bg1"/>
          </a:solidFill>
          <a:ln w="9525">
            <a:solidFill>
              <a:schemeClr val="tx1"/>
            </a:solidFill>
            <a:round/>
            <a:headEnd/>
            <a:tailEnd/>
          </a:ln>
          <a:effectLst/>
        </p:spPr>
        <p:txBody>
          <a:bodyPr wrap="none" anchor="ctr"/>
          <a:lstStyle/>
          <a:p>
            <a:r>
              <a:rPr lang="en-US"/>
              <a:t>user</a:t>
            </a:r>
          </a:p>
        </p:txBody>
      </p:sp>
      <p:cxnSp>
        <p:nvCxnSpPr>
          <p:cNvPr id="45067" name="AutoShape 11"/>
          <p:cNvCxnSpPr>
            <a:cxnSpLocks noChangeShapeType="1"/>
            <a:stCxn id="45065" idx="0"/>
            <a:endCxn id="45064" idx="0"/>
          </p:cNvCxnSpPr>
          <p:nvPr/>
        </p:nvCxnSpPr>
        <p:spPr bwMode="auto">
          <a:xfrm rot="16200000" flipH="1" flipV="1">
            <a:off x="4075906" y="1867694"/>
            <a:ext cx="1588" cy="3429000"/>
          </a:xfrm>
          <a:prstGeom prst="curvedConnector3">
            <a:avLst>
              <a:gd name="adj1" fmla="val -14400000"/>
            </a:avLst>
          </a:prstGeom>
          <a:noFill/>
          <a:ln w="9525">
            <a:solidFill>
              <a:schemeClr val="tx1"/>
            </a:solidFill>
            <a:round/>
            <a:headEnd/>
            <a:tailEnd type="triangle" w="med" len="med"/>
          </a:ln>
          <a:effectLst/>
        </p:spPr>
      </p:cxnSp>
      <p:cxnSp>
        <p:nvCxnSpPr>
          <p:cNvPr id="45068" name="AutoShape 12"/>
          <p:cNvCxnSpPr>
            <a:cxnSpLocks noChangeShapeType="1"/>
            <a:stCxn id="45064" idx="4"/>
            <a:endCxn id="45065" idx="4"/>
          </p:cNvCxnSpPr>
          <p:nvPr/>
        </p:nvCxnSpPr>
        <p:spPr bwMode="auto">
          <a:xfrm rot="16200000" flipH="1">
            <a:off x="4075906" y="3010694"/>
            <a:ext cx="1588" cy="3429000"/>
          </a:xfrm>
          <a:prstGeom prst="curvedConnector3">
            <a:avLst>
              <a:gd name="adj1" fmla="val 14400000"/>
            </a:avLst>
          </a:prstGeom>
          <a:noFill/>
          <a:ln w="9525">
            <a:solidFill>
              <a:schemeClr val="tx1"/>
            </a:solidFill>
            <a:round/>
            <a:headEnd/>
            <a:tailEnd type="triangle" w="med" len="med"/>
          </a:ln>
          <a:effectLst/>
        </p:spPr>
      </p:cxnSp>
      <p:sp>
        <p:nvSpPr>
          <p:cNvPr id="45069" name="Text Box 13"/>
          <p:cNvSpPr txBox="1">
            <a:spLocks noChangeArrowheads="1"/>
          </p:cNvSpPr>
          <p:nvPr/>
        </p:nvSpPr>
        <p:spPr bwMode="auto">
          <a:xfrm>
            <a:off x="3352800" y="2971800"/>
            <a:ext cx="1530350" cy="366713"/>
          </a:xfrm>
          <a:prstGeom prst="rect">
            <a:avLst/>
          </a:prstGeom>
          <a:noFill/>
          <a:ln w="9525">
            <a:noFill/>
            <a:miter lim="800000"/>
            <a:headEnd/>
            <a:tailEnd/>
          </a:ln>
          <a:effectLst/>
        </p:spPr>
        <p:txBody>
          <a:bodyPr wrap="none" anchor="ctr">
            <a:spAutoFit/>
          </a:bodyPr>
          <a:lstStyle/>
          <a:p>
            <a:pPr>
              <a:spcBef>
                <a:spcPct val="50000"/>
              </a:spcBef>
            </a:pPr>
            <a:r>
              <a:rPr lang="en-US"/>
              <a:t>Interrupt/fault</a:t>
            </a:r>
          </a:p>
        </p:txBody>
      </p:sp>
      <p:sp>
        <p:nvSpPr>
          <p:cNvPr id="45070" name="Text Box 14"/>
          <p:cNvSpPr txBox="1">
            <a:spLocks noChangeArrowheads="1"/>
          </p:cNvSpPr>
          <p:nvPr/>
        </p:nvSpPr>
        <p:spPr bwMode="auto">
          <a:xfrm>
            <a:off x="3302000" y="4419600"/>
            <a:ext cx="1631950" cy="366713"/>
          </a:xfrm>
          <a:prstGeom prst="rect">
            <a:avLst/>
          </a:prstGeom>
          <a:noFill/>
          <a:ln w="9525">
            <a:noFill/>
            <a:miter lim="800000"/>
            <a:headEnd/>
            <a:tailEnd/>
          </a:ln>
          <a:effectLst/>
        </p:spPr>
        <p:txBody>
          <a:bodyPr wrap="none" anchor="ctr">
            <a:spAutoFit/>
          </a:bodyPr>
          <a:lstStyle/>
          <a:p>
            <a:pPr>
              <a:spcBef>
                <a:spcPct val="50000"/>
              </a:spcBef>
            </a:pPr>
            <a:r>
              <a:rPr lang="en-US"/>
              <a:t>set user mode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46082" name="Rectangle 2"/>
          <p:cNvSpPr>
            <a:spLocks noGrp="1" noChangeArrowheads="1"/>
          </p:cNvSpPr>
          <p:nvPr>
            <p:ph type="title"/>
          </p:nvPr>
        </p:nvSpPr>
        <p:spPr/>
        <p:txBody>
          <a:bodyPr/>
          <a:lstStyle/>
          <a:p>
            <a:r>
              <a:rPr lang="en-US"/>
              <a:t>I/O Protection</a:t>
            </a:r>
          </a:p>
        </p:txBody>
      </p:sp>
      <p:sp>
        <p:nvSpPr>
          <p:cNvPr id="46083" name="Rectangle 3"/>
          <p:cNvSpPr>
            <a:spLocks noGrp="1" noChangeArrowheads="1"/>
          </p:cNvSpPr>
          <p:nvPr>
            <p:ph type="body" idx="1"/>
          </p:nvPr>
        </p:nvSpPr>
        <p:spPr/>
        <p:txBody>
          <a:bodyPr/>
          <a:lstStyle/>
          <a:p>
            <a:pPr algn="just"/>
            <a:r>
              <a:rPr lang="en-US" dirty="0"/>
              <a:t>All I/O instructions are privileged instructions.</a:t>
            </a:r>
          </a:p>
          <a:p>
            <a:pPr algn="just"/>
            <a:r>
              <a:rPr lang="en-US" dirty="0"/>
              <a:t>Must ensure that a user program could never gain control of the computer in monitor mode (I.e., a user program that, as part of its execution, stores a new address in the interrupt vector).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47106" name="Rectangle 2"/>
          <p:cNvSpPr>
            <a:spLocks noGrp="1" noChangeArrowheads="1"/>
          </p:cNvSpPr>
          <p:nvPr>
            <p:ph type="title"/>
          </p:nvPr>
        </p:nvSpPr>
        <p:spPr/>
        <p:txBody>
          <a:bodyPr/>
          <a:lstStyle/>
          <a:p>
            <a:r>
              <a:rPr lang="en-US"/>
              <a:t>Memory Protection</a:t>
            </a:r>
          </a:p>
        </p:txBody>
      </p:sp>
      <p:sp>
        <p:nvSpPr>
          <p:cNvPr id="47107" name="Rectangle 3"/>
          <p:cNvSpPr>
            <a:spLocks noGrp="1" noChangeArrowheads="1"/>
          </p:cNvSpPr>
          <p:nvPr>
            <p:ph type="body" idx="1"/>
          </p:nvPr>
        </p:nvSpPr>
        <p:spPr/>
        <p:txBody>
          <a:bodyPr/>
          <a:lstStyle/>
          <a:p>
            <a:r>
              <a:rPr lang="en-US"/>
              <a:t>Must provide memory protection at least for the interrupt vector and the interrupt service routines.</a:t>
            </a:r>
          </a:p>
          <a:p>
            <a:r>
              <a:rPr lang="en-US"/>
              <a:t>In order to have memory protection, add two registers that determine the range of legal addresses a program may access:</a:t>
            </a:r>
          </a:p>
          <a:p>
            <a:pPr lvl="1"/>
            <a:r>
              <a:rPr lang="en-US" b="1"/>
              <a:t>base register</a:t>
            </a:r>
            <a:r>
              <a:rPr lang="en-US"/>
              <a:t> – holds the smallest legal physical memory address.</a:t>
            </a:r>
          </a:p>
          <a:p>
            <a:pPr lvl="1"/>
            <a:r>
              <a:rPr lang="en-US" b="1"/>
              <a:t>Limit register</a:t>
            </a:r>
            <a:r>
              <a:rPr lang="en-US"/>
              <a:t> – contains the size of the range </a:t>
            </a:r>
          </a:p>
          <a:p>
            <a:r>
              <a:rPr lang="en-US"/>
              <a:t>Memory outside the defined range is protected.</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48130" name="Rectangle 2"/>
          <p:cNvSpPr>
            <a:spLocks noGrp="1" noChangeArrowheads="1"/>
          </p:cNvSpPr>
          <p:nvPr>
            <p:ph type="title"/>
          </p:nvPr>
        </p:nvSpPr>
        <p:spPr>
          <a:xfrm>
            <a:off x="152400" y="495300"/>
            <a:ext cx="9067800" cy="457200"/>
          </a:xfrm>
        </p:spPr>
        <p:txBody>
          <a:bodyPr/>
          <a:lstStyle/>
          <a:p>
            <a:r>
              <a:rPr lang="en-US" sz="2000"/>
              <a:t>A Base And A limit Register Define A Logical Address Space</a:t>
            </a:r>
          </a:p>
        </p:txBody>
      </p:sp>
      <p:pic>
        <p:nvPicPr>
          <p:cNvPr id="48137" name="Picture 9"/>
          <p:cNvPicPr>
            <a:picLocks noChangeAspect="1" noChangeArrowheads="1"/>
          </p:cNvPicPr>
          <p:nvPr/>
        </p:nvPicPr>
        <p:blipFill>
          <a:blip r:embed="rId2"/>
          <a:srcRect l="14474" t="1021" r="14644" b="1794"/>
          <a:stretch>
            <a:fillRect/>
          </a:stretch>
        </p:blipFill>
        <p:spPr bwMode="auto">
          <a:xfrm>
            <a:off x="2846388" y="1563688"/>
            <a:ext cx="3995737" cy="4383087"/>
          </a:xfrm>
          <a:prstGeom prst="rect">
            <a:avLst/>
          </a:prstGeom>
          <a:noFill/>
          <a:ln w="9525">
            <a:noFill/>
            <a:miter lim="800000"/>
            <a:headEnd/>
            <a:tailEnd/>
          </a:ln>
          <a:effec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t>Operating System Concepts</a:t>
            </a:r>
          </a:p>
        </p:txBody>
      </p:sp>
      <p:sp>
        <p:nvSpPr>
          <p:cNvPr id="49154" name="Rectangle 2"/>
          <p:cNvSpPr>
            <a:spLocks noGrp="1" noChangeArrowheads="1"/>
          </p:cNvSpPr>
          <p:nvPr>
            <p:ph type="title"/>
          </p:nvPr>
        </p:nvSpPr>
        <p:spPr/>
        <p:txBody>
          <a:bodyPr/>
          <a:lstStyle/>
          <a:p>
            <a:r>
              <a:rPr lang="en-US"/>
              <a:t>Protection Hardware</a:t>
            </a:r>
          </a:p>
        </p:txBody>
      </p:sp>
      <p:sp>
        <p:nvSpPr>
          <p:cNvPr id="49155" name="Rectangle 3"/>
          <p:cNvSpPr>
            <a:spLocks noGrp="1" noChangeArrowheads="1"/>
          </p:cNvSpPr>
          <p:nvPr>
            <p:ph type="body" idx="1"/>
          </p:nvPr>
        </p:nvSpPr>
        <p:spPr>
          <a:xfrm>
            <a:off x="838200" y="4495800"/>
            <a:ext cx="7029450" cy="1552575"/>
          </a:xfrm>
        </p:spPr>
        <p:txBody>
          <a:bodyPr/>
          <a:lstStyle/>
          <a:p>
            <a:r>
              <a:rPr lang="en-US"/>
              <a:t>When executing in monitor mode, the operating system has unrestricted access to both monitor and user’s memory.</a:t>
            </a:r>
          </a:p>
          <a:p>
            <a:r>
              <a:rPr lang="en-US"/>
              <a:t>The load instructions for the </a:t>
            </a:r>
            <a:r>
              <a:rPr lang="en-US" i="1"/>
              <a:t>base</a:t>
            </a:r>
            <a:r>
              <a:rPr lang="en-US"/>
              <a:t> and </a:t>
            </a:r>
            <a:r>
              <a:rPr lang="en-US" i="1"/>
              <a:t>limit</a:t>
            </a:r>
            <a:r>
              <a:rPr lang="en-US"/>
              <a:t> registers are privileged instructions.</a:t>
            </a:r>
          </a:p>
        </p:txBody>
      </p:sp>
      <p:pic>
        <p:nvPicPr>
          <p:cNvPr id="49162" name="Picture 10"/>
          <p:cNvPicPr>
            <a:picLocks noChangeAspect="1" noChangeArrowheads="1"/>
          </p:cNvPicPr>
          <p:nvPr/>
        </p:nvPicPr>
        <p:blipFill>
          <a:blip r:embed="rId2"/>
          <a:srcRect l="519" t="23012" r="476" b="23203"/>
          <a:stretch>
            <a:fillRect/>
          </a:stretch>
        </p:blipFill>
        <p:spPr bwMode="auto">
          <a:xfrm>
            <a:off x="744538" y="1430338"/>
            <a:ext cx="6848475" cy="2976562"/>
          </a:xfrm>
          <a:prstGeom prst="rect">
            <a:avLst/>
          </a:prstGeom>
          <a:noFill/>
          <a:ln w="9525">
            <a:noFill/>
            <a:miter lim="800000"/>
            <a:headEnd/>
            <a:tailEnd/>
          </a:ln>
          <a:effec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50178" name="Rectangle 2"/>
          <p:cNvSpPr>
            <a:spLocks noGrp="1" noChangeArrowheads="1"/>
          </p:cNvSpPr>
          <p:nvPr>
            <p:ph type="title"/>
          </p:nvPr>
        </p:nvSpPr>
        <p:spPr/>
        <p:txBody>
          <a:bodyPr/>
          <a:lstStyle/>
          <a:p>
            <a:r>
              <a:rPr lang="en-US"/>
              <a:t>CPU Protection</a:t>
            </a:r>
          </a:p>
        </p:txBody>
      </p:sp>
      <p:sp>
        <p:nvSpPr>
          <p:cNvPr id="50179" name="Rectangle 3"/>
          <p:cNvSpPr>
            <a:spLocks noGrp="1" noChangeArrowheads="1"/>
          </p:cNvSpPr>
          <p:nvPr>
            <p:ph type="body" idx="1"/>
          </p:nvPr>
        </p:nvSpPr>
        <p:spPr/>
        <p:txBody>
          <a:bodyPr/>
          <a:lstStyle/>
          <a:p>
            <a:r>
              <a:rPr lang="en-US" i="1"/>
              <a:t>Timer</a:t>
            </a:r>
            <a:r>
              <a:rPr lang="en-US"/>
              <a:t> – interrupts computer after specified period to ensure operating system maintains control.</a:t>
            </a:r>
          </a:p>
          <a:p>
            <a:pPr lvl="1"/>
            <a:r>
              <a:rPr lang="en-US"/>
              <a:t>Timer is decremented every clock tick.</a:t>
            </a:r>
          </a:p>
          <a:p>
            <a:pPr lvl="1"/>
            <a:r>
              <a:rPr lang="en-US"/>
              <a:t>When timer reaches the value 0, an interrupt occurs.</a:t>
            </a:r>
          </a:p>
          <a:p>
            <a:r>
              <a:rPr lang="en-US"/>
              <a:t>Timer commonly used to implement time sharing.</a:t>
            </a:r>
          </a:p>
          <a:p>
            <a:r>
              <a:rPr lang="en-US"/>
              <a:t>Time also used to compute the current time.</a:t>
            </a:r>
          </a:p>
          <a:p>
            <a:r>
              <a:rPr lang="en-US"/>
              <a:t>Load-timer is a privileged instruction.</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Operating System Concepts</a:t>
            </a:r>
          </a:p>
        </p:txBody>
      </p:sp>
      <p:sp>
        <p:nvSpPr>
          <p:cNvPr id="51202" name="Rectangle 2"/>
          <p:cNvSpPr>
            <a:spLocks noGrp="1" noChangeArrowheads="1"/>
          </p:cNvSpPr>
          <p:nvPr>
            <p:ph type="title"/>
          </p:nvPr>
        </p:nvSpPr>
        <p:spPr/>
        <p:txBody>
          <a:bodyPr/>
          <a:lstStyle/>
          <a:p>
            <a:r>
              <a:rPr lang="en-US"/>
              <a:t>General-System Architecture</a:t>
            </a:r>
          </a:p>
        </p:txBody>
      </p:sp>
      <p:sp>
        <p:nvSpPr>
          <p:cNvPr id="51203" name="Rectangle 3"/>
          <p:cNvSpPr>
            <a:spLocks noGrp="1" noChangeArrowheads="1"/>
          </p:cNvSpPr>
          <p:nvPr>
            <p:ph type="body" idx="1"/>
          </p:nvPr>
        </p:nvSpPr>
        <p:spPr/>
        <p:txBody>
          <a:bodyPr/>
          <a:lstStyle/>
          <a:p>
            <a:r>
              <a:rPr lang="en-US"/>
              <a:t>Given the I/O instructions are privileged, how does the user program perform I/O?</a:t>
            </a:r>
          </a:p>
          <a:p>
            <a:r>
              <a:rPr lang="en-US"/>
              <a:t>System call – the method used by a process to request action by the operating system.</a:t>
            </a:r>
          </a:p>
          <a:p>
            <a:pPr lvl="1"/>
            <a:r>
              <a:rPr lang="en-US"/>
              <a:t>Usually takes the form of a trap to a specific location in the interrupt vector.</a:t>
            </a:r>
          </a:p>
          <a:p>
            <a:pPr lvl="1"/>
            <a:r>
              <a:rPr lang="en-US"/>
              <a:t>Control passes through the interrupt vector to a service routine in the OS, and the mode bit is set to monitor mode. </a:t>
            </a:r>
          </a:p>
          <a:p>
            <a:pPr lvl="1"/>
            <a:r>
              <a:rPr lang="en-US"/>
              <a:t>The monitor verifies that the parameters are correct and legal, executes the request, and returns control to the instruction following the system call.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r>
              <a:rPr lang="en-US"/>
              <a:t>Operating System Concepts</a:t>
            </a:r>
          </a:p>
        </p:txBody>
      </p:sp>
      <p:sp>
        <p:nvSpPr>
          <p:cNvPr id="59394" name="Rectangle 2"/>
          <p:cNvSpPr>
            <a:spLocks noGrp="1" noChangeArrowheads="1"/>
          </p:cNvSpPr>
          <p:nvPr>
            <p:ph type="title"/>
          </p:nvPr>
        </p:nvSpPr>
        <p:spPr/>
        <p:txBody>
          <a:bodyPr/>
          <a:lstStyle/>
          <a:p>
            <a:r>
              <a:rPr lang="en-US"/>
              <a:t>Use of A System Call to Perform I/O</a:t>
            </a:r>
          </a:p>
        </p:txBody>
      </p:sp>
      <p:pic>
        <p:nvPicPr>
          <p:cNvPr id="59397" name="Picture 5"/>
          <p:cNvPicPr>
            <a:picLocks noChangeAspect="1" noChangeArrowheads="1"/>
          </p:cNvPicPr>
          <p:nvPr/>
        </p:nvPicPr>
        <p:blipFill>
          <a:blip r:embed="rId2"/>
          <a:srcRect l="17307" t="948" r="17307" b="575"/>
          <a:stretch>
            <a:fillRect/>
          </a:stretch>
        </p:blipFill>
        <p:spPr bwMode="auto">
          <a:xfrm>
            <a:off x="2451100" y="1452563"/>
            <a:ext cx="3838575" cy="4624387"/>
          </a:xfrm>
          <a:prstGeom prst="rect">
            <a:avLst/>
          </a:prstGeom>
          <a:noFill/>
          <a:ln w="9525">
            <a:noFill/>
            <a:miter lim="800000"/>
            <a:headEnd/>
            <a:tailEnd/>
          </a:ln>
          <a:effectLst/>
        </p:spPr>
      </p:pic>
    </p:spTree>
  </p:cSld>
  <p:clrMapOvr>
    <a:masterClrMapping/>
  </p:clrMapOvr>
  <p:transition/>
</p:sld>
</file>

<file path=ppt/theme/theme1.xml><?xml version="1.0" encoding="utf-8"?>
<a:theme xmlns:a="http://schemas.openxmlformats.org/drawingml/2006/main" name="avi.pot">
  <a:themeElements>
    <a:clrScheme name="avi.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pot">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10365</TotalTime>
  <Words>1480</Words>
  <Application>Microsoft Office PowerPoint</Application>
  <PresentationFormat>On-screen Show (4:3)</PresentationFormat>
  <Paragraphs>155</Paragraphs>
  <Slides>31</Slides>
  <Notes>1</Notes>
  <HiddenSlides>13</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3" baseType="lpstr">
      <vt:lpstr>avi.pot</vt:lpstr>
      <vt:lpstr>Bitmap Image</vt:lpstr>
      <vt:lpstr>Module 2:  Computer-System Structures</vt:lpstr>
      <vt:lpstr>Computer-System Architecture</vt:lpstr>
      <vt:lpstr>Computer-System Operation</vt:lpstr>
      <vt:lpstr>Common Functions of Interrupts</vt:lpstr>
      <vt:lpstr>Interrupt Handling</vt:lpstr>
      <vt:lpstr>Interrupt Time Line For a Single Process Doing Output</vt:lpstr>
      <vt:lpstr>I/O Structure</vt:lpstr>
      <vt:lpstr>Two I/O methods</vt:lpstr>
      <vt:lpstr>Device-Status Table</vt:lpstr>
      <vt:lpstr>Direct Memory Access (DMA) Structure</vt:lpstr>
      <vt:lpstr>The basic computer </vt:lpstr>
      <vt:lpstr>Computer System with DMA</vt:lpstr>
      <vt:lpstr>Working</vt:lpstr>
      <vt:lpstr>PowerPoint Presentation</vt:lpstr>
      <vt:lpstr>Implementing DMA in a Computer System</vt:lpstr>
      <vt:lpstr>Data Transfer using DMA Controller</vt:lpstr>
      <vt:lpstr>Storage Structure</vt:lpstr>
      <vt:lpstr>Moving-Head Disk Mechanism(Magnetic Disk)</vt:lpstr>
      <vt:lpstr>Magnetic Tapes</vt:lpstr>
      <vt:lpstr>Storage Hierarchy</vt:lpstr>
      <vt:lpstr>Storage-Device Hierarchy</vt:lpstr>
      <vt:lpstr>Hardware Protection</vt:lpstr>
      <vt:lpstr>Dual-Mode Operation</vt:lpstr>
      <vt:lpstr>Dual-Mode Operation (Cont.)</vt:lpstr>
      <vt:lpstr>I/O Protection</vt:lpstr>
      <vt:lpstr>Memory Protection</vt:lpstr>
      <vt:lpstr>A Base And A limit Register Define A Logical Address Space</vt:lpstr>
      <vt:lpstr>Protection Hardware</vt:lpstr>
      <vt:lpstr>CPU Protection</vt:lpstr>
      <vt:lpstr>General-System Architecture</vt:lpstr>
      <vt:lpstr>Use of A System Call to Perform I/O</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Administrator</cp:lastModifiedBy>
  <cp:revision>48</cp:revision>
  <cp:lastPrinted>1999-09-03T18:43:39Z</cp:lastPrinted>
  <dcterms:created xsi:type="dcterms:W3CDTF">1999-06-29T15:33:47Z</dcterms:created>
  <dcterms:modified xsi:type="dcterms:W3CDTF">2018-07-10T07:01:36Z</dcterms:modified>
</cp:coreProperties>
</file>