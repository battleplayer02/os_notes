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78" r:id="rId5"/>
    <p:sldId id="259" r:id="rId6"/>
    <p:sldId id="279" r:id="rId7"/>
    <p:sldId id="280" r:id="rId8"/>
    <p:sldId id="260" r:id="rId9"/>
    <p:sldId id="281" r:id="rId10"/>
    <p:sldId id="282" r:id="rId11"/>
    <p:sldId id="261" r:id="rId12"/>
    <p:sldId id="283" r:id="rId13"/>
    <p:sldId id="262" r:id="rId14"/>
    <p:sldId id="263" r:id="rId15"/>
    <p:sldId id="264" r:id="rId16"/>
    <p:sldId id="265" r:id="rId17"/>
    <p:sldId id="284" r:id="rId18"/>
    <p:sldId id="266" r:id="rId19"/>
    <p:sldId id="267" r:id="rId20"/>
    <p:sldId id="268" r:id="rId21"/>
    <p:sldId id="269" r:id="rId22"/>
    <p:sldId id="270" r:id="rId23"/>
    <p:sldId id="286" r:id="rId24"/>
    <p:sldId id="287" r:id="rId25"/>
    <p:sldId id="288" r:id="rId26"/>
    <p:sldId id="289" r:id="rId27"/>
    <p:sldId id="291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 type="screen4x3"/>
  <p:notesSz cx="6991350" cy="928211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F3C1AA-93C1-4DF8-8F0F-DE5DD9D56CA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6338" y="696913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762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8563"/>
            <a:ext cx="30289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985" tIns="46493" rIns="92985" bIns="46493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fld id="{E657A122-4008-4A88-A104-CF0300AB536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84213" y="342900"/>
            <a:ext cx="7831137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Operating System Concepts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1000"/>
              <a:t>Silberschatz and Galvin </a:t>
            </a:r>
            <a:r>
              <a:rPr lang="en-US" sz="1000">
                <a:sym typeface="Symbol" pitchFamily="18" charset="2"/>
              </a:rPr>
              <a:t>1999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1033" name="AutoShape 9"/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4311650" y="6583363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/>
              <a:t>4.</a:t>
            </a:r>
            <a:fld id="{90977F2D-9D9B-417F-BD28-6B131DAFE6FA}" type="slidenum">
              <a:rPr lang="en-US" sz="1000"/>
              <a:pPr>
                <a:spcBef>
                  <a:spcPct val="50000"/>
                </a:spcBef>
              </a:pPr>
              <a:t>‹#›</a:t>
            </a:fld>
            <a:endParaRPr 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4:  Processes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 Concept</a:t>
            </a:r>
          </a:p>
          <a:p>
            <a:r>
              <a:rPr lang="en-US"/>
              <a:t>Process Scheduling</a:t>
            </a:r>
          </a:p>
          <a:p>
            <a:r>
              <a:rPr lang="en-US"/>
              <a:t>Operation on Processes</a:t>
            </a:r>
          </a:p>
          <a:p>
            <a:r>
              <a:rPr lang="en-US"/>
              <a:t>Cooperating Processes</a:t>
            </a:r>
          </a:p>
          <a:p>
            <a:r>
              <a:rPr lang="en-US"/>
              <a:t>Interprocess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Concept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operating system executes a variety of programs:</a:t>
            </a:r>
          </a:p>
          <a:p>
            <a:pPr lvl="1"/>
            <a:r>
              <a:rPr lang="en-US"/>
              <a:t>Batch system – jobs</a:t>
            </a:r>
          </a:p>
          <a:p>
            <a:pPr lvl="1"/>
            <a:r>
              <a:rPr lang="en-US"/>
              <a:t>Time-shared systems – user programs or tasks</a:t>
            </a:r>
          </a:p>
          <a:p>
            <a:r>
              <a:rPr lang="en-US"/>
              <a:t>Textbook uses the terms </a:t>
            </a:r>
            <a:r>
              <a:rPr lang="en-US" i="1"/>
              <a:t>job</a:t>
            </a:r>
            <a:r>
              <a:rPr lang="en-US"/>
              <a:t> and </a:t>
            </a:r>
            <a:r>
              <a:rPr lang="en-US" i="1"/>
              <a:t>process</a:t>
            </a:r>
            <a:r>
              <a:rPr lang="en-US"/>
              <a:t> almost interchangeably.</a:t>
            </a:r>
          </a:p>
          <a:p>
            <a:r>
              <a:rPr lang="en-US"/>
              <a:t>Process – a program in execution; process execution must progress in sequential fashion.</a:t>
            </a:r>
          </a:p>
          <a:p>
            <a:r>
              <a:rPr lang="en-US"/>
              <a:t>A process includes:</a:t>
            </a:r>
          </a:p>
          <a:p>
            <a:pPr lvl="1"/>
            <a:r>
              <a:rPr lang="en-US"/>
              <a:t>program counter </a:t>
            </a:r>
          </a:p>
          <a:p>
            <a:pPr lvl="1"/>
            <a:r>
              <a:rPr lang="en-US"/>
              <a:t>stack</a:t>
            </a:r>
          </a:p>
          <a:p>
            <a:pPr lvl="1"/>
            <a:r>
              <a:rPr lang="en-US"/>
              <a:t>data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State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029450" cy="2695575"/>
          </a:xfrm>
        </p:spPr>
        <p:txBody>
          <a:bodyPr/>
          <a:lstStyle/>
          <a:p>
            <a:r>
              <a:rPr lang="en-US"/>
              <a:t>As a process executes, it changes </a:t>
            </a:r>
            <a:r>
              <a:rPr lang="en-US" i="1"/>
              <a:t>state</a:t>
            </a:r>
            <a:endParaRPr lang="en-US"/>
          </a:p>
          <a:p>
            <a:pPr lvl="1"/>
            <a:r>
              <a:rPr lang="en-US"/>
              <a:t>new:  The process is being created.</a:t>
            </a:r>
          </a:p>
          <a:p>
            <a:pPr lvl="1"/>
            <a:r>
              <a:rPr lang="en-US"/>
              <a:t>running:  Instructions are being executed.</a:t>
            </a:r>
          </a:p>
          <a:p>
            <a:pPr lvl="1"/>
            <a:r>
              <a:rPr lang="en-US"/>
              <a:t>waiting:  The process is waiting for some event to occur.</a:t>
            </a:r>
          </a:p>
          <a:p>
            <a:pPr lvl="1"/>
            <a:r>
              <a:rPr lang="en-US"/>
              <a:t>ready:  The process is waiting to be assigned to a process.</a:t>
            </a:r>
          </a:p>
          <a:p>
            <a:pPr lvl="1"/>
            <a:r>
              <a:rPr lang="en-US"/>
              <a:t>terminated:  The process has finished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Diagram of Process State</a:t>
            </a:r>
          </a:p>
        </p:txBody>
      </p:sp>
      <p:pic>
        <p:nvPicPr>
          <p:cNvPr id="53255" name="Picture 7"/>
          <p:cNvPicPr>
            <a:picLocks noChangeAspect="1" noChangeArrowheads="1"/>
          </p:cNvPicPr>
          <p:nvPr/>
        </p:nvPicPr>
        <p:blipFill>
          <a:blip r:embed="rId2"/>
          <a:srcRect l="566" t="25691" r="592" b="25531"/>
          <a:stretch>
            <a:fillRect/>
          </a:stretch>
        </p:blipFill>
        <p:spPr bwMode="auto">
          <a:xfrm>
            <a:off x="1558925" y="2563813"/>
            <a:ext cx="6100763" cy="240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 Block (PCB)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Information associated with each process.</a:t>
            </a:r>
          </a:p>
          <a:p>
            <a:r>
              <a:rPr lang="en-US"/>
              <a:t>Process state</a:t>
            </a:r>
          </a:p>
          <a:p>
            <a:r>
              <a:rPr lang="en-US"/>
              <a:t>Program counter</a:t>
            </a:r>
          </a:p>
          <a:p>
            <a:r>
              <a:rPr lang="en-US"/>
              <a:t>CPU registers</a:t>
            </a:r>
          </a:p>
          <a:p>
            <a:r>
              <a:rPr lang="en-US"/>
              <a:t>CPU scheduling information</a:t>
            </a:r>
          </a:p>
          <a:p>
            <a:r>
              <a:rPr lang="en-US"/>
              <a:t>Memory-management information</a:t>
            </a:r>
          </a:p>
          <a:p>
            <a:r>
              <a:rPr lang="en-US"/>
              <a:t>Accounting information</a:t>
            </a:r>
          </a:p>
          <a:p>
            <a:r>
              <a:rPr lang="en-US"/>
              <a:t>I/O status information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 Block (PCB)</a:t>
            </a:r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2"/>
          <a:srcRect l="28017" t="731" r="28017" b="540"/>
          <a:stretch>
            <a:fillRect/>
          </a:stretch>
        </p:blipFill>
        <p:spPr bwMode="auto">
          <a:xfrm>
            <a:off x="3100388" y="1263650"/>
            <a:ext cx="2747962" cy="493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Switch From Process to Process</a:t>
            </a:r>
          </a:p>
        </p:txBody>
      </p:sp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2"/>
          <a:srcRect l="3227" t="832" r="2957" b="1047"/>
          <a:stretch>
            <a:fillRect/>
          </a:stretch>
        </p:blipFill>
        <p:spPr bwMode="auto">
          <a:xfrm>
            <a:off x="1570038" y="1289050"/>
            <a:ext cx="6045200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Scheduling Queues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029450" cy="2009775"/>
          </a:xfrm>
        </p:spPr>
        <p:txBody>
          <a:bodyPr/>
          <a:lstStyle/>
          <a:p>
            <a:r>
              <a:rPr lang="en-US"/>
              <a:t>Job queue – set of all processes in the system.</a:t>
            </a:r>
          </a:p>
          <a:p>
            <a:r>
              <a:rPr lang="en-US"/>
              <a:t>Ready queue – set of all processes residing in main memory,</a:t>
            </a:r>
            <a:br>
              <a:rPr lang="en-US"/>
            </a:br>
            <a:r>
              <a:rPr lang="en-US"/>
              <a:t>ready and waiting to execute.</a:t>
            </a:r>
          </a:p>
          <a:p>
            <a:r>
              <a:rPr lang="en-US"/>
              <a:t>Device queues – set of processes waiting for an I/O device.</a:t>
            </a:r>
          </a:p>
          <a:p>
            <a:r>
              <a:rPr lang="en-US"/>
              <a:t>Process migration between the various queues.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95300"/>
            <a:ext cx="8001000" cy="457200"/>
          </a:xfrm>
        </p:spPr>
        <p:txBody>
          <a:bodyPr/>
          <a:lstStyle/>
          <a:p>
            <a:r>
              <a:rPr lang="en-US"/>
              <a:t>Ready Queue And Various I/O Device Queues</a:t>
            </a:r>
          </a:p>
        </p:txBody>
      </p:sp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2"/>
          <a:srcRect l="4250" t="540" r="4106" b="690"/>
          <a:stretch>
            <a:fillRect/>
          </a:stretch>
        </p:blipFill>
        <p:spPr bwMode="auto">
          <a:xfrm>
            <a:off x="1531938" y="1158875"/>
            <a:ext cx="6059487" cy="522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Representation of Process Scheduling</a:t>
            </a:r>
          </a:p>
        </p:txBody>
      </p:sp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2"/>
          <a:srcRect l="526" t="14200" r="777" b="14200"/>
          <a:stretch>
            <a:fillRect/>
          </a:stretch>
        </p:blipFill>
        <p:spPr bwMode="auto">
          <a:xfrm>
            <a:off x="1169988" y="1768475"/>
            <a:ext cx="6854825" cy="397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Schedulers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724025"/>
            <a:ext cx="7029450" cy="1476375"/>
          </a:xfrm>
        </p:spPr>
        <p:txBody>
          <a:bodyPr/>
          <a:lstStyle/>
          <a:p>
            <a:r>
              <a:rPr lang="en-US"/>
              <a:t>Long-term scheduler (or job scheduler) – selects which processes should be brought into the ready queue.</a:t>
            </a:r>
          </a:p>
          <a:p>
            <a:r>
              <a:rPr lang="en-US"/>
              <a:t>Short-term scheduler (or CPU scheduler) – selects which process should be executed next and allocates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 of Medium Term Scheduling</a:t>
            </a:r>
          </a:p>
        </p:txBody>
      </p:sp>
      <p:pic>
        <p:nvPicPr>
          <p:cNvPr id="58377" name="Picture 9"/>
          <p:cNvPicPr>
            <a:picLocks noChangeAspect="1" noChangeArrowheads="1"/>
          </p:cNvPicPr>
          <p:nvPr/>
        </p:nvPicPr>
        <p:blipFill>
          <a:blip r:embed="rId2"/>
          <a:srcRect l="580" t="27388" r="580" b="27545"/>
          <a:stretch>
            <a:fillRect/>
          </a:stretch>
        </p:blipFill>
        <p:spPr bwMode="auto">
          <a:xfrm>
            <a:off x="925513" y="2054225"/>
            <a:ext cx="7345362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Schedulers (Cont.)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Short-term scheduler is invoked very frequently (milliseconds)</a:t>
            </a:r>
            <a:br>
              <a:rPr lang="en-US"/>
            </a:br>
            <a:r>
              <a:rPr lang="en-US">
                <a:sym typeface="Symbol" pitchFamily="18" charset="2"/>
              </a:rPr>
              <a:t> (must be fast).</a:t>
            </a:r>
          </a:p>
          <a:p>
            <a:r>
              <a:rPr lang="en-US">
                <a:sym typeface="Symbol" pitchFamily="18" charset="2"/>
              </a:rPr>
              <a:t>Long-term scheduler is invoked very infrequently (seconds, minutes)  (may be slow).</a:t>
            </a:r>
          </a:p>
          <a:p>
            <a:r>
              <a:rPr lang="en-US">
                <a:sym typeface="Symbol" pitchFamily="18" charset="2"/>
              </a:rPr>
              <a:t>The long-term scheduler controls the </a:t>
            </a:r>
            <a:r>
              <a:rPr lang="en-US" i="1">
                <a:sym typeface="Symbol" pitchFamily="18" charset="2"/>
              </a:rPr>
              <a:t>degree of multiprogramming.</a:t>
            </a:r>
          </a:p>
          <a:p>
            <a:r>
              <a:rPr lang="en-US">
                <a:sym typeface="Symbol" pitchFamily="18" charset="2"/>
              </a:rPr>
              <a:t>Processes can be described as either:</a:t>
            </a:r>
          </a:p>
          <a:p>
            <a:pPr lvl="1"/>
            <a:r>
              <a:rPr lang="en-US">
                <a:sym typeface="Symbol" pitchFamily="18" charset="2"/>
              </a:rPr>
              <a:t>I/O-</a:t>
            </a:r>
            <a:r>
              <a:rPr lang="en-US" i="1">
                <a:sym typeface="Symbol" pitchFamily="18" charset="2"/>
              </a:rPr>
              <a:t>bound process</a:t>
            </a:r>
            <a:r>
              <a:rPr lang="en-US">
                <a:sym typeface="Symbol" pitchFamily="18" charset="2"/>
              </a:rPr>
              <a:t> – spends more time doing I/O than computations, many short CPU bursts.</a:t>
            </a:r>
          </a:p>
          <a:p>
            <a:pPr lvl="1"/>
            <a:r>
              <a:rPr lang="en-US">
                <a:sym typeface="Symbol" pitchFamily="18" charset="2"/>
              </a:rPr>
              <a:t>CPU-</a:t>
            </a:r>
            <a:r>
              <a:rPr lang="en-US" i="1">
                <a:sym typeface="Symbol" pitchFamily="18" charset="2"/>
              </a:rPr>
              <a:t>bound process</a:t>
            </a:r>
            <a:r>
              <a:rPr lang="en-US">
                <a:sym typeface="Symbol" pitchFamily="18" charset="2"/>
              </a:rPr>
              <a:t> – spends more time doing computations; few very long CPU bursts.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Switch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49" y="1724025"/>
            <a:ext cx="7505407" cy="4592369"/>
          </a:xfrm>
        </p:spPr>
        <p:txBody>
          <a:bodyPr/>
          <a:lstStyle/>
          <a:p>
            <a:r>
              <a:rPr lang="en-US" dirty="0"/>
              <a:t>When CPU switches to another process, the system must save the state of the old process and load the saved state for the new process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Context</a:t>
            </a:r>
            <a:r>
              <a:rPr lang="en-US" dirty="0" smtClean="0"/>
              <a:t> of a process is represented in the </a:t>
            </a:r>
            <a:r>
              <a:rPr lang="en-US" b="1" dirty="0" smtClean="0"/>
              <a:t>PCB</a:t>
            </a:r>
            <a:r>
              <a:rPr lang="en-US" dirty="0" smtClean="0"/>
              <a:t> of a process.</a:t>
            </a:r>
          </a:p>
          <a:p>
            <a:r>
              <a:rPr lang="en-US" dirty="0" smtClean="0"/>
              <a:t>When a context switch occurs, the kernel  saves the context of a old process in its  PCB and loads the saved context of the new process schedule to run.</a:t>
            </a:r>
            <a:endParaRPr lang="en-US" dirty="0"/>
          </a:p>
          <a:p>
            <a:r>
              <a:rPr lang="en-US" dirty="0"/>
              <a:t>Context-switch time is overhead; the system does no useful work while switching.</a:t>
            </a:r>
          </a:p>
          <a:p>
            <a:r>
              <a:rPr lang="en-US" dirty="0" smtClean="0"/>
              <a:t>Switching </a:t>
            </a:r>
            <a:r>
              <a:rPr lang="en-US" dirty="0" smtClean="0"/>
              <a:t>Time </a:t>
            </a:r>
            <a:r>
              <a:rPr lang="en-US" dirty="0"/>
              <a:t>dependent on hardware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Creation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Parent process creates children processes, which, in turn create other processes, forming a tree of processes.</a:t>
            </a:r>
          </a:p>
          <a:p>
            <a:r>
              <a:rPr lang="en-US"/>
              <a:t>Resource sharing</a:t>
            </a:r>
          </a:p>
          <a:p>
            <a:pPr lvl="1"/>
            <a:r>
              <a:rPr lang="en-US"/>
              <a:t>Parent and children share all resources.</a:t>
            </a:r>
          </a:p>
          <a:p>
            <a:pPr lvl="1"/>
            <a:r>
              <a:rPr lang="en-US"/>
              <a:t>Children share subset of parent’s resources.</a:t>
            </a:r>
          </a:p>
          <a:p>
            <a:pPr lvl="1"/>
            <a:r>
              <a:rPr lang="en-US"/>
              <a:t>Parent and child share no resources.</a:t>
            </a:r>
          </a:p>
          <a:p>
            <a:r>
              <a:rPr lang="en-US"/>
              <a:t>Execution</a:t>
            </a:r>
          </a:p>
          <a:p>
            <a:pPr lvl="1"/>
            <a:r>
              <a:rPr lang="en-US"/>
              <a:t>Parent and children execute concurrently.</a:t>
            </a:r>
          </a:p>
          <a:p>
            <a:pPr lvl="1"/>
            <a:r>
              <a:rPr lang="en-US"/>
              <a:t>Parent waits until children terminate.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Creation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Address space</a:t>
            </a:r>
          </a:p>
          <a:p>
            <a:pPr lvl="1"/>
            <a:r>
              <a:rPr lang="en-US"/>
              <a:t>Child duplicate of parent.</a:t>
            </a:r>
          </a:p>
          <a:p>
            <a:pPr lvl="1"/>
            <a:r>
              <a:rPr lang="en-US"/>
              <a:t>Child has a program loaded into it.</a:t>
            </a:r>
          </a:p>
          <a:p>
            <a:r>
              <a:rPr lang="en-US"/>
              <a:t>UNIX examples</a:t>
            </a:r>
          </a:p>
          <a:p>
            <a:pPr lvl="1"/>
            <a:r>
              <a:rPr lang="en-US" b="1"/>
              <a:t>fork</a:t>
            </a:r>
            <a:r>
              <a:rPr lang="en-US"/>
              <a:t> system call creates new process</a:t>
            </a:r>
          </a:p>
          <a:p>
            <a:pPr lvl="1"/>
            <a:r>
              <a:rPr lang="en-US" b="1"/>
              <a:t>execve</a:t>
            </a:r>
            <a:r>
              <a:rPr lang="en-US"/>
              <a:t> system call used after a </a:t>
            </a:r>
            <a:r>
              <a:rPr lang="en-US" b="1"/>
              <a:t>fork</a:t>
            </a:r>
            <a:r>
              <a:rPr lang="en-US"/>
              <a:t> to replace the process’ memory space with a new program.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95300"/>
            <a:ext cx="8153400" cy="457200"/>
          </a:xfrm>
        </p:spPr>
        <p:txBody>
          <a:bodyPr/>
          <a:lstStyle/>
          <a:p>
            <a:r>
              <a:rPr lang="en-US" sz="2700"/>
              <a:t>A Tree of Processes On A Typical UNIX System</a:t>
            </a:r>
          </a:p>
        </p:txBody>
      </p:sp>
      <p:pic>
        <p:nvPicPr>
          <p:cNvPr id="59400" name="Picture 8"/>
          <p:cNvPicPr>
            <a:picLocks noChangeAspect="1" noChangeArrowheads="1"/>
          </p:cNvPicPr>
          <p:nvPr/>
        </p:nvPicPr>
        <p:blipFill>
          <a:blip r:embed="rId2"/>
          <a:srcRect l="665" t="11009" r="528" b="10808"/>
          <a:stretch>
            <a:fillRect/>
          </a:stretch>
        </p:blipFill>
        <p:spPr bwMode="auto">
          <a:xfrm>
            <a:off x="1416050" y="1590675"/>
            <a:ext cx="6838950" cy="432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Termination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 executes last statement and asks the operating system to decide it (</a:t>
            </a:r>
            <a:r>
              <a:rPr lang="en-US" b="1"/>
              <a:t>exit</a:t>
            </a:r>
            <a:r>
              <a:rPr lang="en-US"/>
              <a:t>).</a:t>
            </a:r>
          </a:p>
          <a:p>
            <a:pPr lvl="1"/>
            <a:r>
              <a:rPr lang="en-US"/>
              <a:t>Output data from child to parent (via </a:t>
            </a:r>
            <a:r>
              <a:rPr lang="en-US" b="1"/>
              <a:t>wait</a:t>
            </a:r>
            <a:r>
              <a:rPr lang="en-US"/>
              <a:t>).</a:t>
            </a:r>
          </a:p>
          <a:p>
            <a:pPr lvl="1"/>
            <a:r>
              <a:rPr lang="en-US"/>
              <a:t>Process’ resources are deallocated by operating system.</a:t>
            </a:r>
          </a:p>
          <a:p>
            <a:r>
              <a:rPr lang="en-US"/>
              <a:t>Parent may terminate execution of children processes (</a:t>
            </a:r>
            <a:r>
              <a:rPr lang="en-US" b="1"/>
              <a:t>abort</a:t>
            </a:r>
            <a:r>
              <a:rPr lang="en-US"/>
              <a:t>).</a:t>
            </a:r>
          </a:p>
          <a:p>
            <a:pPr lvl="1"/>
            <a:r>
              <a:rPr lang="en-US"/>
              <a:t>Child has exceeded allocated resources.</a:t>
            </a:r>
          </a:p>
          <a:p>
            <a:pPr lvl="1"/>
            <a:r>
              <a:rPr lang="en-US"/>
              <a:t>Task assigned to child is no longer required.</a:t>
            </a:r>
          </a:p>
          <a:p>
            <a:pPr lvl="1"/>
            <a:r>
              <a:rPr lang="en-US"/>
              <a:t>Parent is exiting.</a:t>
            </a:r>
          </a:p>
          <a:p>
            <a:pPr lvl="2"/>
            <a:r>
              <a:rPr lang="en-US"/>
              <a:t>Operating system does not allow child to continue if its parent terminates.</a:t>
            </a:r>
          </a:p>
          <a:p>
            <a:pPr lvl="2"/>
            <a:r>
              <a:rPr lang="en-US"/>
              <a:t>Cascading termination.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Cooperating Processes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Independent</a:t>
            </a:r>
            <a:r>
              <a:rPr lang="en-US"/>
              <a:t> process cannot affect or be affected by the execution of another process.</a:t>
            </a:r>
          </a:p>
          <a:p>
            <a:r>
              <a:rPr lang="en-US" i="1"/>
              <a:t>Cooperating</a:t>
            </a:r>
            <a:r>
              <a:rPr lang="en-US"/>
              <a:t> process can affect or be affected by the execution of another process</a:t>
            </a:r>
          </a:p>
          <a:p>
            <a:r>
              <a:rPr lang="en-US"/>
              <a:t>Advantages of process cooperation</a:t>
            </a:r>
          </a:p>
          <a:p>
            <a:pPr lvl="1"/>
            <a:r>
              <a:rPr lang="en-US"/>
              <a:t>Information sharing </a:t>
            </a:r>
          </a:p>
          <a:p>
            <a:pPr lvl="1"/>
            <a:r>
              <a:rPr lang="en-US"/>
              <a:t>Computation speed-up</a:t>
            </a:r>
          </a:p>
          <a:p>
            <a:pPr lvl="1"/>
            <a:r>
              <a:rPr lang="en-US"/>
              <a:t>Modularity</a:t>
            </a:r>
          </a:p>
          <a:p>
            <a:pPr lvl="1"/>
            <a:r>
              <a:rPr lang="en-US"/>
              <a:t>Convenience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Producer-Consumer Problem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Paradigm for cooperating processes, </a:t>
            </a:r>
            <a:r>
              <a:rPr lang="en-US" i="1"/>
              <a:t>producer</a:t>
            </a:r>
            <a:r>
              <a:rPr lang="en-US"/>
              <a:t> process produces information that is consumed by a </a:t>
            </a:r>
            <a:r>
              <a:rPr lang="en-US" i="1"/>
              <a:t>consumer</a:t>
            </a:r>
            <a:r>
              <a:rPr lang="en-US"/>
              <a:t> process.</a:t>
            </a:r>
          </a:p>
          <a:p>
            <a:pPr lvl="1"/>
            <a:r>
              <a:rPr lang="en-US" i="1"/>
              <a:t>unbounded-buffer</a:t>
            </a:r>
            <a:r>
              <a:rPr lang="en-US"/>
              <a:t> places no practical limit on the size of the buffer.</a:t>
            </a:r>
          </a:p>
          <a:p>
            <a:pPr lvl="1"/>
            <a:r>
              <a:rPr lang="en-US" i="1"/>
              <a:t>bounded-buffer</a:t>
            </a:r>
            <a:r>
              <a:rPr lang="en-US"/>
              <a:t> assumes that there is a fixed buffer size.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95300"/>
            <a:ext cx="7772400" cy="457200"/>
          </a:xfrm>
        </p:spPr>
        <p:txBody>
          <a:bodyPr/>
          <a:lstStyle/>
          <a:p>
            <a:r>
              <a:rPr lang="en-US"/>
              <a:t>Bounded-Buffer – Shared-Memory Solution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029450" cy="4114800"/>
          </a:xfrm>
        </p:spPr>
        <p:txBody>
          <a:bodyPr/>
          <a:lstStyle/>
          <a:p>
            <a:r>
              <a:rPr lang="en-US"/>
              <a:t>Shared data</a:t>
            </a:r>
          </a:p>
          <a:p>
            <a:pPr lvl="3">
              <a:buFontTx/>
              <a:buNone/>
            </a:pPr>
            <a:r>
              <a:rPr lang="en-US" b="1"/>
              <a:t>var</a:t>
            </a:r>
            <a:r>
              <a:rPr lang="en-US"/>
              <a:t> </a:t>
            </a:r>
            <a:r>
              <a:rPr lang="en-US" i="1"/>
              <a:t>n</a:t>
            </a:r>
            <a:r>
              <a:rPr lang="en-US"/>
              <a:t>;</a:t>
            </a:r>
          </a:p>
          <a:p>
            <a:pPr lvl="3">
              <a:buFontTx/>
              <a:buNone/>
            </a:pPr>
            <a:r>
              <a:rPr lang="en-US" b="1"/>
              <a:t>type</a:t>
            </a:r>
            <a:r>
              <a:rPr lang="en-US"/>
              <a:t> </a:t>
            </a:r>
            <a:r>
              <a:rPr lang="en-US" i="1"/>
              <a:t>item</a:t>
            </a:r>
            <a:r>
              <a:rPr lang="en-US"/>
              <a:t> = … ;</a:t>
            </a:r>
          </a:p>
          <a:p>
            <a:pPr lvl="3">
              <a:buFontTx/>
              <a:buNone/>
            </a:pPr>
            <a:r>
              <a:rPr lang="en-US" b="1"/>
              <a:t>var</a:t>
            </a:r>
            <a:r>
              <a:rPr lang="en-US"/>
              <a:t> </a:t>
            </a:r>
            <a:r>
              <a:rPr lang="en-US" i="1"/>
              <a:t>buffer</a:t>
            </a:r>
            <a:r>
              <a:rPr lang="en-US"/>
              <a:t>. </a:t>
            </a:r>
            <a:r>
              <a:rPr lang="en-US" b="1"/>
              <a:t>array</a:t>
            </a:r>
            <a:r>
              <a:rPr lang="en-US"/>
              <a:t> [0..</a:t>
            </a:r>
            <a:r>
              <a:rPr lang="en-US" i="1"/>
              <a:t>n</a:t>
            </a:r>
            <a:r>
              <a:rPr lang="en-US"/>
              <a:t>–1] </a:t>
            </a:r>
            <a:r>
              <a:rPr lang="en-US" b="1"/>
              <a:t>of</a:t>
            </a:r>
            <a:r>
              <a:rPr lang="en-US"/>
              <a:t> </a:t>
            </a:r>
            <a:r>
              <a:rPr lang="en-US" i="1"/>
              <a:t>item</a:t>
            </a:r>
            <a:r>
              <a:rPr lang="en-US"/>
              <a:t>;</a:t>
            </a:r>
          </a:p>
          <a:p>
            <a:pPr lvl="4">
              <a:buFontTx/>
              <a:buNone/>
            </a:pPr>
            <a:r>
              <a:rPr lang="en-US" sz="1800" i="1"/>
              <a:t>in, out:</a:t>
            </a:r>
            <a:r>
              <a:rPr lang="en-US" sz="1800"/>
              <a:t> 0..</a:t>
            </a:r>
            <a:r>
              <a:rPr lang="en-US" sz="1800" i="1"/>
              <a:t>n</a:t>
            </a:r>
            <a:r>
              <a:rPr lang="en-US" sz="1800"/>
              <a:t>–1;</a:t>
            </a:r>
          </a:p>
          <a:p>
            <a:r>
              <a:rPr lang="en-US"/>
              <a:t>Producer process </a:t>
            </a:r>
          </a:p>
          <a:p>
            <a:pPr lvl="3">
              <a:buFontTx/>
              <a:buNone/>
            </a:pPr>
            <a:r>
              <a:rPr lang="en-US" b="1"/>
              <a:t>repeat</a:t>
            </a:r>
            <a:endParaRPr lang="en-US"/>
          </a:p>
          <a:p>
            <a:pPr lvl="4">
              <a:buFontTx/>
              <a:buNone/>
            </a:pPr>
            <a:r>
              <a:rPr lang="en-US" sz="1800"/>
              <a:t>…</a:t>
            </a:r>
          </a:p>
          <a:p>
            <a:pPr lvl="4">
              <a:buFontTx/>
              <a:buNone/>
            </a:pPr>
            <a:r>
              <a:rPr lang="en-US" sz="1800"/>
              <a:t>produce an item in </a:t>
            </a:r>
            <a:r>
              <a:rPr lang="en-US" sz="1800" i="1"/>
              <a:t>nextp</a:t>
            </a:r>
            <a:endParaRPr lang="en-US" sz="1800"/>
          </a:p>
          <a:p>
            <a:pPr lvl="4">
              <a:buFontTx/>
              <a:buNone/>
            </a:pPr>
            <a:r>
              <a:rPr lang="en-US" sz="1800"/>
              <a:t>…</a:t>
            </a:r>
          </a:p>
          <a:p>
            <a:pPr lvl="4">
              <a:buFontTx/>
              <a:buNone/>
            </a:pPr>
            <a:r>
              <a:rPr lang="en-US" sz="1800" b="1"/>
              <a:t>while</a:t>
            </a:r>
            <a:r>
              <a:rPr lang="en-US" sz="1800"/>
              <a:t> </a:t>
            </a:r>
            <a:r>
              <a:rPr lang="en-US" sz="1800" i="1"/>
              <a:t>in</a:t>
            </a:r>
            <a:r>
              <a:rPr lang="en-US" sz="1800"/>
              <a:t>+1 </a:t>
            </a:r>
            <a:r>
              <a:rPr lang="en-US" sz="1800" b="1"/>
              <a:t>mod</a:t>
            </a:r>
            <a:r>
              <a:rPr lang="en-US" sz="1800"/>
              <a:t> </a:t>
            </a:r>
            <a:r>
              <a:rPr lang="en-US" sz="1800" i="1"/>
              <a:t>n </a:t>
            </a:r>
            <a:r>
              <a:rPr lang="en-US" sz="1800"/>
              <a:t>= </a:t>
            </a:r>
            <a:r>
              <a:rPr lang="en-US" sz="1800" i="1"/>
              <a:t>out</a:t>
            </a:r>
            <a:r>
              <a:rPr lang="en-US" sz="1800"/>
              <a:t> </a:t>
            </a:r>
            <a:r>
              <a:rPr lang="en-US" sz="1800" b="1"/>
              <a:t>do</a:t>
            </a:r>
            <a:r>
              <a:rPr lang="en-US" sz="1800"/>
              <a:t> </a:t>
            </a:r>
            <a:r>
              <a:rPr lang="en-US" sz="1800" i="1"/>
              <a:t>no-op;</a:t>
            </a:r>
            <a:endParaRPr lang="en-US" sz="1800"/>
          </a:p>
          <a:p>
            <a:pPr lvl="4">
              <a:buFontTx/>
              <a:buNone/>
            </a:pPr>
            <a:r>
              <a:rPr lang="en-US" sz="1800" i="1"/>
              <a:t>buffer </a:t>
            </a:r>
            <a:r>
              <a:rPr lang="en-US" sz="1800"/>
              <a:t>[</a:t>
            </a:r>
            <a:r>
              <a:rPr lang="en-US" sz="1800" i="1"/>
              <a:t>in</a:t>
            </a:r>
            <a:r>
              <a:rPr lang="en-US" sz="1800"/>
              <a:t>] :=</a:t>
            </a:r>
            <a:r>
              <a:rPr lang="en-US" sz="1800" i="1"/>
              <a:t>nextp</a:t>
            </a:r>
            <a:r>
              <a:rPr lang="en-US" sz="1800"/>
              <a:t>;</a:t>
            </a:r>
          </a:p>
          <a:p>
            <a:pPr lvl="4">
              <a:buFontTx/>
              <a:buNone/>
            </a:pPr>
            <a:r>
              <a:rPr lang="en-US" sz="1800" i="1"/>
              <a:t>in :=in</a:t>
            </a:r>
            <a:r>
              <a:rPr lang="en-US" sz="1800"/>
              <a:t>+1 </a:t>
            </a:r>
            <a:r>
              <a:rPr lang="en-US" sz="1800" b="1"/>
              <a:t>mod</a:t>
            </a:r>
            <a:r>
              <a:rPr lang="en-US" sz="1800"/>
              <a:t> </a:t>
            </a:r>
            <a:r>
              <a:rPr lang="en-US" sz="1800" i="1"/>
              <a:t>n</a:t>
            </a:r>
            <a:r>
              <a:rPr lang="en-US" sz="1800"/>
              <a:t>;</a:t>
            </a:r>
          </a:p>
          <a:p>
            <a:pPr lvl="3">
              <a:buFontTx/>
              <a:buNone/>
            </a:pPr>
            <a:r>
              <a:rPr lang="en-US" b="1"/>
              <a:t>until</a:t>
            </a:r>
            <a:r>
              <a:rPr lang="en-US"/>
              <a:t> </a:t>
            </a:r>
            <a:r>
              <a:rPr lang="en-US" i="1"/>
              <a:t>false</a:t>
            </a:r>
            <a:r>
              <a:rPr lang="en-US"/>
              <a:t>;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Bounded-Buffer (Cont.)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Consumer process </a:t>
            </a:r>
            <a:br>
              <a:rPr lang="en-US"/>
            </a:br>
            <a:endParaRPr lang="en-US"/>
          </a:p>
          <a:p>
            <a:pPr lvl="3">
              <a:buFontTx/>
              <a:buNone/>
            </a:pPr>
            <a:r>
              <a:rPr lang="en-US" b="1"/>
              <a:t>repeat</a:t>
            </a:r>
            <a:endParaRPr lang="en-US"/>
          </a:p>
          <a:p>
            <a:pPr lvl="4">
              <a:buFontTx/>
              <a:buNone/>
            </a:pPr>
            <a:r>
              <a:rPr lang="en-US" sz="1800" b="1"/>
              <a:t>while</a:t>
            </a:r>
            <a:r>
              <a:rPr lang="en-US" sz="1800"/>
              <a:t> </a:t>
            </a:r>
            <a:r>
              <a:rPr lang="en-US" sz="1800" i="1"/>
              <a:t>in</a:t>
            </a:r>
            <a:r>
              <a:rPr lang="en-US" sz="1800"/>
              <a:t> = </a:t>
            </a:r>
            <a:r>
              <a:rPr lang="en-US" sz="1800" i="1"/>
              <a:t>out</a:t>
            </a:r>
            <a:r>
              <a:rPr lang="en-US" sz="1800"/>
              <a:t> </a:t>
            </a:r>
            <a:r>
              <a:rPr lang="en-US" sz="1800" b="1"/>
              <a:t>do</a:t>
            </a:r>
            <a:r>
              <a:rPr lang="en-US" sz="1800"/>
              <a:t> </a:t>
            </a:r>
            <a:r>
              <a:rPr lang="en-US" sz="1800" i="1"/>
              <a:t>no-op</a:t>
            </a:r>
            <a:r>
              <a:rPr lang="en-US" sz="1800"/>
              <a:t>;</a:t>
            </a:r>
          </a:p>
          <a:p>
            <a:pPr lvl="4">
              <a:buFontTx/>
              <a:buNone/>
            </a:pPr>
            <a:r>
              <a:rPr lang="en-US" sz="1800" i="1"/>
              <a:t>nextc</a:t>
            </a:r>
            <a:r>
              <a:rPr lang="en-US" sz="1800"/>
              <a:t> := </a:t>
            </a:r>
            <a:r>
              <a:rPr lang="en-US" sz="1800" i="1"/>
              <a:t>buffer</a:t>
            </a:r>
            <a:r>
              <a:rPr lang="en-US" sz="1800"/>
              <a:t> [</a:t>
            </a:r>
            <a:r>
              <a:rPr lang="en-US" sz="1800" i="1"/>
              <a:t>out</a:t>
            </a:r>
            <a:r>
              <a:rPr lang="en-US" sz="1800"/>
              <a:t>];</a:t>
            </a:r>
          </a:p>
          <a:p>
            <a:pPr lvl="4">
              <a:buFontTx/>
              <a:buNone/>
            </a:pPr>
            <a:r>
              <a:rPr lang="en-US" sz="1800" i="1"/>
              <a:t>out</a:t>
            </a:r>
            <a:r>
              <a:rPr lang="en-US" sz="1800"/>
              <a:t> := </a:t>
            </a:r>
            <a:r>
              <a:rPr lang="en-US" sz="1800" i="1"/>
              <a:t>out</a:t>
            </a:r>
            <a:r>
              <a:rPr lang="en-US" sz="1800"/>
              <a:t>+1 </a:t>
            </a:r>
            <a:r>
              <a:rPr lang="en-US" sz="1800" b="1"/>
              <a:t>mod</a:t>
            </a:r>
            <a:r>
              <a:rPr lang="en-US" sz="1800"/>
              <a:t> </a:t>
            </a:r>
            <a:r>
              <a:rPr lang="en-US" sz="1800" i="1"/>
              <a:t>n</a:t>
            </a:r>
            <a:r>
              <a:rPr lang="en-US" sz="1800"/>
              <a:t>;</a:t>
            </a:r>
          </a:p>
          <a:p>
            <a:pPr lvl="4">
              <a:buFontTx/>
              <a:buNone/>
            </a:pPr>
            <a:r>
              <a:rPr lang="en-US" sz="1800"/>
              <a:t>	…</a:t>
            </a:r>
          </a:p>
          <a:p>
            <a:pPr lvl="4">
              <a:buFontTx/>
              <a:buNone/>
            </a:pPr>
            <a:r>
              <a:rPr lang="en-US" sz="1800"/>
              <a:t>consume the item in nextc</a:t>
            </a:r>
          </a:p>
          <a:p>
            <a:pPr lvl="4">
              <a:buFontTx/>
              <a:buNone/>
            </a:pPr>
            <a:r>
              <a:rPr lang="en-US" sz="1800"/>
              <a:t>	 …</a:t>
            </a:r>
          </a:p>
          <a:p>
            <a:pPr lvl="4">
              <a:buFontTx/>
              <a:buNone/>
            </a:pPr>
            <a:r>
              <a:rPr lang="en-US" sz="1800" b="1"/>
              <a:t>until</a:t>
            </a:r>
            <a:r>
              <a:rPr lang="en-US" sz="1800"/>
              <a:t> </a:t>
            </a:r>
            <a:r>
              <a:rPr lang="en-US" sz="1800" i="1"/>
              <a:t>false</a:t>
            </a:r>
            <a:r>
              <a:rPr lang="en-US" sz="1800"/>
              <a:t>;</a:t>
            </a:r>
          </a:p>
          <a:p>
            <a:r>
              <a:rPr lang="en-US"/>
              <a:t>Solution is correct, but can only fill up n–1 buffer.</a:t>
            </a:r>
          </a:p>
          <a:p>
            <a:pPr lvl="4">
              <a:buFontTx/>
              <a:buNone/>
            </a:pPr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47800"/>
            <a:ext cx="7029450" cy="4114800"/>
          </a:xfrm>
        </p:spPr>
        <p:txBody>
          <a:bodyPr/>
          <a:lstStyle/>
          <a:p>
            <a:r>
              <a:rPr lang="en-US"/>
              <a:t>A </a:t>
            </a:r>
            <a:r>
              <a:rPr lang="en-US" i="1"/>
              <a:t>thread</a:t>
            </a:r>
            <a:r>
              <a:rPr lang="en-US"/>
              <a:t> (or</a:t>
            </a:r>
            <a:r>
              <a:rPr lang="en-US" i="1"/>
              <a:t> lightweight process</a:t>
            </a:r>
            <a:r>
              <a:rPr lang="en-US"/>
              <a:t>) is a basic unit of CPU utilization; it consists of:</a:t>
            </a:r>
          </a:p>
          <a:p>
            <a:pPr lvl="1"/>
            <a:r>
              <a:rPr lang="en-US"/>
              <a:t>program counter</a:t>
            </a:r>
          </a:p>
          <a:p>
            <a:pPr lvl="1"/>
            <a:r>
              <a:rPr lang="en-US"/>
              <a:t>register set </a:t>
            </a:r>
          </a:p>
          <a:p>
            <a:pPr lvl="1"/>
            <a:r>
              <a:rPr lang="en-US"/>
              <a:t>stack space</a:t>
            </a:r>
          </a:p>
          <a:p>
            <a:r>
              <a:rPr lang="en-US"/>
              <a:t>A thread shares with its peer threads its:</a:t>
            </a:r>
          </a:p>
          <a:p>
            <a:pPr lvl="1"/>
            <a:r>
              <a:rPr lang="en-US"/>
              <a:t>code section</a:t>
            </a:r>
          </a:p>
          <a:p>
            <a:pPr lvl="1"/>
            <a:r>
              <a:rPr lang="en-US"/>
              <a:t>data section</a:t>
            </a:r>
          </a:p>
          <a:p>
            <a:pPr lvl="1"/>
            <a:r>
              <a:rPr lang="en-US"/>
              <a:t>operating-system resources</a:t>
            </a:r>
          </a:p>
          <a:p>
            <a:pPr lvl="1">
              <a:buFontTx/>
              <a:buNone/>
            </a:pPr>
            <a:r>
              <a:rPr lang="en-US"/>
              <a:t>collectively know as a </a:t>
            </a:r>
            <a:r>
              <a:rPr lang="en-US" i="1"/>
              <a:t>task</a:t>
            </a:r>
            <a:r>
              <a:rPr lang="en-US"/>
              <a:t>.</a:t>
            </a:r>
          </a:p>
          <a:p>
            <a:r>
              <a:rPr lang="en-US"/>
              <a:t>A traditional or </a:t>
            </a:r>
            <a:r>
              <a:rPr lang="en-US" i="1"/>
              <a:t>heavyweight</a:t>
            </a:r>
            <a:r>
              <a:rPr lang="en-US"/>
              <a:t> process is equal to a task with one thread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 (Cont.)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7029450" cy="4114800"/>
          </a:xfrm>
        </p:spPr>
        <p:txBody>
          <a:bodyPr/>
          <a:lstStyle/>
          <a:p>
            <a:r>
              <a:rPr lang="en-US"/>
              <a:t>In a multiple threaded task, while one server thread is blocked and waiting, a second thread in the same task can run.</a:t>
            </a:r>
          </a:p>
          <a:p>
            <a:pPr lvl="1"/>
            <a:r>
              <a:rPr lang="en-US"/>
              <a:t>Cooperation of multiple threads in same job confers higher throughput and improved performance.</a:t>
            </a:r>
          </a:p>
          <a:p>
            <a:pPr lvl="1"/>
            <a:r>
              <a:rPr lang="en-US"/>
              <a:t>Applications that require sharing a common buffer (i.e., producer-consumer) benefit from thread utilization.</a:t>
            </a:r>
          </a:p>
          <a:p>
            <a:r>
              <a:rPr lang="en-US"/>
              <a:t>Threads provide a mechanism that allows sequential processes to make blocking system calls while also achieving parallelism.</a:t>
            </a:r>
          </a:p>
          <a:p>
            <a:r>
              <a:rPr lang="en-US"/>
              <a:t>Kernel-supported threads (Mach and OS/2).</a:t>
            </a:r>
          </a:p>
          <a:p>
            <a:r>
              <a:rPr lang="en-US"/>
              <a:t>User-level threads; supported above the kernel, via a set of library calls at the user level (Project Andrew from CMU).</a:t>
            </a:r>
          </a:p>
          <a:p>
            <a:r>
              <a:rPr lang="en-US"/>
              <a:t>Hybrid approach implements both user-level and kernel-supported threads (Solaris 2).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Threads within a Task</a:t>
            </a:r>
          </a:p>
        </p:txBody>
      </p:sp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2"/>
          <a:srcRect l="38635" t="17587" r="44652" b="51917"/>
          <a:stretch>
            <a:fillRect/>
          </a:stretch>
        </p:blipFill>
        <p:spPr bwMode="auto">
          <a:xfrm>
            <a:off x="2743200" y="1454150"/>
            <a:ext cx="3335338" cy="487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686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 Support in Solaris 2</a:t>
            </a:r>
          </a:p>
        </p:txBody>
      </p:sp>
      <p:sp>
        <p:nvSpPr>
          <p:cNvPr id="686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6705600" cy="4114800"/>
          </a:xfrm>
        </p:spPr>
        <p:txBody>
          <a:bodyPr/>
          <a:lstStyle/>
          <a:p>
            <a:r>
              <a:rPr lang="en-US"/>
              <a:t>Solaris 2 is a version of UNIX with support for threads at the kernel and user levels, symmetric multiprocessing, and </a:t>
            </a:r>
            <a:br>
              <a:rPr lang="en-US"/>
            </a:br>
            <a:r>
              <a:rPr lang="en-US"/>
              <a:t>real-time scheduling.</a:t>
            </a:r>
          </a:p>
          <a:p>
            <a:r>
              <a:rPr lang="en-US"/>
              <a:t>LWP – intermediate level between user-level threads and kernel-level threads.</a:t>
            </a:r>
          </a:p>
          <a:p>
            <a:r>
              <a:rPr lang="en-US"/>
              <a:t>Resource needs of thread types:</a:t>
            </a:r>
          </a:p>
          <a:p>
            <a:pPr lvl="1"/>
            <a:r>
              <a:rPr lang="en-US"/>
              <a:t>Kernel thread:  small data structure and a stack; thread switching does not require changing memory access information – relatively fast.</a:t>
            </a:r>
          </a:p>
          <a:p>
            <a:pPr lvl="1"/>
            <a:r>
              <a:rPr lang="en-US"/>
              <a:t>LWP:  PCB with register data, accounting and memory information,; switching between LWPs is relatively slow.</a:t>
            </a:r>
          </a:p>
          <a:p>
            <a:pPr lvl="1"/>
            <a:r>
              <a:rPr lang="en-US"/>
              <a:t>User-level thread:  only ned stack and program counter; no kernel involvement means fast switching.  Kernel only sees the LWPs that support user-level threads.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Solaris 2 Threads</a:t>
            </a:r>
          </a:p>
        </p:txBody>
      </p:sp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2"/>
          <a:srcRect l="645" t="16856" r="511" b="16856"/>
          <a:stretch>
            <a:fillRect/>
          </a:stretch>
        </p:blipFill>
        <p:spPr bwMode="auto">
          <a:xfrm>
            <a:off x="935038" y="1724025"/>
            <a:ext cx="7051675" cy="3783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Interprocess Communication (IPC)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Mechanism for processes to communicate and to synchronize their actions.</a:t>
            </a:r>
          </a:p>
          <a:p>
            <a:r>
              <a:rPr lang="en-US"/>
              <a:t>Message system – processes communicate with each other without resorting to shared variables.</a:t>
            </a:r>
          </a:p>
          <a:p>
            <a:r>
              <a:rPr lang="en-US"/>
              <a:t>IPC facility provides two operations:</a:t>
            </a:r>
          </a:p>
          <a:p>
            <a:pPr lvl="1"/>
            <a:r>
              <a:rPr lang="en-US" b="1"/>
              <a:t>send</a:t>
            </a:r>
            <a:r>
              <a:rPr lang="en-US"/>
              <a:t>(</a:t>
            </a:r>
            <a:r>
              <a:rPr lang="en-US" i="1"/>
              <a:t>message</a:t>
            </a:r>
            <a:r>
              <a:rPr lang="en-US"/>
              <a:t>) – message size fixed or variable </a:t>
            </a:r>
          </a:p>
          <a:p>
            <a:pPr lvl="1"/>
            <a:r>
              <a:rPr lang="en-US" b="1"/>
              <a:t>receive</a:t>
            </a:r>
            <a:r>
              <a:rPr lang="en-US"/>
              <a:t>(</a:t>
            </a:r>
            <a:r>
              <a:rPr lang="en-US" i="1"/>
              <a:t>message</a:t>
            </a:r>
            <a:r>
              <a:rPr lang="en-US"/>
              <a:t>)</a:t>
            </a:r>
          </a:p>
          <a:p>
            <a:r>
              <a:rPr lang="en-US"/>
              <a:t>If </a:t>
            </a:r>
            <a:r>
              <a:rPr lang="en-US" i="1"/>
              <a:t>P</a:t>
            </a:r>
            <a:r>
              <a:rPr lang="en-US"/>
              <a:t> and </a:t>
            </a:r>
            <a:r>
              <a:rPr lang="en-US" i="1"/>
              <a:t>Q</a:t>
            </a:r>
            <a:r>
              <a:rPr lang="en-US"/>
              <a:t> wish to communicate, they need to:</a:t>
            </a:r>
          </a:p>
          <a:p>
            <a:pPr lvl="1"/>
            <a:r>
              <a:rPr lang="en-US"/>
              <a:t>establish a </a:t>
            </a:r>
            <a:r>
              <a:rPr lang="en-US" i="1"/>
              <a:t>communication</a:t>
            </a:r>
            <a:r>
              <a:rPr lang="en-US"/>
              <a:t> </a:t>
            </a:r>
            <a:r>
              <a:rPr lang="en-US" i="1"/>
              <a:t>link</a:t>
            </a:r>
            <a:r>
              <a:rPr lang="en-US"/>
              <a:t> between them</a:t>
            </a:r>
          </a:p>
          <a:p>
            <a:pPr lvl="1"/>
            <a:r>
              <a:rPr lang="en-US"/>
              <a:t>exchange messages via send/receive</a:t>
            </a:r>
          </a:p>
          <a:p>
            <a:r>
              <a:rPr lang="en-US"/>
              <a:t>Implementation of communication link</a:t>
            </a:r>
          </a:p>
          <a:p>
            <a:pPr lvl="1"/>
            <a:r>
              <a:rPr lang="en-US"/>
              <a:t>physical (e.g., shared memory, hardware bus)</a:t>
            </a:r>
          </a:p>
          <a:p>
            <a:pPr lvl="1"/>
            <a:r>
              <a:rPr lang="en-US"/>
              <a:t>logical (e.g., logical properties)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Questions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are links established?</a:t>
            </a:r>
          </a:p>
          <a:p>
            <a:r>
              <a:rPr lang="en-US"/>
              <a:t>Can a link be associated with more than two processes?</a:t>
            </a:r>
          </a:p>
          <a:p>
            <a:r>
              <a:rPr lang="en-US"/>
              <a:t>How many links can there be between every pair of communicating processes?</a:t>
            </a:r>
          </a:p>
          <a:p>
            <a:r>
              <a:rPr lang="en-US"/>
              <a:t>What is the capacity of a link?</a:t>
            </a:r>
          </a:p>
          <a:p>
            <a:r>
              <a:rPr lang="en-US"/>
              <a:t>Is the size of a message that the link can accommodate fixed or variable?</a:t>
            </a:r>
          </a:p>
          <a:p>
            <a:r>
              <a:rPr lang="en-US"/>
              <a:t>Is a link unidirectional or bi-directional?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 Communication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Processes must name each other explicitly:</a:t>
            </a:r>
          </a:p>
          <a:p>
            <a:pPr lvl="1"/>
            <a:r>
              <a:rPr lang="en-US" b="1"/>
              <a:t>send</a:t>
            </a:r>
            <a:r>
              <a:rPr lang="en-US"/>
              <a:t> (</a:t>
            </a:r>
            <a:r>
              <a:rPr lang="en-US" i="1"/>
              <a:t>P, message</a:t>
            </a:r>
            <a:r>
              <a:rPr lang="en-US"/>
              <a:t>) – send a message to process P</a:t>
            </a:r>
          </a:p>
          <a:p>
            <a:pPr lvl="1"/>
            <a:r>
              <a:rPr lang="en-US" b="1"/>
              <a:t>receive</a:t>
            </a:r>
            <a:r>
              <a:rPr lang="en-US"/>
              <a:t>(</a:t>
            </a:r>
            <a:r>
              <a:rPr lang="en-US" i="1"/>
              <a:t>Q, message</a:t>
            </a:r>
            <a:r>
              <a:rPr lang="en-US"/>
              <a:t>) – receive a message from process Q</a:t>
            </a:r>
          </a:p>
          <a:p>
            <a:r>
              <a:rPr lang="en-US"/>
              <a:t>Properties of communication link</a:t>
            </a:r>
          </a:p>
          <a:p>
            <a:pPr lvl="1"/>
            <a:r>
              <a:rPr lang="en-US"/>
              <a:t>Links are established automatically.</a:t>
            </a:r>
          </a:p>
          <a:p>
            <a:pPr lvl="1"/>
            <a:r>
              <a:rPr lang="en-US"/>
              <a:t>A link is associated with exactly one pair of communicating processes.</a:t>
            </a:r>
          </a:p>
          <a:p>
            <a:pPr lvl="1"/>
            <a:r>
              <a:rPr lang="en-US"/>
              <a:t>Between each pair there exists exactly one link.</a:t>
            </a:r>
          </a:p>
          <a:p>
            <a:pPr lvl="1"/>
            <a:r>
              <a:rPr lang="en-US"/>
              <a:t>The link may be unidirectional, but is usually bi-directional.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Indirect Communication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47800"/>
            <a:ext cx="7029450" cy="4114800"/>
          </a:xfrm>
        </p:spPr>
        <p:txBody>
          <a:bodyPr/>
          <a:lstStyle/>
          <a:p>
            <a:r>
              <a:rPr lang="en-US"/>
              <a:t>Messages are directed and received from mailboxes (also referred to as ports).</a:t>
            </a:r>
          </a:p>
          <a:p>
            <a:pPr lvl="1"/>
            <a:r>
              <a:rPr lang="en-US"/>
              <a:t>Each mailbox has a unique id.</a:t>
            </a:r>
          </a:p>
          <a:p>
            <a:pPr lvl="1"/>
            <a:r>
              <a:rPr lang="en-US"/>
              <a:t>Processes can communicate only if they share a mailbox.</a:t>
            </a:r>
          </a:p>
          <a:p>
            <a:r>
              <a:rPr lang="en-US"/>
              <a:t>Properties of communication link</a:t>
            </a:r>
          </a:p>
          <a:p>
            <a:pPr lvl="1"/>
            <a:r>
              <a:rPr lang="en-US"/>
              <a:t>Link established only if processes share a common mailbox</a:t>
            </a:r>
          </a:p>
          <a:p>
            <a:pPr lvl="1"/>
            <a:r>
              <a:rPr lang="en-US"/>
              <a:t>A link may be associated with many processes.</a:t>
            </a:r>
          </a:p>
          <a:p>
            <a:pPr lvl="1"/>
            <a:r>
              <a:rPr lang="en-US"/>
              <a:t>Each pair of processes may share several communication links.</a:t>
            </a:r>
          </a:p>
          <a:p>
            <a:pPr lvl="1"/>
            <a:r>
              <a:rPr lang="en-US"/>
              <a:t>Link may be unidirectional or bi-directional.</a:t>
            </a:r>
          </a:p>
          <a:p>
            <a:r>
              <a:rPr lang="en-US"/>
              <a:t>Operations</a:t>
            </a:r>
          </a:p>
          <a:p>
            <a:pPr lvl="1"/>
            <a:r>
              <a:rPr lang="en-US"/>
              <a:t>create a new mailbox</a:t>
            </a:r>
          </a:p>
          <a:p>
            <a:pPr lvl="1"/>
            <a:r>
              <a:rPr lang="en-US"/>
              <a:t>send and receive messages through mailbox</a:t>
            </a:r>
          </a:p>
          <a:p>
            <a:pPr lvl="1"/>
            <a:r>
              <a:rPr lang="en-US"/>
              <a:t>destroy a mailbox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Indirect Communication (Continued)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Mailbox sharing</a:t>
            </a:r>
          </a:p>
          <a:p>
            <a:pPr lvl="1"/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 i="1"/>
              <a:t>, P</a:t>
            </a:r>
            <a:r>
              <a:rPr lang="en-US" i="1" baseline="-25000"/>
              <a:t>2</a:t>
            </a:r>
            <a:r>
              <a:rPr lang="en-US" i="1"/>
              <a:t>,</a:t>
            </a:r>
            <a:r>
              <a:rPr lang="en-US"/>
              <a:t> and</a:t>
            </a:r>
            <a:r>
              <a:rPr lang="en-US" i="1"/>
              <a:t> P</a:t>
            </a:r>
            <a:r>
              <a:rPr lang="en-US" i="1" baseline="-25000"/>
              <a:t>3</a:t>
            </a:r>
            <a:r>
              <a:rPr lang="en-US"/>
              <a:t> share mailbox A.</a:t>
            </a:r>
          </a:p>
          <a:p>
            <a:pPr lvl="1"/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, sends;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 i="1"/>
              <a:t> </a:t>
            </a:r>
            <a:r>
              <a:rPr lang="en-US"/>
              <a:t>and</a:t>
            </a:r>
            <a:r>
              <a:rPr lang="en-US" i="1"/>
              <a:t> P</a:t>
            </a:r>
            <a:r>
              <a:rPr lang="en-US" i="1" baseline="-25000"/>
              <a:t>3</a:t>
            </a:r>
            <a:r>
              <a:rPr lang="en-US"/>
              <a:t> receive.</a:t>
            </a:r>
          </a:p>
          <a:p>
            <a:pPr lvl="1"/>
            <a:r>
              <a:rPr lang="en-US"/>
              <a:t>Who gets the message?</a:t>
            </a:r>
          </a:p>
          <a:p>
            <a:r>
              <a:rPr lang="en-US"/>
              <a:t>Solutions</a:t>
            </a:r>
          </a:p>
          <a:p>
            <a:pPr lvl="1"/>
            <a:r>
              <a:rPr lang="en-US"/>
              <a:t>Allow a link to be associated with at most two processes.</a:t>
            </a:r>
          </a:p>
          <a:p>
            <a:pPr lvl="1"/>
            <a:r>
              <a:rPr lang="en-US"/>
              <a:t>Allow only one process at a time to execute a receive operation.</a:t>
            </a:r>
          </a:p>
          <a:p>
            <a:pPr lvl="1"/>
            <a:r>
              <a:rPr lang="en-US"/>
              <a:t>Allow the system to select arbitrarily the receiver.  Sender is notified who the receiver was.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Buffering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Queue of messages attached to the link; implemented in one of three ways.</a:t>
            </a:r>
          </a:p>
          <a:p>
            <a:pPr lvl="1">
              <a:buFontTx/>
              <a:buNone/>
            </a:pPr>
            <a:r>
              <a:rPr lang="en-US"/>
              <a:t>1.	Zero capacity – 0 messages</a:t>
            </a:r>
            <a:br>
              <a:rPr lang="en-US"/>
            </a:br>
            <a:r>
              <a:rPr lang="en-US"/>
              <a:t>Sender must wait for receiver (rendezvous).</a:t>
            </a:r>
          </a:p>
          <a:p>
            <a:pPr lvl="1">
              <a:buFontTx/>
              <a:buNone/>
            </a:pPr>
            <a:r>
              <a:rPr lang="en-US"/>
              <a:t>2.	Bounded capacity – finite length of </a:t>
            </a:r>
            <a:r>
              <a:rPr lang="en-US" i="1"/>
              <a:t>n</a:t>
            </a:r>
            <a:r>
              <a:rPr lang="en-US"/>
              <a:t> messages</a:t>
            </a:r>
            <a:br>
              <a:rPr lang="en-US"/>
            </a:br>
            <a:r>
              <a:rPr lang="en-US"/>
              <a:t>Sender must wait if link full.</a:t>
            </a:r>
          </a:p>
          <a:p>
            <a:pPr lvl="1">
              <a:buFontTx/>
              <a:buNone/>
            </a:pPr>
            <a:r>
              <a:rPr lang="en-US"/>
              <a:t>3.	Unbounded capacity – infinite length </a:t>
            </a:r>
            <a:br>
              <a:rPr lang="en-US"/>
            </a:br>
            <a:r>
              <a:rPr lang="en-US"/>
              <a:t>Sender never waits.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 Conditions – Error Recovery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 terminates</a:t>
            </a:r>
          </a:p>
          <a:p>
            <a:r>
              <a:rPr lang="en-US"/>
              <a:t>Lost messages</a:t>
            </a:r>
          </a:p>
          <a:p>
            <a:r>
              <a:rPr lang="en-US"/>
              <a:t>Scrambled Messages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i.pot">
  <a:themeElements>
    <a:clrScheme name="avi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vi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avi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vi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Office\Templates\Presentations\avi.pot</Template>
  <TotalTime>2157</TotalTime>
  <Words>1443</Words>
  <Application>Microsoft PowerPoint</Application>
  <PresentationFormat>On-screen Show (4:3)</PresentationFormat>
  <Paragraphs>245</Paragraphs>
  <Slides>34</Slides>
  <Notes>0</Notes>
  <HiddenSlides>8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avi.pot</vt:lpstr>
      <vt:lpstr>Module 4:  Processes</vt:lpstr>
      <vt:lpstr>Process Concept</vt:lpstr>
      <vt:lpstr>Process State</vt:lpstr>
      <vt:lpstr>Diagram of Process State</vt:lpstr>
      <vt:lpstr>Process Control Block (PCB)</vt:lpstr>
      <vt:lpstr>Process Control Block (PCB)</vt:lpstr>
      <vt:lpstr>CPU Switch From Process to Process</vt:lpstr>
      <vt:lpstr>Process Scheduling Queues</vt:lpstr>
      <vt:lpstr>Ready Queue And Various I/O Device Queues</vt:lpstr>
      <vt:lpstr>Representation of Process Scheduling</vt:lpstr>
      <vt:lpstr>Schedulers</vt:lpstr>
      <vt:lpstr>Addition of Medium Term Scheduling</vt:lpstr>
      <vt:lpstr>Schedulers (Cont.)</vt:lpstr>
      <vt:lpstr>Context Switch</vt:lpstr>
      <vt:lpstr>Process Creation</vt:lpstr>
      <vt:lpstr>Process Creation (Cont.)</vt:lpstr>
      <vt:lpstr>A Tree of Processes On A Typical UNIX System</vt:lpstr>
      <vt:lpstr>Process Termination</vt:lpstr>
      <vt:lpstr>Cooperating Processes</vt:lpstr>
      <vt:lpstr>Producer-Consumer Problem</vt:lpstr>
      <vt:lpstr>Bounded-Buffer – Shared-Memory Solution</vt:lpstr>
      <vt:lpstr>Bounded-Buffer (Cont.)</vt:lpstr>
      <vt:lpstr>Threads</vt:lpstr>
      <vt:lpstr>Threads (Cont.)</vt:lpstr>
      <vt:lpstr>Multiple Threads within a Task</vt:lpstr>
      <vt:lpstr>Threads Support in Solaris 2</vt:lpstr>
      <vt:lpstr>Solaris 2 Threads</vt:lpstr>
      <vt:lpstr>Interprocess Communication (IPC)</vt:lpstr>
      <vt:lpstr>Implementation Questions</vt:lpstr>
      <vt:lpstr>Direct Communication</vt:lpstr>
      <vt:lpstr>Indirect Communication</vt:lpstr>
      <vt:lpstr>Indirect Communication (Continued)</vt:lpstr>
      <vt:lpstr>Buffering</vt:lpstr>
      <vt:lpstr>Exception Conditions – Error Recovery</vt:lpstr>
    </vt:vector>
  </TitlesOfParts>
  <Company>Lucent Technologies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user</cp:lastModifiedBy>
  <cp:revision>41</cp:revision>
  <cp:lastPrinted>1999-07-20T18:43:34Z</cp:lastPrinted>
  <dcterms:created xsi:type="dcterms:W3CDTF">1999-07-07T12:46:17Z</dcterms:created>
  <dcterms:modified xsi:type="dcterms:W3CDTF">2016-01-05T04:50:13Z</dcterms:modified>
</cp:coreProperties>
</file>